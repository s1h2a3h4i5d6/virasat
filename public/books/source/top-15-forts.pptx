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897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9.jp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3.jpe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5.jpe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6.jpe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8.jpe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9.jpe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1.jpe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2.jpe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4.jpe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5.jpe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7.jpe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8.jpe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30.jpe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1.jpe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33.jpe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35.jpeg"/><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37.jpeg"/><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39.jpeg"/><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41.jpeg"/><Relationship Id="rId4" Type="http://schemas.openxmlformats.org/officeDocument/2006/relationships/image" Target="../media/image40.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43.png"/><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1F1D"/>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custGeom>
            <a:avLst/>
            <a:gdLst/>
            <a:ahLst/>
            <a:cxnLst/>
            <a:rect l="l" t="t" r="r" b="b"/>
            <a:pathLst>
              <a:path w="12188952" h="6858000">
                <a:moveTo>
                  <a:pt x="0" y="6858000"/>
                </a:moveTo>
                <a:lnTo>
                  <a:pt x="0" y="5120640"/>
                </a:lnTo>
                <a:lnTo>
                  <a:pt x="1188720" y="3657600"/>
                </a:lnTo>
                <a:lnTo>
                  <a:pt x="2194560" y="4754880"/>
                </a:lnTo>
                <a:lnTo>
                  <a:pt x="3291840" y="3017520"/>
                </a:lnTo>
                <a:lnTo>
                  <a:pt x="4389120" y="4572000"/>
                </a:lnTo>
                <a:lnTo>
                  <a:pt x="5486400" y="3383280"/>
                </a:lnTo>
                <a:lnTo>
                  <a:pt x="6583680" y="4846320"/>
                </a:lnTo>
                <a:lnTo>
                  <a:pt x="7589520" y="3566160"/>
                </a:lnTo>
                <a:lnTo>
                  <a:pt x="8686800" y="4663440"/>
                </a:lnTo>
                <a:lnTo>
                  <a:pt x="9784080" y="3291840"/>
                </a:lnTo>
                <a:lnTo>
                  <a:pt x="10881360" y="4754880"/>
                </a:lnTo>
                <a:lnTo>
                  <a:pt x="12188952" y="3840480"/>
                </a:lnTo>
                <a:lnTo>
                  <a:pt x="12188952" y="6858000"/>
                </a:lnTo>
              </a:path>
            </a:pathLst>
          </a:custGeom>
          <a:solidFill>
            <a:srgbClr val="35281F"/>
          </a:solidFill>
          <a:ln/>
        </p:spPr>
      </p:sp>
      <p:sp>
        <p:nvSpPr>
          <p:cNvPr id="3" name="Shape 1"/>
          <p:cNvSpPr/>
          <p:nvPr/>
        </p:nvSpPr>
        <p:spPr>
          <a:xfrm>
            <a:off x="5637276" y="822960"/>
            <a:ext cx="914400" cy="914400"/>
          </a:xfrm>
          <a:prstGeom prst="ellipse">
            <a:avLst/>
          </a:prstGeom>
          <a:solidFill>
            <a:srgbClr val="C98A2B"/>
          </a:solidFill>
          <a:ln/>
        </p:spPr>
      </p:sp>
      <p:pic>
        <p:nvPicPr>
          <p:cNvPr id="4" name="Image 0" descr="/home/claude/forts/assets/fort_icon_white.png"/>
          <p:cNvPicPr>
            <a:picLocks noChangeAspect="1"/>
          </p:cNvPicPr>
          <p:nvPr/>
        </p:nvPicPr>
        <p:blipFill>
          <a:blip r:embed="rId3"/>
          <a:stretch>
            <a:fillRect/>
          </a:stretch>
        </p:blipFill>
        <p:spPr>
          <a:xfrm>
            <a:off x="5820156" y="1005840"/>
            <a:ext cx="548640" cy="548640"/>
          </a:xfrm>
          <a:prstGeom prst="rect">
            <a:avLst/>
          </a:prstGeom>
        </p:spPr>
      </p:pic>
      <p:sp>
        <p:nvSpPr>
          <p:cNvPr id="5" name="Text 2"/>
          <p:cNvSpPr/>
          <p:nvPr/>
        </p:nvSpPr>
        <p:spPr>
          <a:xfrm>
            <a:off x="457200" y="1965960"/>
            <a:ext cx="11274552" cy="457200"/>
          </a:xfrm>
          <a:prstGeom prst="rect">
            <a:avLst/>
          </a:prstGeom>
          <a:noFill/>
          <a:ln/>
        </p:spPr>
        <p:txBody>
          <a:bodyPr wrap="square" lIns="0" tIns="0" rIns="0" bIns="0" rtlCol="0" anchor="ctr"/>
          <a:lstStyle/>
          <a:p>
            <a:pPr marL="0" indent="0" algn="ctr">
              <a:buNone/>
            </a:pPr>
            <a:r>
              <a:rPr lang="en-US" sz="1600" b="1" kern="0" spc="300" dirty="0">
                <a:solidFill>
                  <a:srgbClr val="C98A2B"/>
                </a:solidFill>
                <a:latin typeface="Calibri" pitchFamily="34" charset="0"/>
                <a:ea typeface="Calibri" pitchFamily="34" charset="-122"/>
                <a:cs typeface="Calibri" pitchFamily="34" charset="-120"/>
              </a:rPr>
              <a:t>TOP 15 HISTORIC FORTS</a:t>
            </a:r>
            <a:endParaRPr lang="en-US" sz="1600" dirty="0"/>
          </a:p>
        </p:txBody>
      </p:sp>
      <p:sp>
        <p:nvSpPr>
          <p:cNvPr id="6" name="Text 3"/>
          <p:cNvSpPr/>
          <p:nvPr/>
        </p:nvSpPr>
        <p:spPr>
          <a:xfrm>
            <a:off x="457200" y="2423160"/>
            <a:ext cx="11274552" cy="91440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of Chhatrapati Shivaji Maharaj</a:t>
            </a:r>
            <a:endParaRPr lang="en-US" sz="4400" dirty="0"/>
          </a:p>
        </p:txBody>
      </p:sp>
      <p:sp>
        <p:nvSpPr>
          <p:cNvPr id="7" name="Shape 4"/>
          <p:cNvSpPr/>
          <p:nvPr/>
        </p:nvSpPr>
        <p:spPr>
          <a:xfrm>
            <a:off x="5088636" y="3429000"/>
            <a:ext cx="2011680" cy="0"/>
          </a:xfrm>
          <a:prstGeom prst="line">
            <a:avLst/>
          </a:prstGeom>
          <a:noFill/>
          <a:ln w="19050">
            <a:solidFill>
              <a:srgbClr val="C98A2B"/>
            </a:solidFill>
            <a:prstDash val="solid"/>
          </a:ln>
        </p:spPr>
      </p:sp>
      <p:sp>
        <p:nvSpPr>
          <p:cNvPr id="8" name="Text 5"/>
          <p:cNvSpPr/>
          <p:nvPr/>
        </p:nvSpPr>
        <p:spPr>
          <a:xfrm>
            <a:off x="457200" y="3566160"/>
            <a:ext cx="11274552" cy="457200"/>
          </a:xfrm>
          <a:prstGeom prst="rect">
            <a:avLst/>
          </a:prstGeom>
          <a:noFill/>
          <a:ln/>
        </p:spPr>
        <p:txBody>
          <a:bodyPr wrap="square" lIns="0" tIns="0" rIns="0" bIns="0" rtlCol="0" anchor="ctr"/>
          <a:lstStyle/>
          <a:p>
            <a:pPr marL="0" indent="0" algn="ctr">
              <a:buNone/>
            </a:pPr>
            <a:r>
              <a:rPr lang="en-US" sz="1700" i="1" dirty="0">
                <a:solidFill>
                  <a:srgbClr val="E8DFC9"/>
                </a:solidFill>
                <a:latin typeface="Calibri" pitchFamily="34" charset="0"/>
                <a:ea typeface="Calibri" pitchFamily="34" charset="-122"/>
                <a:cs typeface="Calibri" pitchFamily="34" charset="-120"/>
              </a:rPr>
              <a:t>Fort Architecture, History &amp; the Role of Swarajya</a:t>
            </a:r>
            <a:endParaRPr lang="en-US" sz="1700" dirty="0"/>
          </a:p>
        </p:txBody>
      </p:sp>
      <p:sp>
        <p:nvSpPr>
          <p:cNvPr id="9" name="Text 6"/>
          <p:cNvSpPr/>
          <p:nvPr/>
        </p:nvSpPr>
        <p:spPr>
          <a:xfrm>
            <a:off x="457200" y="6263640"/>
            <a:ext cx="11274552" cy="365760"/>
          </a:xfrm>
          <a:prstGeom prst="rect">
            <a:avLst/>
          </a:prstGeom>
          <a:noFill/>
          <a:ln/>
        </p:spPr>
        <p:txBody>
          <a:bodyPr wrap="square" lIns="0" tIns="0" rIns="0" bIns="0" rtlCol="0" anchor="ctr"/>
          <a:lstStyle/>
          <a:p>
            <a:pPr marL="0" indent="0" algn="ctr">
              <a:buNone/>
            </a:pPr>
            <a:r>
              <a:rPr lang="en-US" sz="1050" dirty="0">
                <a:solidFill>
                  <a:srgbClr val="B8AFA0"/>
                </a:solidFill>
                <a:latin typeface="Calibri" pitchFamily="34" charset="0"/>
                <a:ea typeface="Calibri" pitchFamily="34" charset="-122"/>
                <a:cs typeface="Calibri" pitchFamily="34" charset="-120"/>
              </a:rPr>
              <a:t>A College Seminar Presentation  •  Compiled from ASI, Maharashtra Tourism &amp; established Maratha-history sources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C98A2B"/>
          </a:solidFill>
          <a:ln/>
        </p:spPr>
      </p:sp>
      <p:pic>
        <p:nvPicPr>
          <p:cNvPr id="3" name="Image 0" descr="/home/claude/forts/assets/fort_icon_white.png"/>
          <p:cNvPicPr>
            <a:picLocks noChangeAspect="1"/>
          </p:cNvPicPr>
          <p:nvPr/>
        </p:nvPicPr>
        <p:blipFill>
          <a:blip r:embed="rId3"/>
          <a:stretch>
            <a:fillRect/>
          </a:stretch>
        </p:blipFill>
        <p:spPr>
          <a:xfrm>
            <a:off x="576072" y="502920"/>
            <a:ext cx="329184" cy="329184"/>
          </a:xfrm>
          <a:prstGeom prst="rect">
            <a:avLst/>
          </a:prstGeom>
        </p:spPr>
      </p:pic>
      <p:sp>
        <p:nvSpPr>
          <p:cNvPr id="4" name="Text 1"/>
          <p:cNvSpPr/>
          <p:nvPr/>
        </p:nvSpPr>
        <p:spPr>
          <a:xfrm>
            <a:off x="1170432" y="310896"/>
            <a:ext cx="8778240" cy="457200"/>
          </a:xfrm>
          <a:prstGeom prst="rect">
            <a:avLst/>
          </a:prstGeom>
          <a:noFill/>
          <a:ln/>
        </p:spPr>
        <p:txBody>
          <a:bodyPr wrap="square" lIns="0" tIns="0" rIns="0" bIns="0" rtlCol="0" anchor="b"/>
          <a:lstStyle/>
          <a:p>
            <a:pPr marL="0" indent="0">
              <a:buNone/>
            </a:pPr>
            <a:r>
              <a:rPr lang="en-US" sz="2700" b="1" dirty="0">
                <a:solidFill>
                  <a:srgbClr val="7A2E2E"/>
                </a:solidFill>
                <a:latin typeface="Cambria" pitchFamily="34" charset="0"/>
                <a:ea typeface="Cambria" pitchFamily="34" charset="-122"/>
                <a:cs typeface="Cambria" pitchFamily="34" charset="-120"/>
              </a:rPr>
              <a:t>Forts: The Backbone of Swarajya</a:t>
            </a:r>
            <a:endParaRPr lang="en-US" sz="2700" dirty="0"/>
          </a:p>
        </p:txBody>
      </p:sp>
      <p:sp>
        <p:nvSpPr>
          <p:cNvPr id="5" name="Text 2"/>
          <p:cNvSpPr/>
          <p:nvPr/>
        </p:nvSpPr>
        <p:spPr>
          <a:xfrm>
            <a:off x="1188720" y="786384"/>
            <a:ext cx="8778240" cy="274320"/>
          </a:xfrm>
          <a:prstGeom prst="rect">
            <a:avLst/>
          </a:prstGeom>
          <a:noFill/>
          <a:ln/>
        </p:spPr>
        <p:txBody>
          <a:bodyPr wrap="square" lIns="0" tIns="0" rIns="0" bIns="0" rtlCol="0" anchor="ctr"/>
          <a:lstStyle/>
          <a:p>
            <a:pPr marL="0" indent="0">
              <a:buNone/>
            </a:pPr>
            <a:r>
              <a:rPr lang="en-US" sz="1250" i="1" dirty="0">
                <a:solidFill>
                  <a:srgbClr val="746E64"/>
                </a:solidFill>
                <a:latin typeface="Calibri" pitchFamily="34" charset="0"/>
                <a:ea typeface="Calibri" pitchFamily="34" charset="-122"/>
                <a:cs typeface="Calibri" pitchFamily="34" charset="-120"/>
              </a:rPr>
              <a:t>Why Chhatrapati Shivaji Maharaj built his kingdom around fortified strongholds</a:t>
            </a:r>
            <a:endParaRPr lang="en-US" sz="1250" dirty="0"/>
          </a:p>
        </p:txBody>
      </p:sp>
      <p:sp>
        <p:nvSpPr>
          <p:cNvPr id="6" name="Shape 3"/>
          <p:cNvSpPr/>
          <p:nvPr/>
        </p:nvSpPr>
        <p:spPr>
          <a:xfrm>
            <a:off x="548640" y="1435608"/>
            <a:ext cx="457200" cy="457200"/>
          </a:xfrm>
          <a:prstGeom prst="ellipse">
            <a:avLst/>
          </a:prstGeom>
          <a:solidFill>
            <a:srgbClr val="7A2E2E"/>
          </a:solidFill>
          <a:ln/>
        </p:spPr>
      </p:sp>
      <p:pic>
        <p:nvPicPr>
          <p:cNvPr id="7" name="Image 1" descr="/home/claude/forts/assets/fort_icon_white.png"/>
          <p:cNvPicPr>
            <a:picLocks noChangeAspect="1"/>
          </p:cNvPicPr>
          <p:nvPr/>
        </p:nvPicPr>
        <p:blipFill>
          <a:blip r:embed="rId3"/>
          <a:stretch>
            <a:fillRect/>
          </a:stretch>
        </p:blipFill>
        <p:spPr>
          <a:xfrm>
            <a:off x="640080" y="1527048"/>
            <a:ext cx="274320" cy="274320"/>
          </a:xfrm>
          <a:prstGeom prst="rect">
            <a:avLst/>
          </a:prstGeom>
        </p:spPr>
      </p:pic>
      <p:sp>
        <p:nvSpPr>
          <p:cNvPr id="8" name="Text 4"/>
          <p:cNvSpPr/>
          <p:nvPr/>
        </p:nvSpPr>
        <p:spPr>
          <a:xfrm>
            <a:off x="1234440" y="1371600"/>
            <a:ext cx="10241280" cy="320040"/>
          </a:xfrm>
          <a:prstGeom prst="rect">
            <a:avLst/>
          </a:prstGeom>
          <a:noFill/>
          <a:ln/>
        </p:spPr>
        <p:txBody>
          <a:bodyPr wrap="square" lIns="0" tIns="0" rIns="0" bIns="0" rtlCol="0" anchor="ctr"/>
          <a:lstStyle/>
          <a:p>
            <a:pPr marL="0" indent="0">
              <a:buNone/>
            </a:pPr>
            <a:r>
              <a:rPr lang="en-US" sz="1700" b="1" dirty="0">
                <a:solidFill>
                  <a:srgbClr val="7A2E2E"/>
                </a:solidFill>
                <a:latin typeface="Cambria" pitchFamily="34" charset="0"/>
                <a:ea typeface="Cambria" pitchFamily="34" charset="-122"/>
                <a:cs typeface="Cambria" pitchFamily="34" charset="-120"/>
              </a:rPr>
              <a:t>Hill Forts (Giri-durg)</a:t>
            </a:r>
            <a:endParaRPr lang="en-US" sz="1700" dirty="0"/>
          </a:p>
        </p:txBody>
      </p:sp>
      <p:sp>
        <p:nvSpPr>
          <p:cNvPr id="9" name="Text 5"/>
          <p:cNvSpPr/>
          <p:nvPr/>
        </p:nvSpPr>
        <p:spPr>
          <a:xfrm>
            <a:off x="1234440" y="1709928"/>
            <a:ext cx="10332720" cy="685800"/>
          </a:xfrm>
          <a:prstGeom prst="rect">
            <a:avLst/>
          </a:prstGeom>
          <a:noFill/>
          <a:ln/>
        </p:spPr>
        <p:txBody>
          <a:bodyPr wrap="square" lIns="0" tIns="0" rIns="0" bIns="0" rtlCol="0" anchor="ctr"/>
          <a:lstStyle/>
          <a:p>
            <a:pPr marL="0" indent="0">
              <a:lnSpc>
                <a:spcPct val="115000"/>
              </a:lnSpc>
              <a:buNone/>
            </a:pPr>
            <a:r>
              <a:rPr lang="en-US" sz="1250" dirty="0">
                <a:solidFill>
                  <a:srgbClr val="2A2622"/>
                </a:solidFill>
                <a:latin typeface="Calibri" pitchFamily="34" charset="0"/>
                <a:ea typeface="Calibri" pitchFamily="34" charset="-122"/>
                <a:cs typeface="Calibri" pitchFamily="34" charset="-120"/>
              </a:rPr>
              <a:t>The majority of Swarajya’s strongholds sat atop the steep, table-topped hills of the Sahyadri range. Their height and difficult approach made large-scale assault costly, letting a small garrison hold territory against much larger armies.</a:t>
            </a:r>
            <a:endParaRPr lang="en-US" sz="1250" dirty="0"/>
          </a:p>
        </p:txBody>
      </p:sp>
      <p:sp>
        <p:nvSpPr>
          <p:cNvPr id="10" name="Shape 6"/>
          <p:cNvSpPr/>
          <p:nvPr/>
        </p:nvSpPr>
        <p:spPr>
          <a:xfrm>
            <a:off x="548640" y="2852928"/>
            <a:ext cx="457200" cy="457200"/>
          </a:xfrm>
          <a:prstGeom prst="ellipse">
            <a:avLst/>
          </a:prstGeom>
          <a:solidFill>
            <a:srgbClr val="C98A2B"/>
          </a:solidFill>
          <a:ln/>
        </p:spPr>
      </p:sp>
      <p:pic>
        <p:nvPicPr>
          <p:cNvPr id="11" name="Image 2" descr="/home/claude/forts/assets/fort_icon_white.png"/>
          <p:cNvPicPr>
            <a:picLocks noChangeAspect="1"/>
          </p:cNvPicPr>
          <p:nvPr/>
        </p:nvPicPr>
        <p:blipFill>
          <a:blip r:embed="rId3"/>
          <a:stretch>
            <a:fillRect/>
          </a:stretch>
        </p:blipFill>
        <p:spPr>
          <a:xfrm>
            <a:off x="640080" y="2944368"/>
            <a:ext cx="274320" cy="274320"/>
          </a:xfrm>
          <a:prstGeom prst="rect">
            <a:avLst/>
          </a:prstGeom>
        </p:spPr>
      </p:pic>
      <p:sp>
        <p:nvSpPr>
          <p:cNvPr id="12" name="Text 7"/>
          <p:cNvSpPr/>
          <p:nvPr/>
        </p:nvSpPr>
        <p:spPr>
          <a:xfrm>
            <a:off x="1234440" y="2788920"/>
            <a:ext cx="10241280" cy="320040"/>
          </a:xfrm>
          <a:prstGeom prst="rect">
            <a:avLst/>
          </a:prstGeom>
          <a:noFill/>
          <a:ln/>
        </p:spPr>
        <p:txBody>
          <a:bodyPr wrap="square" lIns="0" tIns="0" rIns="0" bIns="0" rtlCol="0" anchor="ctr"/>
          <a:lstStyle/>
          <a:p>
            <a:pPr marL="0" indent="0">
              <a:buNone/>
            </a:pPr>
            <a:r>
              <a:rPr lang="en-US" sz="1700" b="1" dirty="0">
                <a:solidFill>
                  <a:srgbClr val="7A2E2E"/>
                </a:solidFill>
                <a:latin typeface="Cambria" pitchFamily="34" charset="0"/>
                <a:ea typeface="Cambria" pitchFamily="34" charset="-122"/>
                <a:cs typeface="Cambria" pitchFamily="34" charset="-120"/>
              </a:rPr>
              <a:t>Coastal / Sea Forts (Jal-durg)</a:t>
            </a:r>
            <a:endParaRPr lang="en-US" sz="1700" dirty="0"/>
          </a:p>
        </p:txBody>
      </p:sp>
      <p:sp>
        <p:nvSpPr>
          <p:cNvPr id="13" name="Text 8"/>
          <p:cNvSpPr/>
          <p:nvPr/>
        </p:nvSpPr>
        <p:spPr>
          <a:xfrm>
            <a:off x="1234440" y="3127248"/>
            <a:ext cx="10332720" cy="685800"/>
          </a:xfrm>
          <a:prstGeom prst="rect">
            <a:avLst/>
          </a:prstGeom>
          <a:noFill/>
          <a:ln/>
        </p:spPr>
        <p:txBody>
          <a:bodyPr wrap="square" lIns="0" tIns="0" rIns="0" bIns="0" rtlCol="0" anchor="ctr"/>
          <a:lstStyle/>
          <a:p>
            <a:pPr marL="0" indent="0">
              <a:lnSpc>
                <a:spcPct val="115000"/>
              </a:lnSpc>
              <a:buNone/>
            </a:pPr>
            <a:r>
              <a:rPr lang="en-US" sz="1250" dirty="0">
                <a:solidFill>
                  <a:srgbClr val="2A2622"/>
                </a:solidFill>
                <a:latin typeface="Calibri" pitchFamily="34" charset="0"/>
                <a:ea typeface="Calibri" pitchFamily="34" charset="-122"/>
                <a:cs typeface="Calibri" pitchFamily="34" charset="-120"/>
              </a:rPr>
              <a:t>Built or expanded along the Konkan coastline, forts such as Sindhudurg and Vijaydurg protected trade and gave the new Maratha navy secure harbours from which to challenge the Siddis of Janjira and European trading powers.</a:t>
            </a:r>
            <a:endParaRPr lang="en-US" sz="1250" dirty="0"/>
          </a:p>
        </p:txBody>
      </p:sp>
      <p:sp>
        <p:nvSpPr>
          <p:cNvPr id="14" name="Shape 9"/>
          <p:cNvSpPr/>
          <p:nvPr/>
        </p:nvSpPr>
        <p:spPr>
          <a:xfrm>
            <a:off x="548640" y="4270248"/>
            <a:ext cx="457200" cy="457200"/>
          </a:xfrm>
          <a:prstGeom prst="ellipse">
            <a:avLst/>
          </a:prstGeom>
          <a:solidFill>
            <a:srgbClr val="3B3A36"/>
          </a:solidFill>
          <a:ln/>
        </p:spPr>
      </p:sp>
      <p:pic>
        <p:nvPicPr>
          <p:cNvPr id="15" name="Image 3" descr="/home/claude/forts/assets/fort_icon_white.png"/>
          <p:cNvPicPr>
            <a:picLocks noChangeAspect="1"/>
          </p:cNvPicPr>
          <p:nvPr/>
        </p:nvPicPr>
        <p:blipFill>
          <a:blip r:embed="rId3"/>
          <a:stretch>
            <a:fillRect/>
          </a:stretch>
        </p:blipFill>
        <p:spPr>
          <a:xfrm>
            <a:off x="640080" y="4361688"/>
            <a:ext cx="274320" cy="274320"/>
          </a:xfrm>
          <a:prstGeom prst="rect">
            <a:avLst/>
          </a:prstGeom>
        </p:spPr>
      </p:pic>
      <p:sp>
        <p:nvSpPr>
          <p:cNvPr id="16" name="Text 10"/>
          <p:cNvSpPr/>
          <p:nvPr/>
        </p:nvSpPr>
        <p:spPr>
          <a:xfrm>
            <a:off x="1234440" y="4206240"/>
            <a:ext cx="10241280" cy="320040"/>
          </a:xfrm>
          <a:prstGeom prst="rect">
            <a:avLst/>
          </a:prstGeom>
          <a:noFill/>
          <a:ln/>
        </p:spPr>
        <p:txBody>
          <a:bodyPr wrap="square" lIns="0" tIns="0" rIns="0" bIns="0" rtlCol="0" anchor="ctr"/>
          <a:lstStyle/>
          <a:p>
            <a:pPr marL="0" indent="0">
              <a:buNone/>
            </a:pPr>
            <a:r>
              <a:rPr lang="en-US" sz="1700" b="1" dirty="0">
                <a:solidFill>
                  <a:srgbClr val="7A2E2E"/>
                </a:solidFill>
                <a:latin typeface="Cambria" pitchFamily="34" charset="0"/>
                <a:ea typeface="Cambria" pitchFamily="34" charset="-122"/>
                <a:cs typeface="Cambria" pitchFamily="34" charset="-120"/>
              </a:rPr>
              <a:t>Strategic Route Forts</a:t>
            </a:r>
            <a:endParaRPr lang="en-US" sz="1700" dirty="0"/>
          </a:p>
        </p:txBody>
      </p:sp>
      <p:sp>
        <p:nvSpPr>
          <p:cNvPr id="17" name="Text 11"/>
          <p:cNvSpPr/>
          <p:nvPr/>
        </p:nvSpPr>
        <p:spPr>
          <a:xfrm>
            <a:off x="1234440" y="4544568"/>
            <a:ext cx="10332720" cy="685800"/>
          </a:xfrm>
          <a:prstGeom prst="rect">
            <a:avLst/>
          </a:prstGeom>
          <a:noFill/>
          <a:ln/>
        </p:spPr>
        <p:txBody>
          <a:bodyPr wrap="square" lIns="0" tIns="0" rIns="0" bIns="0" rtlCol="0" anchor="ctr"/>
          <a:lstStyle/>
          <a:p>
            <a:pPr marL="0" indent="0">
              <a:lnSpc>
                <a:spcPct val="115000"/>
              </a:lnSpc>
              <a:buNone/>
            </a:pPr>
            <a:r>
              <a:rPr lang="en-US" sz="1250" dirty="0">
                <a:solidFill>
                  <a:srgbClr val="2A2622"/>
                </a:solidFill>
                <a:latin typeface="Calibri" pitchFamily="34" charset="0"/>
                <a:ea typeface="Calibri" pitchFamily="34" charset="-122"/>
                <a:cs typeface="Calibri" pitchFamily="34" charset="-120"/>
              </a:rPr>
              <a:t>Forts guarding mountain passes (ghats) and trade routes — like Lohagad, Rajmachi and Karnala — controlled the flow of goods, revenue and troops between the Konkan coast and the Deccan plateau.</a:t>
            </a:r>
            <a:endParaRPr lang="en-US" sz="1250" dirty="0"/>
          </a:p>
        </p:txBody>
      </p:sp>
      <p:sp>
        <p:nvSpPr>
          <p:cNvPr id="18" name="Text 12"/>
          <p:cNvSpPr/>
          <p:nvPr/>
        </p:nvSpPr>
        <p:spPr>
          <a:xfrm>
            <a:off x="548640" y="5715000"/>
            <a:ext cx="11064240" cy="640080"/>
          </a:xfrm>
          <a:prstGeom prst="rect">
            <a:avLst/>
          </a:prstGeom>
          <a:noFill/>
          <a:ln/>
        </p:spPr>
        <p:txBody>
          <a:bodyPr wrap="square" lIns="0" tIns="0" rIns="0" bIns="0" rtlCol="0" anchor="ctr"/>
          <a:lstStyle/>
          <a:p>
            <a:pPr marL="0" indent="0">
              <a:lnSpc>
                <a:spcPct val="120000"/>
              </a:lnSpc>
              <a:buNone/>
            </a:pPr>
            <a:r>
              <a:rPr lang="en-US" sz="1250" i="1" dirty="0">
                <a:solidFill>
                  <a:srgbClr val="3B3A36"/>
                </a:solidFill>
                <a:latin typeface="Calibri" pitchFamily="34" charset="0"/>
                <a:ea typeface="Calibri" pitchFamily="34" charset="-122"/>
                <a:cs typeface="Calibri" pitchFamily="34" charset="-120"/>
              </a:rPr>
              <a:t>Together, this connected network of forts allowed Shivaji Maharaj to establish, expand and defend an independent Maratha state — Swarajya — against the far larger Mughal, Adilshahi and Siddi powers surrounding it.</a:t>
            </a:r>
            <a:endParaRPr lang="en-US" sz="1250" dirty="0"/>
          </a:p>
        </p:txBody>
      </p:sp>
      <p:sp>
        <p:nvSpPr>
          <p:cNvPr id="19" name="Text 13"/>
          <p:cNvSpPr/>
          <p:nvPr/>
        </p:nvSpPr>
        <p:spPr>
          <a:xfrm>
            <a:off x="457200" y="6473952"/>
            <a:ext cx="7315200" cy="274320"/>
          </a:xfrm>
          <a:prstGeom prst="rect">
            <a:avLst/>
          </a:prstGeom>
          <a:noFill/>
          <a:ln/>
        </p:spPr>
        <p:txBody>
          <a:bodyPr wrap="square" lIns="0" tIns="0" rIns="0" bIns="0" rtlCol="0" anchor="ctr"/>
          <a:lstStyle/>
          <a:p>
            <a:pPr marL="0" indent="0">
              <a:buNone/>
            </a:pPr>
            <a:r>
              <a:rPr lang="en-US" sz="900" i="1" dirty="0">
                <a:solidFill>
                  <a:srgbClr val="746E64"/>
                </a:solidFill>
                <a:latin typeface="Calibri" pitchFamily="34" charset="0"/>
                <a:ea typeface="Calibri" pitchFamily="34" charset="-122"/>
                <a:cs typeface="Calibri" pitchFamily="34" charset="-120"/>
              </a:rPr>
              <a:t>Introduction</a:t>
            </a:r>
            <a:endParaRPr lang="en-US" sz="900" dirty="0"/>
          </a:p>
        </p:txBody>
      </p:sp>
      <p:sp>
        <p:nvSpPr>
          <p:cNvPr id="20" name="Text 14"/>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746E64"/>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C98A2B"/>
          </a:solidFill>
          <a:ln/>
        </p:spPr>
      </p:sp>
      <p:pic>
        <p:nvPicPr>
          <p:cNvPr id="3" name="Image 0" descr="/home/claude/forts/assets/fort_icon_white.png"/>
          <p:cNvPicPr>
            <a:picLocks noChangeAspect="1"/>
          </p:cNvPicPr>
          <p:nvPr/>
        </p:nvPicPr>
        <p:blipFill>
          <a:blip r:embed="rId3"/>
          <a:stretch>
            <a:fillRect/>
          </a:stretch>
        </p:blipFill>
        <p:spPr>
          <a:xfrm>
            <a:off x="576072" y="502920"/>
            <a:ext cx="329184" cy="329184"/>
          </a:xfrm>
          <a:prstGeom prst="rect">
            <a:avLst/>
          </a:prstGeom>
        </p:spPr>
      </p:pic>
      <p:sp>
        <p:nvSpPr>
          <p:cNvPr id="4" name="Text 1"/>
          <p:cNvSpPr/>
          <p:nvPr/>
        </p:nvSpPr>
        <p:spPr>
          <a:xfrm>
            <a:off x="1170432" y="310896"/>
            <a:ext cx="8778240" cy="457200"/>
          </a:xfrm>
          <a:prstGeom prst="rect">
            <a:avLst/>
          </a:prstGeom>
          <a:noFill/>
          <a:ln/>
        </p:spPr>
        <p:txBody>
          <a:bodyPr wrap="square" lIns="0" tIns="0" rIns="0" bIns="0" rtlCol="0" anchor="b"/>
          <a:lstStyle/>
          <a:p>
            <a:pPr marL="0" indent="0">
              <a:buNone/>
            </a:pPr>
            <a:r>
              <a:rPr lang="en-US" sz="2700" b="1" dirty="0">
                <a:solidFill>
                  <a:srgbClr val="7A2E2E"/>
                </a:solidFill>
                <a:latin typeface="Cambria" pitchFamily="34" charset="0"/>
                <a:ea typeface="Cambria" pitchFamily="34" charset="-122"/>
                <a:cs typeface="Cambria" pitchFamily="34" charset="-120"/>
              </a:rPr>
              <a:t>The Fifteen Forts on the Map</a:t>
            </a:r>
            <a:endParaRPr lang="en-US" sz="2700" dirty="0"/>
          </a:p>
        </p:txBody>
      </p:sp>
      <p:sp>
        <p:nvSpPr>
          <p:cNvPr id="5" name="Text 2"/>
          <p:cNvSpPr/>
          <p:nvPr/>
        </p:nvSpPr>
        <p:spPr>
          <a:xfrm>
            <a:off x="1188720" y="786384"/>
            <a:ext cx="8778240" cy="274320"/>
          </a:xfrm>
          <a:prstGeom prst="rect">
            <a:avLst/>
          </a:prstGeom>
          <a:noFill/>
          <a:ln/>
        </p:spPr>
        <p:txBody>
          <a:bodyPr wrap="square" lIns="0" tIns="0" rIns="0" bIns="0" rtlCol="0" anchor="ctr"/>
          <a:lstStyle/>
          <a:p>
            <a:pPr marL="0" indent="0">
              <a:buNone/>
            </a:pPr>
            <a:r>
              <a:rPr lang="en-US" sz="1250" i="1" dirty="0">
                <a:solidFill>
                  <a:srgbClr val="746E64"/>
                </a:solidFill>
                <a:latin typeface="Calibri" pitchFamily="34" charset="0"/>
                <a:ea typeface="Calibri" pitchFamily="34" charset="-122"/>
                <a:cs typeface="Calibri" pitchFamily="34" charset="-120"/>
              </a:rPr>
              <a:t>Approximate locations across the Sahyadri (Western Ghats) corridor of Maharashtra</a:t>
            </a:r>
            <a:endParaRPr lang="en-US" sz="1250" dirty="0"/>
          </a:p>
        </p:txBody>
      </p:sp>
      <p:sp>
        <p:nvSpPr>
          <p:cNvPr id="6" name="Shape 3"/>
          <p:cNvSpPr/>
          <p:nvPr/>
        </p:nvSpPr>
        <p:spPr>
          <a:xfrm>
            <a:off x="640840" y="1325880"/>
            <a:ext cx="3422026" cy="5212080"/>
          </a:xfrm>
          <a:prstGeom prst="roundRect">
            <a:avLst>
              <a:gd name="adj" fmla="val 1603"/>
            </a:avLst>
          </a:prstGeom>
          <a:solidFill>
            <a:srgbClr val="FFFFFF"/>
          </a:solidFill>
          <a:ln w="12700">
            <a:solidFill>
              <a:srgbClr val="DCD5C7"/>
            </a:solidFill>
            <a:prstDash val="solid"/>
          </a:ln>
        </p:spPr>
      </p:sp>
      <p:pic>
        <p:nvPicPr>
          <p:cNvPr id="7" name="Image 1" descr="/home/claude/forts/assets/map_overview.png"/>
          <p:cNvPicPr>
            <a:picLocks noChangeAspect="1"/>
          </p:cNvPicPr>
          <p:nvPr/>
        </p:nvPicPr>
        <p:blipFill>
          <a:blip r:embed="rId4"/>
          <a:stretch>
            <a:fillRect/>
          </a:stretch>
        </p:blipFill>
        <p:spPr>
          <a:xfrm>
            <a:off x="732280" y="1417320"/>
            <a:ext cx="3239146" cy="5029200"/>
          </a:xfrm>
          <a:prstGeom prst="rect">
            <a:avLst/>
          </a:prstGeom>
        </p:spPr>
      </p:pic>
      <p:sp>
        <p:nvSpPr>
          <p:cNvPr id="8" name="Text 4"/>
          <p:cNvSpPr/>
          <p:nvPr/>
        </p:nvSpPr>
        <p:spPr>
          <a:xfrm>
            <a:off x="4285429" y="2688336"/>
            <a:ext cx="3291840" cy="365760"/>
          </a:xfrm>
          <a:prstGeom prst="rect">
            <a:avLst/>
          </a:prstGeom>
          <a:noFill/>
          <a:ln/>
        </p:spPr>
        <p:txBody>
          <a:bodyPr wrap="square" lIns="0" tIns="0" rIns="0" bIns="0" rtlCol="0" anchor="ctr"/>
          <a:lstStyle/>
          <a:p>
            <a:pPr marL="0" indent="0">
              <a:buNone/>
            </a:pPr>
            <a:r>
              <a:rPr lang="en-US" sz="1200" b="1" dirty="0">
                <a:solidFill>
                  <a:srgbClr val="C98A2B"/>
                </a:solidFill>
                <a:latin typeface="Calibri" pitchFamily="34" charset="0"/>
                <a:ea typeface="Calibri" pitchFamily="34" charset="-122"/>
                <a:cs typeface="Calibri" pitchFamily="34" charset="-120"/>
              </a:rPr>
              <a:t>●  </a:t>
            </a:r>
            <a:r>
              <a:rPr lang="en-US" sz="1200" dirty="0">
                <a:solidFill>
                  <a:srgbClr val="2A2622"/>
                </a:solidFill>
                <a:latin typeface="Calibri" pitchFamily="34" charset="0"/>
                <a:ea typeface="Calibri" pitchFamily="34" charset="-122"/>
                <a:cs typeface="Calibri" pitchFamily="34" charset="-120"/>
              </a:rPr>
              <a:t>Fort location   </a:t>
            </a:r>
            <a:r>
              <a:rPr lang="en-US" sz="1200" b="1" dirty="0">
                <a:solidFill>
                  <a:srgbClr val="3B3A36"/>
                </a:solidFill>
                <a:latin typeface="Calibri" pitchFamily="34" charset="0"/>
                <a:ea typeface="Calibri" pitchFamily="34" charset="-122"/>
                <a:cs typeface="Calibri" pitchFamily="34" charset="-120"/>
              </a:rPr>
              <a:t>■  </a:t>
            </a:r>
            <a:r>
              <a:rPr lang="en-US" sz="1200" dirty="0">
                <a:solidFill>
                  <a:srgbClr val="2A2622"/>
                </a:solidFill>
                <a:latin typeface="Calibri" pitchFamily="34" charset="0"/>
                <a:ea typeface="Calibri" pitchFamily="34" charset="-122"/>
                <a:cs typeface="Calibri" pitchFamily="34" charset="-120"/>
              </a:rPr>
              <a:t>Reference city</a:t>
            </a:r>
            <a:endParaRPr lang="en-US" sz="1200" dirty="0"/>
          </a:p>
        </p:txBody>
      </p:sp>
      <p:sp>
        <p:nvSpPr>
          <p:cNvPr id="9" name="Text 5"/>
          <p:cNvSpPr/>
          <p:nvPr/>
        </p:nvSpPr>
        <p:spPr>
          <a:xfrm>
            <a:off x="4285429" y="2761488"/>
            <a:ext cx="3383280" cy="2011680"/>
          </a:xfrm>
          <a:prstGeom prst="rect">
            <a:avLst/>
          </a:prstGeom>
          <a:noFill/>
          <a:ln/>
        </p:spPr>
        <p:txBody>
          <a:bodyPr wrap="square" lIns="0" tIns="0" rIns="0" bIns="0" rtlCol="0" anchor="ctr"/>
          <a:lstStyle/>
          <a:p>
            <a:pPr marL="0" indent="0">
              <a:lnSpc>
                <a:spcPct val="125000"/>
              </a:lnSpc>
              <a:buNone/>
            </a:pPr>
            <a:r>
              <a:rPr lang="en-US" sz="1200" dirty="0">
                <a:solidFill>
                  <a:srgbClr val="2A2622"/>
                </a:solidFill>
                <a:latin typeface="Calibri" pitchFamily="34" charset="0"/>
                <a:ea typeface="Calibri" pitchFamily="34" charset="-122"/>
                <a:cs typeface="Calibri" pitchFamily="34" charset="-120"/>
              </a:rPr>
              <a:t>Most forts cluster along the Sahyadri hill belt between Nashik and Kolhapur, with Sindhudurg and Vijaydurg guarding the Konkan coast further west and Salher marking the northern frontier near Baglan.</a:t>
            </a:r>
            <a:endParaRPr lang="en-US" sz="1200" dirty="0"/>
          </a:p>
        </p:txBody>
      </p:sp>
      <p:sp>
        <p:nvSpPr>
          <p:cNvPr id="11" name="Text 7"/>
          <p:cNvSpPr/>
          <p:nvPr/>
        </p:nvSpPr>
        <p:spPr>
          <a:xfrm>
            <a:off x="457200" y="6473952"/>
            <a:ext cx="7315200" cy="274320"/>
          </a:xfrm>
          <a:prstGeom prst="rect">
            <a:avLst/>
          </a:prstGeom>
          <a:noFill/>
          <a:ln/>
        </p:spPr>
        <p:txBody>
          <a:bodyPr wrap="square" lIns="0" tIns="0" rIns="0" bIns="0" rtlCol="0" anchor="ctr"/>
          <a:lstStyle/>
          <a:p>
            <a:pPr marL="0" indent="0">
              <a:buNone/>
            </a:pPr>
            <a:r>
              <a:rPr lang="en-US" sz="900" i="1" dirty="0">
                <a:solidFill>
                  <a:srgbClr val="746E64"/>
                </a:solidFill>
                <a:latin typeface="Calibri" pitchFamily="34" charset="0"/>
                <a:ea typeface="Calibri" pitchFamily="34" charset="-122"/>
                <a:cs typeface="Calibri" pitchFamily="34" charset="-120"/>
              </a:rPr>
              <a:t>Overview map</a:t>
            </a:r>
            <a:endParaRPr lang="en-US" sz="900" dirty="0"/>
          </a:p>
        </p:txBody>
      </p:sp>
      <p:sp>
        <p:nvSpPr>
          <p:cNvPr id="12" name="Text 8"/>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746E64"/>
                </a:solidFill>
                <a:latin typeface="Calibri" pitchFamily="34" charset="0"/>
                <a:ea typeface="Calibri" pitchFamily="34" charset="-122"/>
                <a:cs typeface="Calibri" pitchFamily="34" charset="-120"/>
              </a:rPr>
              <a:t>2</a:t>
            </a:r>
            <a:endParaRPr lang="en-US" sz="900" dirty="0"/>
          </a:p>
        </p:txBody>
      </p:sp>
      <p:pic>
        <p:nvPicPr>
          <p:cNvPr id="13" name="Picture 12" descr="Chhatrapati Shivaji Maharaj Statue at Raigad Fort">
            <a:extLst>
              <a:ext uri="{FF2B5EF4-FFF2-40B4-BE49-F238E27FC236}">
                <a16:creationId xmlns:a16="http://schemas.microsoft.com/office/drawing/2014/main" id="{2CB12C31-1657-BB27-21B0-65FB3BD62B38}"/>
              </a:ext>
            </a:extLst>
          </p:cNvPr>
          <p:cNvPicPr>
            <a:picLocks noChangeAspect="1"/>
          </p:cNvPicPr>
          <p:nvPr/>
        </p:nvPicPr>
        <p:blipFill>
          <a:blip r:embed="rId5"/>
          <a:stretch>
            <a:fillRect/>
          </a:stretch>
        </p:blipFill>
        <p:spPr>
          <a:xfrm>
            <a:off x="7772400" y="424795"/>
            <a:ext cx="4240806" cy="635071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C98A2B"/>
          </a:solidFill>
          <a:ln/>
        </p:spPr>
      </p:sp>
      <p:pic>
        <p:nvPicPr>
          <p:cNvPr id="3" name="Image 0" descr="/home/claude/forts/assets/fort_icon_white.png"/>
          <p:cNvPicPr>
            <a:picLocks noChangeAspect="1"/>
          </p:cNvPicPr>
          <p:nvPr/>
        </p:nvPicPr>
        <p:blipFill>
          <a:blip r:embed="rId3"/>
          <a:stretch>
            <a:fillRect/>
          </a:stretch>
        </p:blipFill>
        <p:spPr>
          <a:xfrm>
            <a:off x="576072" y="502920"/>
            <a:ext cx="329184" cy="329184"/>
          </a:xfrm>
          <a:prstGeom prst="rect">
            <a:avLst/>
          </a:prstGeom>
        </p:spPr>
      </p:pic>
      <p:sp>
        <p:nvSpPr>
          <p:cNvPr id="4" name="Text 1"/>
          <p:cNvSpPr/>
          <p:nvPr/>
        </p:nvSpPr>
        <p:spPr>
          <a:xfrm>
            <a:off x="1170432" y="310896"/>
            <a:ext cx="8778240" cy="457200"/>
          </a:xfrm>
          <a:prstGeom prst="rect">
            <a:avLst/>
          </a:prstGeom>
          <a:noFill/>
          <a:ln/>
        </p:spPr>
        <p:txBody>
          <a:bodyPr wrap="square" lIns="0" tIns="0" rIns="0" bIns="0" rtlCol="0" anchor="b"/>
          <a:lstStyle/>
          <a:p>
            <a:pPr marL="0" indent="0">
              <a:buNone/>
            </a:pPr>
            <a:r>
              <a:rPr lang="en-US" sz="2700" b="1" dirty="0">
                <a:solidFill>
                  <a:srgbClr val="7A2E2E"/>
                </a:solidFill>
                <a:latin typeface="Cambria" pitchFamily="34" charset="0"/>
                <a:ea typeface="Cambria" pitchFamily="34" charset="-122"/>
                <a:cs typeface="Cambria" pitchFamily="34" charset="-120"/>
              </a:rPr>
              <a:t>Shivneri Fort</a:t>
            </a:r>
            <a:endParaRPr lang="en-US" sz="2700" dirty="0"/>
          </a:p>
        </p:txBody>
      </p:sp>
      <p:sp>
        <p:nvSpPr>
          <p:cNvPr id="5" name="Text 2"/>
          <p:cNvSpPr/>
          <p:nvPr/>
        </p:nvSpPr>
        <p:spPr>
          <a:xfrm>
            <a:off x="1188720" y="786384"/>
            <a:ext cx="8778240" cy="274320"/>
          </a:xfrm>
          <a:prstGeom prst="rect">
            <a:avLst/>
          </a:prstGeom>
          <a:noFill/>
          <a:ln/>
        </p:spPr>
        <p:txBody>
          <a:bodyPr wrap="square" lIns="0" tIns="0" rIns="0" bIns="0" rtlCol="0" anchor="ctr"/>
          <a:lstStyle/>
          <a:p>
            <a:pPr marL="0" indent="0">
              <a:buNone/>
            </a:pPr>
            <a:r>
              <a:rPr lang="en-US" sz="1250" i="1" dirty="0">
                <a:solidFill>
                  <a:srgbClr val="746E64"/>
                </a:solidFill>
                <a:latin typeface="Calibri" pitchFamily="34" charset="0"/>
                <a:ea typeface="Calibri" pitchFamily="34" charset="-122"/>
                <a:cs typeface="Calibri" pitchFamily="34" charset="-120"/>
              </a:rPr>
              <a:t>Junnar Fort  •  Junnar, Pune District, Maharashtra</a:t>
            </a:r>
            <a:endParaRPr lang="en-US" sz="1250" dirty="0"/>
          </a:p>
        </p:txBody>
      </p:sp>
      <p:sp>
        <p:nvSpPr>
          <p:cNvPr id="6" name="Shape 3"/>
          <p:cNvSpPr/>
          <p:nvPr/>
        </p:nvSpPr>
        <p:spPr>
          <a:xfrm>
            <a:off x="9445752" y="438912"/>
            <a:ext cx="2286000" cy="384048"/>
          </a:xfrm>
          <a:prstGeom prst="roundRect">
            <a:avLst>
              <a:gd name="adj" fmla="val 19048"/>
            </a:avLst>
          </a:prstGeom>
          <a:solidFill>
            <a:srgbClr val="F3E4C6"/>
          </a:solidFill>
          <a:ln w="12700">
            <a:solidFill>
              <a:srgbClr val="C98A2B"/>
            </a:solidFill>
            <a:prstDash val="solid"/>
          </a:ln>
        </p:spPr>
      </p:sp>
      <p:sp>
        <p:nvSpPr>
          <p:cNvPr id="7" name="Text 4"/>
          <p:cNvSpPr/>
          <p:nvPr/>
        </p:nvSpPr>
        <p:spPr>
          <a:xfrm>
            <a:off x="9445752" y="438912"/>
            <a:ext cx="2286000" cy="384048"/>
          </a:xfrm>
          <a:prstGeom prst="rect">
            <a:avLst/>
          </a:prstGeom>
          <a:noFill/>
          <a:ln/>
        </p:spPr>
        <p:txBody>
          <a:bodyPr wrap="square" lIns="0" tIns="0" rIns="0" bIns="0" rtlCol="0" anchor="ctr"/>
          <a:lstStyle/>
          <a:p>
            <a:pPr marL="0" indent="0" algn="ctr">
              <a:buNone/>
            </a:pPr>
            <a:r>
              <a:rPr lang="en-US" sz="1100" b="1" dirty="0">
                <a:solidFill>
                  <a:srgbClr val="7A2E2E"/>
                </a:solidFill>
                <a:latin typeface="Calibri" pitchFamily="34" charset="0"/>
                <a:ea typeface="Calibri" pitchFamily="34" charset="-122"/>
                <a:cs typeface="Calibri" pitchFamily="34" charset="-120"/>
              </a:rPr>
              <a:t>Hill fort</a:t>
            </a:r>
            <a:endParaRPr lang="en-US" sz="1100" dirty="0"/>
          </a:p>
        </p:txBody>
      </p:sp>
      <p:sp>
        <p:nvSpPr>
          <p:cNvPr id="8" name="Text 5"/>
          <p:cNvSpPr/>
          <p:nvPr/>
        </p:nvSpPr>
        <p:spPr>
          <a:xfrm>
            <a:off x="457200" y="1325880"/>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HISTORY</a:t>
            </a:r>
            <a:endParaRPr lang="en-US" sz="1300" dirty="0"/>
          </a:p>
        </p:txBody>
      </p:sp>
      <p:sp>
        <p:nvSpPr>
          <p:cNvPr id="9" name="Text 6"/>
          <p:cNvSpPr/>
          <p:nvPr/>
        </p:nvSpPr>
        <p:spPr>
          <a:xfrm>
            <a:off x="457200" y="1627632"/>
            <a:ext cx="5760720" cy="4572000"/>
          </a:xfrm>
          <a:prstGeom prst="rect">
            <a:avLst/>
          </a:prstGeom>
          <a:noFill/>
          <a:ln/>
        </p:spPr>
        <p:txBody>
          <a:bodyPr wrap="square" lIns="0" tIns="0" rIns="0" bIns="0" rtlCol="0" anchor="t"/>
          <a:lstStyle/>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Ancient hill fort, likely raised under the Yadavas of Devagiri</a:t>
            </a:r>
            <a:endParaRPr lang="en-US" sz="1250" dirty="0"/>
          </a:p>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Later held by the Bahmani Sultanate, then the Nizamshahi (Ahmadnagar) kingdom</a:t>
            </a:r>
            <a:endParaRPr lang="en-US" sz="1250" dirty="0"/>
          </a:p>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Shivaji's grandfather Maloji Bhosale served as a Nizamshahi jagirdar here</a:t>
            </a:r>
            <a:endParaRPr lang="en-US" sz="1250" dirty="0"/>
          </a:p>
        </p:txBody>
      </p:sp>
      <p:sp>
        <p:nvSpPr>
          <p:cNvPr id="10" name="Text 7"/>
          <p:cNvSpPr/>
          <p:nvPr/>
        </p:nvSpPr>
        <p:spPr>
          <a:xfrm>
            <a:off x="442762" y="2706624"/>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ROLE IN SHIVAJI'S SWARAJYA</a:t>
            </a:r>
            <a:endParaRPr lang="en-US" sz="1300" dirty="0"/>
          </a:p>
        </p:txBody>
      </p:sp>
      <p:sp>
        <p:nvSpPr>
          <p:cNvPr id="11" name="Text 8"/>
          <p:cNvSpPr/>
          <p:nvPr/>
        </p:nvSpPr>
        <p:spPr>
          <a:xfrm>
            <a:off x="442762" y="3096768"/>
            <a:ext cx="5760720" cy="4572000"/>
          </a:xfrm>
          <a:prstGeom prst="rect">
            <a:avLst/>
          </a:prstGeom>
          <a:noFill/>
          <a:ln/>
        </p:spPr>
        <p:txBody>
          <a:bodyPr wrap="square" lIns="0" tIns="0" rIns="0" bIns="0" rtlCol="0" anchor="t"/>
          <a:lstStyle/>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Birthplace of Chhatrapati Shivaji Maharaj (19 Feb 1630)</a:t>
            </a:r>
            <a:endParaRPr lang="en-US" sz="1250" dirty="0"/>
          </a:p>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Sheltered Jijabai and infant Shivaji during a turbulent political period</a:t>
            </a:r>
            <a:endParaRPr lang="en-US" sz="1250" dirty="0"/>
          </a:p>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Revered as the symbolic starting point of Swarajya, though not a later military conquest of Shivaji</a:t>
            </a:r>
            <a:endParaRPr lang="en-US" sz="1250" dirty="0"/>
          </a:p>
        </p:txBody>
      </p:sp>
      <p:sp>
        <p:nvSpPr>
          <p:cNvPr id="12" name="Text 9"/>
          <p:cNvSpPr/>
          <p:nvPr/>
        </p:nvSpPr>
        <p:spPr>
          <a:xfrm>
            <a:off x="457200" y="4309230"/>
            <a:ext cx="512064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KEY EVENTS</a:t>
            </a:r>
            <a:endParaRPr lang="en-US" sz="1300" dirty="0"/>
          </a:p>
        </p:txBody>
      </p:sp>
      <p:sp>
        <p:nvSpPr>
          <p:cNvPr id="14" name="Text 11"/>
          <p:cNvSpPr/>
          <p:nvPr/>
        </p:nvSpPr>
        <p:spPr>
          <a:xfrm>
            <a:off x="576072" y="4857870"/>
            <a:ext cx="4864608" cy="457200"/>
          </a:xfrm>
          <a:prstGeom prst="rect">
            <a:avLst/>
          </a:prstGeom>
          <a:noFill/>
          <a:ln/>
        </p:spPr>
        <p:txBody>
          <a:bodyPr wrap="square" lIns="0" tIns="0" rIns="0" bIns="0" rtlCol="0" anchor="t"/>
          <a:lstStyle/>
          <a:p>
            <a:pPr marL="0" indent="0">
              <a:lnSpc>
                <a:spcPct val="110000"/>
              </a:lnSpc>
              <a:buNone/>
            </a:pPr>
            <a:r>
              <a:rPr lang="en-US" sz="1200" b="1" dirty="0">
                <a:solidFill>
                  <a:srgbClr val="7A2E2E"/>
                </a:solidFill>
                <a:latin typeface="Calibri" pitchFamily="34" charset="0"/>
                <a:ea typeface="Calibri" pitchFamily="34" charset="-122"/>
                <a:cs typeface="Calibri" pitchFamily="34" charset="-120"/>
              </a:rPr>
              <a:t>1630  </a:t>
            </a:r>
            <a:r>
              <a:rPr lang="en-US" sz="1200" dirty="0">
                <a:solidFill>
                  <a:srgbClr val="2A2622"/>
                </a:solidFill>
                <a:latin typeface="Calibri" pitchFamily="34" charset="0"/>
                <a:ea typeface="Calibri" pitchFamily="34" charset="-122"/>
                <a:cs typeface="Calibri" pitchFamily="34" charset="-120"/>
              </a:rPr>
              <a:t>Birth of Shivaji Maharaj</a:t>
            </a:r>
            <a:endParaRPr lang="en-US" sz="1200" dirty="0"/>
          </a:p>
        </p:txBody>
      </p:sp>
      <p:sp>
        <p:nvSpPr>
          <p:cNvPr id="16" name="Text 13"/>
          <p:cNvSpPr/>
          <p:nvPr/>
        </p:nvSpPr>
        <p:spPr>
          <a:xfrm>
            <a:off x="576072" y="5360790"/>
            <a:ext cx="4864608" cy="457200"/>
          </a:xfrm>
          <a:prstGeom prst="rect">
            <a:avLst/>
          </a:prstGeom>
          <a:noFill/>
          <a:ln/>
        </p:spPr>
        <p:txBody>
          <a:bodyPr wrap="square" lIns="0" tIns="0" rIns="0" bIns="0" rtlCol="0" anchor="t"/>
          <a:lstStyle/>
          <a:p>
            <a:pPr marL="0" indent="0">
              <a:lnSpc>
                <a:spcPct val="110000"/>
              </a:lnSpc>
              <a:buNone/>
            </a:pPr>
            <a:r>
              <a:rPr lang="en-US" sz="1200" b="1" dirty="0">
                <a:solidFill>
                  <a:srgbClr val="7A2E2E"/>
                </a:solidFill>
                <a:latin typeface="Calibri" pitchFamily="34" charset="0"/>
                <a:ea typeface="Calibri" pitchFamily="34" charset="-122"/>
                <a:cs typeface="Calibri" pitchFamily="34" charset="-120"/>
              </a:rPr>
              <a:t>1637  </a:t>
            </a:r>
            <a:r>
              <a:rPr lang="en-US" sz="1200" dirty="0">
                <a:solidFill>
                  <a:srgbClr val="2A2622"/>
                </a:solidFill>
                <a:latin typeface="Calibri" pitchFamily="34" charset="0"/>
                <a:ea typeface="Calibri" pitchFamily="34" charset="-122"/>
                <a:cs typeface="Calibri" pitchFamily="34" charset="-120"/>
              </a:rPr>
              <a:t>Fort passed from Nizamshahi rule to the Mughals</a:t>
            </a:r>
            <a:endParaRPr lang="en-US" sz="1200" dirty="0"/>
          </a:p>
        </p:txBody>
      </p:sp>
      <p:sp>
        <p:nvSpPr>
          <p:cNvPr id="18" name="Text 15"/>
          <p:cNvSpPr/>
          <p:nvPr/>
        </p:nvSpPr>
        <p:spPr>
          <a:xfrm>
            <a:off x="576072" y="5942958"/>
            <a:ext cx="4864608" cy="457200"/>
          </a:xfrm>
          <a:prstGeom prst="rect">
            <a:avLst/>
          </a:prstGeom>
          <a:noFill/>
          <a:ln/>
        </p:spPr>
        <p:txBody>
          <a:bodyPr wrap="square" lIns="0" tIns="0" rIns="0" bIns="0" rtlCol="0" anchor="t"/>
          <a:lstStyle/>
          <a:p>
            <a:pPr marL="0" indent="0">
              <a:lnSpc>
                <a:spcPct val="110000"/>
              </a:lnSpc>
              <a:buNone/>
            </a:pPr>
            <a:r>
              <a:rPr lang="en-US" sz="1200" b="1" dirty="0">
                <a:solidFill>
                  <a:srgbClr val="7A2E2E"/>
                </a:solidFill>
                <a:latin typeface="Calibri" pitchFamily="34" charset="0"/>
                <a:ea typeface="Calibri" pitchFamily="34" charset="-122"/>
                <a:cs typeface="Calibri" pitchFamily="34" charset="-120"/>
              </a:rPr>
              <a:t>1673  </a:t>
            </a:r>
            <a:r>
              <a:rPr lang="en-US" sz="1200" dirty="0">
                <a:solidFill>
                  <a:srgbClr val="2A2622"/>
                </a:solidFill>
                <a:latin typeface="Calibri" pitchFamily="34" charset="0"/>
                <a:ea typeface="Calibri" pitchFamily="34" charset="-122"/>
                <a:cs typeface="Calibri" pitchFamily="34" charset="-120"/>
              </a:rPr>
              <a:t>Brief, unsuccessful Maratha attempt to retake the fort</a:t>
            </a:r>
            <a:endParaRPr lang="en-US" sz="1200" dirty="0"/>
          </a:p>
        </p:txBody>
      </p:sp>
      <p:sp>
        <p:nvSpPr>
          <p:cNvPr id="19" name="Shape 16"/>
          <p:cNvSpPr/>
          <p:nvPr/>
        </p:nvSpPr>
        <p:spPr>
          <a:xfrm>
            <a:off x="6473792" y="1411384"/>
            <a:ext cx="5120640" cy="777240"/>
          </a:xfrm>
          <a:prstGeom prst="roundRect">
            <a:avLst>
              <a:gd name="adj" fmla="val 9412"/>
            </a:avLst>
          </a:prstGeom>
          <a:solidFill>
            <a:srgbClr val="F3E4C6"/>
          </a:solidFill>
          <a:ln w="12700">
            <a:solidFill>
              <a:srgbClr val="C98A2B"/>
            </a:solidFill>
            <a:prstDash val="solid"/>
          </a:ln>
        </p:spPr>
      </p:sp>
      <p:sp>
        <p:nvSpPr>
          <p:cNvPr id="20" name="Text 17"/>
          <p:cNvSpPr/>
          <p:nvPr/>
        </p:nvSpPr>
        <p:spPr>
          <a:xfrm>
            <a:off x="6748272" y="1517984"/>
            <a:ext cx="4754880" cy="640080"/>
          </a:xfrm>
          <a:prstGeom prst="rect">
            <a:avLst/>
          </a:prstGeom>
          <a:noFill/>
          <a:ln/>
        </p:spPr>
        <p:txBody>
          <a:bodyPr wrap="square" lIns="0" tIns="0" rIns="0" bIns="0" rtlCol="0" anchor="t"/>
          <a:lstStyle/>
          <a:p>
            <a:pPr marL="0" indent="0">
              <a:lnSpc>
                <a:spcPct val="115000"/>
              </a:lnSpc>
              <a:buNone/>
            </a:pPr>
            <a:r>
              <a:rPr lang="en-US" sz="1000" b="1" kern="0" spc="100" dirty="0">
                <a:solidFill>
                  <a:srgbClr val="7A2E2E"/>
                </a:solidFill>
                <a:latin typeface="Calibri" pitchFamily="34" charset="0"/>
                <a:ea typeface="Calibri" pitchFamily="34" charset="-122"/>
                <a:cs typeface="Calibri" pitchFamily="34" charset="-120"/>
              </a:rPr>
              <a:t>SHIVAJI MAHARAJ'S ASSOCIATION
</a:t>
            </a:r>
            <a:r>
              <a:rPr lang="en-US" sz="1150" dirty="0">
                <a:solidFill>
                  <a:srgbClr val="2A2622"/>
                </a:solidFill>
                <a:latin typeface="Calibri" pitchFamily="34" charset="0"/>
                <a:ea typeface="Calibri" pitchFamily="34" charset="-122"/>
                <a:cs typeface="Calibri" pitchFamily="34" charset="-120"/>
              </a:rPr>
              <a:t>Associated with Shivaji from his birth in 1630; remained under Mughal / Bijapur control for most of his later life</a:t>
            </a:r>
            <a:endParaRPr lang="en-US" sz="1000" dirty="0"/>
          </a:p>
        </p:txBody>
      </p:sp>
      <p:sp>
        <p:nvSpPr>
          <p:cNvPr id="21" name="Text 18"/>
          <p:cNvSpPr/>
          <p:nvPr/>
        </p:nvSpPr>
        <p:spPr>
          <a:xfrm>
            <a:off x="457200" y="6473952"/>
            <a:ext cx="7315200" cy="274320"/>
          </a:xfrm>
          <a:prstGeom prst="rect">
            <a:avLst/>
          </a:prstGeom>
          <a:noFill/>
          <a:ln/>
        </p:spPr>
        <p:txBody>
          <a:bodyPr wrap="square" lIns="0" tIns="0" rIns="0" bIns="0" rtlCol="0" anchor="ctr"/>
          <a:lstStyle/>
          <a:p>
            <a:pPr marL="0" indent="0">
              <a:buNone/>
            </a:pPr>
            <a:r>
              <a:rPr lang="en-US" sz="900" i="1" dirty="0">
                <a:solidFill>
                  <a:srgbClr val="746E64"/>
                </a:solidFill>
                <a:latin typeface="Calibri" pitchFamily="34" charset="0"/>
                <a:ea typeface="Calibri" pitchFamily="34" charset="-122"/>
                <a:cs typeface="Calibri" pitchFamily="34" charset="-120"/>
              </a:rPr>
              <a:t>Shivneri Fort (1/2)</a:t>
            </a:r>
            <a:endParaRPr lang="en-US" sz="900" dirty="0"/>
          </a:p>
        </p:txBody>
      </p:sp>
      <p:sp>
        <p:nvSpPr>
          <p:cNvPr id="22" name="Text 19"/>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746E64"/>
                </a:solidFill>
                <a:latin typeface="Calibri" pitchFamily="34" charset="0"/>
                <a:ea typeface="Calibri" pitchFamily="34" charset="-122"/>
                <a:cs typeface="Calibri" pitchFamily="34" charset="-120"/>
              </a:rPr>
              <a:t>3</a:t>
            </a:r>
            <a:endParaRPr lang="en-US" sz="900" dirty="0"/>
          </a:p>
        </p:txBody>
      </p:sp>
      <p:sp>
        <p:nvSpPr>
          <p:cNvPr id="30" name="Shape 10">
            <a:extLst>
              <a:ext uri="{FF2B5EF4-FFF2-40B4-BE49-F238E27FC236}">
                <a16:creationId xmlns:a16="http://schemas.microsoft.com/office/drawing/2014/main" id="{2F48C191-D657-B73A-F07B-D45B0BB03208}"/>
              </a:ext>
            </a:extLst>
          </p:cNvPr>
          <p:cNvSpPr/>
          <p:nvPr/>
        </p:nvSpPr>
        <p:spPr>
          <a:xfrm>
            <a:off x="416293" y="4917306"/>
            <a:ext cx="109728" cy="109728"/>
          </a:xfrm>
          <a:prstGeom prst="ellipse">
            <a:avLst/>
          </a:prstGeom>
          <a:solidFill>
            <a:srgbClr val="7A2E2E"/>
          </a:solidFill>
          <a:ln/>
        </p:spPr>
      </p:sp>
      <p:sp>
        <p:nvSpPr>
          <p:cNvPr id="32" name="Shape 12">
            <a:extLst>
              <a:ext uri="{FF2B5EF4-FFF2-40B4-BE49-F238E27FC236}">
                <a16:creationId xmlns:a16="http://schemas.microsoft.com/office/drawing/2014/main" id="{FD388FBA-8FCB-D7EC-96B4-C08696713EDE}"/>
              </a:ext>
            </a:extLst>
          </p:cNvPr>
          <p:cNvSpPr/>
          <p:nvPr/>
        </p:nvSpPr>
        <p:spPr>
          <a:xfrm>
            <a:off x="428324" y="5397206"/>
            <a:ext cx="109728" cy="109728"/>
          </a:xfrm>
          <a:prstGeom prst="ellipse">
            <a:avLst/>
          </a:prstGeom>
          <a:solidFill>
            <a:srgbClr val="7A2E2E"/>
          </a:solidFill>
          <a:ln/>
        </p:spPr>
      </p:sp>
      <p:sp>
        <p:nvSpPr>
          <p:cNvPr id="34" name="Shape 14">
            <a:extLst>
              <a:ext uri="{FF2B5EF4-FFF2-40B4-BE49-F238E27FC236}">
                <a16:creationId xmlns:a16="http://schemas.microsoft.com/office/drawing/2014/main" id="{2FEE27CD-2745-14C0-E1B3-657A5870B0B0}"/>
              </a:ext>
            </a:extLst>
          </p:cNvPr>
          <p:cNvSpPr/>
          <p:nvPr/>
        </p:nvSpPr>
        <p:spPr>
          <a:xfrm>
            <a:off x="442762" y="6018998"/>
            <a:ext cx="109728" cy="109728"/>
          </a:xfrm>
          <a:prstGeom prst="ellipse">
            <a:avLst/>
          </a:prstGeom>
          <a:solidFill>
            <a:srgbClr val="7A2E2E"/>
          </a:solidFill>
          <a:ln/>
        </p:spPr>
      </p:sp>
      <p:pic>
        <p:nvPicPr>
          <p:cNvPr id="35" name="Picture 34" descr="File:Birthplace of Shivaji Maharaj at Shivneri fort.jpg - Wikimedia Commons">
            <a:extLst>
              <a:ext uri="{FF2B5EF4-FFF2-40B4-BE49-F238E27FC236}">
                <a16:creationId xmlns:a16="http://schemas.microsoft.com/office/drawing/2014/main" id="{53E1C3D7-68D9-5A39-804C-AA0CA8AB489E}"/>
              </a:ext>
            </a:extLst>
          </p:cNvPr>
          <p:cNvPicPr>
            <a:picLocks noChangeAspect="1"/>
          </p:cNvPicPr>
          <p:nvPr/>
        </p:nvPicPr>
        <p:blipFill>
          <a:blip r:embed="rId4"/>
          <a:stretch>
            <a:fillRect/>
          </a:stretch>
        </p:blipFill>
        <p:spPr>
          <a:xfrm>
            <a:off x="7571569" y="2231858"/>
            <a:ext cx="3108286" cy="451104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C98A2B"/>
          </a:solidFill>
          <a:ln/>
        </p:spPr>
      </p:sp>
      <p:pic>
        <p:nvPicPr>
          <p:cNvPr id="3" name="Image 0" descr="/home/claude/forts/assets/fort_icon_white.png"/>
          <p:cNvPicPr>
            <a:picLocks noChangeAspect="1"/>
          </p:cNvPicPr>
          <p:nvPr/>
        </p:nvPicPr>
        <p:blipFill>
          <a:blip r:embed="rId3"/>
          <a:stretch>
            <a:fillRect/>
          </a:stretch>
        </p:blipFill>
        <p:spPr>
          <a:xfrm>
            <a:off x="576072" y="502920"/>
            <a:ext cx="329184" cy="329184"/>
          </a:xfrm>
          <a:prstGeom prst="rect">
            <a:avLst/>
          </a:prstGeom>
        </p:spPr>
      </p:pic>
      <p:sp>
        <p:nvSpPr>
          <p:cNvPr id="4" name="Text 1"/>
          <p:cNvSpPr/>
          <p:nvPr/>
        </p:nvSpPr>
        <p:spPr>
          <a:xfrm>
            <a:off x="1170432" y="310896"/>
            <a:ext cx="8778240" cy="457200"/>
          </a:xfrm>
          <a:prstGeom prst="rect">
            <a:avLst/>
          </a:prstGeom>
          <a:noFill/>
          <a:ln/>
        </p:spPr>
        <p:txBody>
          <a:bodyPr wrap="square" lIns="0" tIns="0" rIns="0" bIns="0" rtlCol="0" anchor="b"/>
          <a:lstStyle/>
          <a:p>
            <a:pPr marL="0" indent="0">
              <a:buNone/>
            </a:pPr>
            <a:r>
              <a:rPr lang="en-US" sz="2700" b="1" dirty="0">
                <a:solidFill>
                  <a:srgbClr val="7A2E2E"/>
                </a:solidFill>
                <a:latin typeface="Cambria" pitchFamily="34" charset="0"/>
                <a:ea typeface="Cambria" pitchFamily="34" charset="-122"/>
                <a:cs typeface="Cambria" pitchFamily="34" charset="-120"/>
              </a:rPr>
              <a:t>Shivneri Fort</a:t>
            </a:r>
            <a:endParaRPr lang="en-US" sz="2700" dirty="0"/>
          </a:p>
        </p:txBody>
      </p:sp>
      <p:sp>
        <p:nvSpPr>
          <p:cNvPr id="5" name="Text 2"/>
          <p:cNvSpPr/>
          <p:nvPr/>
        </p:nvSpPr>
        <p:spPr>
          <a:xfrm>
            <a:off x="1188720" y="786384"/>
            <a:ext cx="8778240" cy="274320"/>
          </a:xfrm>
          <a:prstGeom prst="rect">
            <a:avLst/>
          </a:prstGeom>
          <a:noFill/>
          <a:ln/>
        </p:spPr>
        <p:txBody>
          <a:bodyPr wrap="square" lIns="0" tIns="0" rIns="0" bIns="0" rtlCol="0" anchor="ctr"/>
          <a:lstStyle/>
          <a:p>
            <a:pPr marL="0" indent="0">
              <a:buNone/>
            </a:pPr>
            <a:r>
              <a:rPr lang="en-US" sz="1250" i="1" dirty="0">
                <a:solidFill>
                  <a:srgbClr val="746E64"/>
                </a:solidFill>
                <a:latin typeface="Calibri" pitchFamily="34" charset="0"/>
                <a:ea typeface="Calibri" pitchFamily="34" charset="-122"/>
                <a:cs typeface="Calibri" pitchFamily="34" charset="-120"/>
              </a:rPr>
              <a:t>Architecture, Location &amp; Legacy</a:t>
            </a:r>
            <a:endParaRPr lang="en-US" sz="1250" dirty="0"/>
          </a:p>
        </p:txBody>
      </p:sp>
      <p:sp>
        <p:nvSpPr>
          <p:cNvPr id="6" name="Shape 3"/>
          <p:cNvSpPr/>
          <p:nvPr/>
        </p:nvSpPr>
        <p:spPr>
          <a:xfrm>
            <a:off x="9445752" y="438912"/>
            <a:ext cx="2286000" cy="384048"/>
          </a:xfrm>
          <a:prstGeom prst="roundRect">
            <a:avLst>
              <a:gd name="adj" fmla="val 19048"/>
            </a:avLst>
          </a:prstGeom>
          <a:solidFill>
            <a:srgbClr val="F3E4C6"/>
          </a:solidFill>
          <a:ln w="12700">
            <a:solidFill>
              <a:srgbClr val="C98A2B"/>
            </a:solidFill>
            <a:prstDash val="solid"/>
          </a:ln>
        </p:spPr>
      </p:sp>
      <p:sp>
        <p:nvSpPr>
          <p:cNvPr id="7" name="Text 4"/>
          <p:cNvSpPr/>
          <p:nvPr/>
        </p:nvSpPr>
        <p:spPr>
          <a:xfrm>
            <a:off x="9445752" y="438912"/>
            <a:ext cx="2286000" cy="384048"/>
          </a:xfrm>
          <a:prstGeom prst="rect">
            <a:avLst/>
          </a:prstGeom>
          <a:noFill/>
          <a:ln/>
        </p:spPr>
        <p:txBody>
          <a:bodyPr wrap="square" lIns="0" tIns="0" rIns="0" bIns="0" rtlCol="0" anchor="ctr"/>
          <a:lstStyle/>
          <a:p>
            <a:pPr marL="0" indent="0" algn="ctr">
              <a:buNone/>
            </a:pPr>
            <a:r>
              <a:rPr lang="en-US" sz="1100" b="1" dirty="0">
                <a:solidFill>
                  <a:srgbClr val="7A2E2E"/>
                </a:solidFill>
                <a:latin typeface="Calibri" pitchFamily="34" charset="0"/>
                <a:ea typeface="Calibri" pitchFamily="34" charset="-122"/>
                <a:cs typeface="Calibri" pitchFamily="34" charset="-120"/>
              </a:rPr>
              <a:t>Hill fort</a:t>
            </a:r>
            <a:endParaRPr lang="en-US" sz="1100" dirty="0"/>
          </a:p>
        </p:txBody>
      </p:sp>
      <p:sp>
        <p:nvSpPr>
          <p:cNvPr id="8" name="Text 5"/>
          <p:cNvSpPr/>
          <p:nvPr/>
        </p:nvSpPr>
        <p:spPr>
          <a:xfrm>
            <a:off x="457200" y="1325880"/>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ARCHITECTURAL FEATURES</a:t>
            </a:r>
            <a:endParaRPr lang="en-US" sz="1300" dirty="0"/>
          </a:p>
        </p:txBody>
      </p:sp>
      <p:sp>
        <p:nvSpPr>
          <p:cNvPr id="9" name="Text 6"/>
          <p:cNvSpPr/>
          <p:nvPr/>
        </p:nvSpPr>
        <p:spPr>
          <a:xfrm>
            <a:off x="457200" y="1627632"/>
            <a:ext cx="5760720" cy="4572000"/>
          </a:xfrm>
          <a:prstGeom prst="rect">
            <a:avLst/>
          </a:prstGeom>
          <a:noFill/>
          <a:ln/>
        </p:spPr>
        <p:txBody>
          <a:bodyPr wrap="square" lIns="0" tIns="0" rIns="0" bIns="0" rtlCol="0" anchor="t"/>
          <a:lstStyle/>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Seven consecutive fortified gates along a winding entry path</a:t>
            </a:r>
            <a:endParaRPr lang="en-US" sz="1200" dirty="0"/>
          </a:p>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Shivai Devi temple, after whom Shivaji was named</a:t>
            </a:r>
            <a:endParaRPr lang="en-US" sz="1200" dirty="0"/>
          </a:p>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Badami Talav — almond-shaped stepped water tank</a:t>
            </a:r>
            <a:endParaRPr lang="en-US" sz="1200" dirty="0"/>
          </a:p>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Ganga &amp; Jamuna springs, said to have provided water at Shivaji’s birth</a:t>
            </a:r>
            <a:endParaRPr lang="en-US" sz="1200" dirty="0"/>
          </a:p>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Small birth-chamber shrine (Shivkunj) on the upper plateau</a:t>
            </a:r>
            <a:endParaRPr lang="en-US" sz="1200" dirty="0"/>
          </a:p>
        </p:txBody>
      </p:sp>
      <p:sp>
        <p:nvSpPr>
          <p:cNvPr id="10" name="Text 7"/>
          <p:cNvSpPr/>
          <p:nvPr/>
        </p:nvSpPr>
        <p:spPr>
          <a:xfrm>
            <a:off x="457200" y="4233672"/>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SUGGESTED PHOTOGRAPHS</a:t>
            </a:r>
            <a:endParaRPr lang="en-US" sz="1300" dirty="0"/>
          </a:p>
        </p:txBody>
      </p:sp>
      <p:sp>
        <p:nvSpPr>
          <p:cNvPr id="11" name="Shape 8"/>
          <p:cNvSpPr/>
          <p:nvPr/>
        </p:nvSpPr>
        <p:spPr>
          <a:xfrm>
            <a:off x="457200" y="4553712"/>
            <a:ext cx="2798064" cy="868680"/>
          </a:xfrm>
          <a:prstGeom prst="roundRect">
            <a:avLst>
              <a:gd name="adj" fmla="val 6316"/>
            </a:avLst>
          </a:prstGeom>
          <a:solidFill>
            <a:srgbClr val="FFFFFF"/>
          </a:solidFill>
          <a:ln w="12700">
            <a:solidFill>
              <a:srgbClr val="DCD5C7"/>
            </a:solidFill>
            <a:prstDash val="dash"/>
          </a:ln>
        </p:spPr>
      </p:sp>
      <p:sp>
        <p:nvSpPr>
          <p:cNvPr id="12" name="Text 9"/>
          <p:cNvSpPr/>
          <p:nvPr/>
        </p:nvSpPr>
        <p:spPr>
          <a:xfrm>
            <a:off x="566928" y="4553712"/>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Main entrance &amp; stepped gateways</a:t>
            </a:r>
            <a:endParaRPr lang="en-US" sz="1300" dirty="0"/>
          </a:p>
        </p:txBody>
      </p:sp>
      <p:sp>
        <p:nvSpPr>
          <p:cNvPr id="13" name="Shape 10"/>
          <p:cNvSpPr/>
          <p:nvPr/>
        </p:nvSpPr>
        <p:spPr>
          <a:xfrm>
            <a:off x="3419856" y="4566305"/>
            <a:ext cx="2798064" cy="868680"/>
          </a:xfrm>
          <a:prstGeom prst="roundRect">
            <a:avLst>
              <a:gd name="adj" fmla="val 6316"/>
            </a:avLst>
          </a:prstGeom>
          <a:solidFill>
            <a:srgbClr val="FFFFFF"/>
          </a:solidFill>
          <a:ln w="12700">
            <a:solidFill>
              <a:srgbClr val="DCD5C7"/>
            </a:solidFill>
            <a:prstDash val="dash"/>
          </a:ln>
        </p:spPr>
      </p:sp>
      <p:sp>
        <p:nvSpPr>
          <p:cNvPr id="14" name="Text 11"/>
          <p:cNvSpPr/>
          <p:nvPr/>
        </p:nvSpPr>
        <p:spPr>
          <a:xfrm>
            <a:off x="3529584" y="4553712"/>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Shivai Devi temple</a:t>
            </a:r>
            <a:endParaRPr lang="en-US" sz="1300" dirty="0"/>
          </a:p>
        </p:txBody>
      </p:sp>
      <p:sp>
        <p:nvSpPr>
          <p:cNvPr id="15" name="Shape 12"/>
          <p:cNvSpPr/>
          <p:nvPr/>
        </p:nvSpPr>
        <p:spPr>
          <a:xfrm>
            <a:off x="457200" y="5586984"/>
            <a:ext cx="2798064" cy="868680"/>
          </a:xfrm>
          <a:prstGeom prst="roundRect">
            <a:avLst>
              <a:gd name="adj" fmla="val 6316"/>
            </a:avLst>
          </a:prstGeom>
          <a:solidFill>
            <a:srgbClr val="FFFFFF"/>
          </a:solidFill>
          <a:ln w="12700">
            <a:solidFill>
              <a:srgbClr val="DCD5C7"/>
            </a:solidFill>
            <a:prstDash val="dash"/>
          </a:ln>
        </p:spPr>
      </p:sp>
      <p:sp>
        <p:nvSpPr>
          <p:cNvPr id="16" name="Text 13"/>
          <p:cNvSpPr/>
          <p:nvPr/>
        </p:nvSpPr>
        <p:spPr>
          <a:xfrm>
            <a:off x="566928" y="5586984"/>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Badami Talav water tank</a:t>
            </a:r>
            <a:endParaRPr lang="en-US" sz="1300" dirty="0"/>
          </a:p>
        </p:txBody>
      </p:sp>
      <p:sp>
        <p:nvSpPr>
          <p:cNvPr id="17" name="Shape 14"/>
          <p:cNvSpPr/>
          <p:nvPr/>
        </p:nvSpPr>
        <p:spPr>
          <a:xfrm>
            <a:off x="3419856" y="5586984"/>
            <a:ext cx="2798064" cy="868680"/>
          </a:xfrm>
          <a:prstGeom prst="roundRect">
            <a:avLst>
              <a:gd name="adj" fmla="val 6316"/>
            </a:avLst>
          </a:prstGeom>
          <a:solidFill>
            <a:srgbClr val="FFFFFF"/>
          </a:solidFill>
          <a:ln w="12700">
            <a:solidFill>
              <a:srgbClr val="DCD5C7"/>
            </a:solidFill>
            <a:prstDash val="dash"/>
          </a:ln>
        </p:spPr>
      </p:sp>
      <p:sp>
        <p:nvSpPr>
          <p:cNvPr id="18" name="Text 15"/>
          <p:cNvSpPr/>
          <p:nvPr/>
        </p:nvSpPr>
        <p:spPr>
          <a:xfrm>
            <a:off x="3529584" y="5586984"/>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Panoramic view from the plateau</a:t>
            </a:r>
            <a:endParaRPr lang="en-US" sz="1300" dirty="0"/>
          </a:p>
        </p:txBody>
      </p:sp>
      <p:sp>
        <p:nvSpPr>
          <p:cNvPr id="19" name="Shape 16"/>
          <p:cNvSpPr/>
          <p:nvPr/>
        </p:nvSpPr>
        <p:spPr>
          <a:xfrm>
            <a:off x="8659368" y="1344168"/>
            <a:ext cx="1648090" cy="2478024"/>
          </a:xfrm>
          <a:prstGeom prst="roundRect">
            <a:avLst>
              <a:gd name="adj" fmla="val 2774"/>
            </a:avLst>
          </a:prstGeom>
          <a:solidFill>
            <a:srgbClr val="FFFFFF"/>
          </a:solidFill>
          <a:ln w="12700">
            <a:solidFill>
              <a:srgbClr val="DCD5C7"/>
            </a:solidFill>
            <a:prstDash val="solid"/>
          </a:ln>
        </p:spPr>
      </p:sp>
      <p:pic>
        <p:nvPicPr>
          <p:cNvPr id="20" name="Image 1" descr="/home/claude/forts/assets/map_shivneri.png"/>
          <p:cNvPicPr>
            <a:picLocks noChangeAspect="1"/>
          </p:cNvPicPr>
          <p:nvPr/>
        </p:nvPicPr>
        <p:blipFill>
          <a:blip r:embed="rId4"/>
          <a:stretch>
            <a:fillRect/>
          </a:stretch>
        </p:blipFill>
        <p:spPr>
          <a:xfrm>
            <a:off x="8732520" y="1417320"/>
            <a:ext cx="1501786" cy="2331720"/>
          </a:xfrm>
          <a:prstGeom prst="rect">
            <a:avLst/>
          </a:prstGeom>
        </p:spPr>
      </p:pic>
      <p:sp>
        <p:nvSpPr>
          <p:cNvPr id="21" name="Text 17"/>
          <p:cNvSpPr/>
          <p:nvPr/>
        </p:nvSpPr>
        <p:spPr>
          <a:xfrm>
            <a:off x="6583680" y="3858768"/>
            <a:ext cx="5120640" cy="274320"/>
          </a:xfrm>
          <a:prstGeom prst="rect">
            <a:avLst/>
          </a:prstGeom>
          <a:noFill/>
          <a:ln/>
        </p:spPr>
        <p:txBody>
          <a:bodyPr wrap="square" lIns="0" tIns="0" rIns="0" bIns="0" rtlCol="0" anchor="ctr"/>
          <a:lstStyle/>
          <a:p>
            <a:pPr marL="0" indent="0" algn="r">
              <a:buNone/>
            </a:pPr>
            <a:r>
              <a:rPr lang="en-US" sz="1000" i="1" dirty="0">
                <a:solidFill>
                  <a:srgbClr val="746E64"/>
                </a:solidFill>
                <a:latin typeface="Calibri" pitchFamily="34" charset="0"/>
                <a:ea typeface="Calibri" pitchFamily="34" charset="-122"/>
                <a:cs typeface="Calibri" pitchFamily="34" charset="-120"/>
              </a:rPr>
              <a:t>Location within Maharashtra</a:t>
            </a:r>
            <a:endParaRPr lang="en-US" sz="1000" dirty="0"/>
          </a:p>
        </p:txBody>
      </p:sp>
      <p:sp>
        <p:nvSpPr>
          <p:cNvPr id="22" name="Shape 18"/>
          <p:cNvSpPr/>
          <p:nvPr/>
        </p:nvSpPr>
        <p:spPr>
          <a:xfrm>
            <a:off x="6537960" y="4160520"/>
            <a:ext cx="5120640" cy="1783080"/>
          </a:xfrm>
          <a:prstGeom prst="roundRect">
            <a:avLst>
              <a:gd name="adj" fmla="val 4103"/>
            </a:avLst>
          </a:prstGeom>
          <a:solidFill>
            <a:srgbClr val="F3E4C6"/>
          </a:solidFill>
          <a:ln w="12700">
            <a:solidFill>
              <a:srgbClr val="C98A2B"/>
            </a:solidFill>
            <a:prstDash val="solid"/>
          </a:ln>
        </p:spPr>
      </p:sp>
      <p:sp>
        <p:nvSpPr>
          <p:cNvPr id="23" name="Text 19"/>
          <p:cNvSpPr/>
          <p:nvPr/>
        </p:nvSpPr>
        <p:spPr>
          <a:xfrm>
            <a:off x="6739128" y="4288536"/>
            <a:ext cx="4718304" cy="1527048"/>
          </a:xfrm>
          <a:prstGeom prst="rect">
            <a:avLst/>
          </a:prstGeom>
          <a:noFill/>
          <a:ln/>
        </p:spPr>
        <p:txBody>
          <a:bodyPr wrap="square" lIns="0" tIns="0" rIns="0" bIns="0" rtlCol="0" anchor="t"/>
          <a:lstStyle/>
          <a:p>
            <a:pPr marL="0" indent="0">
              <a:lnSpc>
                <a:spcPct val="115000"/>
              </a:lnSpc>
              <a:buNone/>
            </a:pPr>
            <a:r>
              <a:rPr lang="en-US" sz="1050" b="1" kern="0" spc="100" dirty="0">
                <a:solidFill>
                  <a:srgbClr val="7A2E2E"/>
                </a:solidFill>
                <a:latin typeface="Calibri" pitchFamily="34" charset="0"/>
                <a:ea typeface="Calibri" pitchFamily="34" charset="-122"/>
                <a:cs typeface="Calibri" pitchFamily="34" charset="-120"/>
              </a:rPr>
              <a:t>DID YOU KNOW?
</a:t>
            </a:r>
            <a:r>
              <a:rPr lang="en-US" sz="1150" i="1" dirty="0">
                <a:solidFill>
                  <a:srgbClr val="2A2622"/>
                </a:solidFill>
                <a:latin typeface="Calibri" pitchFamily="34" charset="0"/>
                <a:ea typeface="Calibri" pitchFamily="34" charset="-122"/>
                <a:cs typeface="Calibri" pitchFamily="34" charset="-120"/>
              </a:rPr>
              <a:t>The fort is built on a spur shaped like a shark’s fin, with seven gates designed so that no two are visible to each other at once — a defence against sudden storming.</a:t>
            </a:r>
            <a:endParaRPr lang="en-US" sz="1050" dirty="0"/>
          </a:p>
        </p:txBody>
      </p:sp>
      <p:sp>
        <p:nvSpPr>
          <p:cNvPr id="24" name="Text 20"/>
          <p:cNvSpPr/>
          <p:nvPr/>
        </p:nvSpPr>
        <p:spPr>
          <a:xfrm>
            <a:off x="457200" y="6473952"/>
            <a:ext cx="7315200" cy="274320"/>
          </a:xfrm>
          <a:prstGeom prst="rect">
            <a:avLst/>
          </a:prstGeom>
          <a:noFill/>
          <a:ln/>
        </p:spPr>
        <p:txBody>
          <a:bodyPr wrap="square" lIns="0" tIns="0" rIns="0" bIns="0" rtlCol="0" anchor="ctr"/>
          <a:lstStyle/>
          <a:p>
            <a:pPr marL="0" indent="0">
              <a:buNone/>
            </a:pPr>
            <a:r>
              <a:rPr lang="en-US" sz="900" i="1" dirty="0">
                <a:solidFill>
                  <a:srgbClr val="746E64"/>
                </a:solidFill>
                <a:latin typeface="Calibri" pitchFamily="34" charset="0"/>
                <a:ea typeface="Calibri" pitchFamily="34" charset="-122"/>
                <a:cs typeface="Calibri" pitchFamily="34" charset="-120"/>
              </a:rPr>
              <a:t>Shivneri Fort (2/2)</a:t>
            </a:r>
            <a:endParaRPr lang="en-US" sz="900" dirty="0"/>
          </a:p>
        </p:txBody>
      </p:sp>
      <p:sp>
        <p:nvSpPr>
          <p:cNvPr id="25" name="Text 21"/>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746E64"/>
                </a:solidFill>
                <a:latin typeface="Calibri" pitchFamily="34" charset="0"/>
                <a:ea typeface="Calibri" pitchFamily="34" charset="-122"/>
                <a:cs typeface="Calibri" pitchFamily="34" charset="-120"/>
              </a:rPr>
              <a:t>4</a:t>
            </a:r>
            <a:endParaRPr lang="en-US" sz="900" dirty="0"/>
          </a:p>
        </p:txBody>
      </p:sp>
      <p:pic>
        <p:nvPicPr>
          <p:cNvPr id="26" name="Picture 25" descr="किल्ला शिवनेरी – जुन्नर वन विभाग">
            <a:extLst>
              <a:ext uri="{FF2B5EF4-FFF2-40B4-BE49-F238E27FC236}">
                <a16:creationId xmlns:a16="http://schemas.microsoft.com/office/drawing/2014/main" id="{49B74E9C-7018-904A-1644-4A3CDF41104E}"/>
              </a:ext>
            </a:extLst>
          </p:cNvPr>
          <p:cNvPicPr>
            <a:picLocks noChangeAspect="1"/>
          </p:cNvPicPr>
          <p:nvPr/>
        </p:nvPicPr>
        <p:blipFill>
          <a:blip r:embed="rId5"/>
          <a:stretch>
            <a:fillRect/>
          </a:stretch>
        </p:blipFill>
        <p:spPr>
          <a:xfrm>
            <a:off x="182879" y="3112168"/>
            <a:ext cx="6035041" cy="363610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C98A2B"/>
          </a:solidFill>
          <a:ln/>
        </p:spPr>
      </p:sp>
      <p:pic>
        <p:nvPicPr>
          <p:cNvPr id="3" name="Image 0" descr="/home/claude/forts/assets/fort_icon_white.png"/>
          <p:cNvPicPr>
            <a:picLocks noChangeAspect="1"/>
          </p:cNvPicPr>
          <p:nvPr/>
        </p:nvPicPr>
        <p:blipFill>
          <a:blip r:embed="rId3"/>
          <a:stretch>
            <a:fillRect/>
          </a:stretch>
        </p:blipFill>
        <p:spPr>
          <a:xfrm>
            <a:off x="576072" y="502920"/>
            <a:ext cx="329184" cy="329184"/>
          </a:xfrm>
          <a:prstGeom prst="rect">
            <a:avLst/>
          </a:prstGeom>
        </p:spPr>
      </p:pic>
      <p:sp>
        <p:nvSpPr>
          <p:cNvPr id="4" name="Text 1"/>
          <p:cNvSpPr/>
          <p:nvPr/>
        </p:nvSpPr>
        <p:spPr>
          <a:xfrm>
            <a:off x="1170432" y="310896"/>
            <a:ext cx="8778240" cy="457200"/>
          </a:xfrm>
          <a:prstGeom prst="rect">
            <a:avLst/>
          </a:prstGeom>
          <a:noFill/>
          <a:ln/>
        </p:spPr>
        <p:txBody>
          <a:bodyPr wrap="square" lIns="0" tIns="0" rIns="0" bIns="0" rtlCol="0" anchor="b"/>
          <a:lstStyle/>
          <a:p>
            <a:pPr marL="0" indent="0">
              <a:buNone/>
            </a:pPr>
            <a:r>
              <a:rPr lang="en-US" sz="2700" b="1" dirty="0">
                <a:solidFill>
                  <a:srgbClr val="7A2E2E"/>
                </a:solidFill>
                <a:latin typeface="Cambria" pitchFamily="34" charset="0"/>
                <a:ea typeface="Cambria" pitchFamily="34" charset="-122"/>
                <a:cs typeface="Cambria" pitchFamily="34" charset="-120"/>
              </a:rPr>
              <a:t>Torna Fort</a:t>
            </a:r>
            <a:endParaRPr lang="en-US" sz="2700" dirty="0"/>
          </a:p>
        </p:txBody>
      </p:sp>
      <p:sp>
        <p:nvSpPr>
          <p:cNvPr id="5" name="Text 2"/>
          <p:cNvSpPr/>
          <p:nvPr/>
        </p:nvSpPr>
        <p:spPr>
          <a:xfrm>
            <a:off x="1188720" y="786384"/>
            <a:ext cx="8778240" cy="274320"/>
          </a:xfrm>
          <a:prstGeom prst="rect">
            <a:avLst/>
          </a:prstGeom>
          <a:noFill/>
          <a:ln/>
        </p:spPr>
        <p:txBody>
          <a:bodyPr wrap="square" lIns="0" tIns="0" rIns="0" bIns="0" rtlCol="0" anchor="ctr"/>
          <a:lstStyle/>
          <a:p>
            <a:pPr marL="0" indent="0">
              <a:buNone/>
            </a:pPr>
            <a:r>
              <a:rPr lang="en-US" sz="1250" i="1" dirty="0">
                <a:solidFill>
                  <a:srgbClr val="746E64"/>
                </a:solidFill>
                <a:latin typeface="Calibri" pitchFamily="34" charset="0"/>
                <a:ea typeface="Calibri" pitchFamily="34" charset="-122"/>
                <a:cs typeface="Calibri" pitchFamily="34" charset="-120"/>
              </a:rPr>
              <a:t>Prachandagad  •  Velhe, Pune District, Maharashtra</a:t>
            </a:r>
            <a:endParaRPr lang="en-US" sz="1250" dirty="0"/>
          </a:p>
        </p:txBody>
      </p:sp>
      <p:sp>
        <p:nvSpPr>
          <p:cNvPr id="6" name="Shape 3"/>
          <p:cNvSpPr/>
          <p:nvPr/>
        </p:nvSpPr>
        <p:spPr>
          <a:xfrm>
            <a:off x="9445752" y="438912"/>
            <a:ext cx="2286000" cy="384048"/>
          </a:xfrm>
          <a:prstGeom prst="roundRect">
            <a:avLst>
              <a:gd name="adj" fmla="val 19048"/>
            </a:avLst>
          </a:prstGeom>
          <a:solidFill>
            <a:srgbClr val="F3E4C6"/>
          </a:solidFill>
          <a:ln w="12700">
            <a:solidFill>
              <a:srgbClr val="C98A2B"/>
            </a:solidFill>
            <a:prstDash val="solid"/>
          </a:ln>
        </p:spPr>
      </p:sp>
      <p:sp>
        <p:nvSpPr>
          <p:cNvPr id="7" name="Text 4"/>
          <p:cNvSpPr/>
          <p:nvPr/>
        </p:nvSpPr>
        <p:spPr>
          <a:xfrm>
            <a:off x="9445752" y="438912"/>
            <a:ext cx="2286000" cy="384048"/>
          </a:xfrm>
          <a:prstGeom prst="rect">
            <a:avLst/>
          </a:prstGeom>
          <a:noFill/>
          <a:ln/>
        </p:spPr>
        <p:txBody>
          <a:bodyPr wrap="square" lIns="0" tIns="0" rIns="0" bIns="0" rtlCol="0" anchor="ctr"/>
          <a:lstStyle/>
          <a:p>
            <a:pPr marL="0" indent="0" algn="ctr">
              <a:buNone/>
            </a:pPr>
            <a:r>
              <a:rPr lang="en-US" sz="1100" b="1" dirty="0">
                <a:solidFill>
                  <a:srgbClr val="7A2E2E"/>
                </a:solidFill>
                <a:latin typeface="Calibri" pitchFamily="34" charset="0"/>
                <a:ea typeface="Calibri" pitchFamily="34" charset="-122"/>
                <a:cs typeface="Calibri" pitchFamily="34" charset="-120"/>
              </a:rPr>
              <a:t>Hill fort</a:t>
            </a:r>
            <a:endParaRPr lang="en-US" sz="1100" dirty="0"/>
          </a:p>
        </p:txBody>
      </p:sp>
      <p:sp>
        <p:nvSpPr>
          <p:cNvPr id="8" name="Text 5"/>
          <p:cNvSpPr/>
          <p:nvPr/>
        </p:nvSpPr>
        <p:spPr>
          <a:xfrm>
            <a:off x="457200" y="1325880"/>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HISTORY</a:t>
            </a:r>
            <a:endParaRPr lang="en-US" sz="1300" dirty="0"/>
          </a:p>
        </p:txBody>
      </p:sp>
      <p:sp>
        <p:nvSpPr>
          <p:cNvPr id="9" name="Text 6"/>
          <p:cNvSpPr/>
          <p:nvPr/>
        </p:nvSpPr>
        <p:spPr>
          <a:xfrm>
            <a:off x="457200" y="1627632"/>
            <a:ext cx="5760720" cy="4572000"/>
          </a:xfrm>
          <a:prstGeom prst="rect">
            <a:avLst/>
          </a:prstGeom>
          <a:noFill/>
          <a:ln/>
        </p:spPr>
        <p:txBody>
          <a:bodyPr wrap="square" lIns="0" tIns="0" rIns="0" bIns="0" rtlCol="0" anchor="t"/>
          <a:lstStyle/>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An old hill fort referenced in Deccan records from at least the 13th–14th century</a:t>
            </a:r>
            <a:endParaRPr lang="en-US" sz="1250" dirty="0"/>
          </a:p>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Passed through Bahmani, Nizamshahi and Adilshahi (Bijapur) control before 1646</a:t>
            </a:r>
            <a:endParaRPr lang="en-US" sz="1250" dirty="0"/>
          </a:p>
        </p:txBody>
      </p:sp>
      <p:sp>
        <p:nvSpPr>
          <p:cNvPr id="10" name="Text 7"/>
          <p:cNvSpPr/>
          <p:nvPr/>
        </p:nvSpPr>
        <p:spPr>
          <a:xfrm>
            <a:off x="457200" y="2345997"/>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ROLE IN SHIVAJI'S SWARAJYA</a:t>
            </a:r>
            <a:endParaRPr lang="en-US" sz="1300" dirty="0"/>
          </a:p>
        </p:txBody>
      </p:sp>
      <p:sp>
        <p:nvSpPr>
          <p:cNvPr id="11" name="Text 8"/>
          <p:cNvSpPr/>
          <p:nvPr/>
        </p:nvSpPr>
        <p:spPr>
          <a:xfrm>
            <a:off x="457073" y="2752344"/>
            <a:ext cx="5760720" cy="4572000"/>
          </a:xfrm>
          <a:prstGeom prst="rect">
            <a:avLst/>
          </a:prstGeom>
          <a:noFill/>
          <a:ln/>
        </p:spPr>
        <p:txBody>
          <a:bodyPr wrap="square" lIns="0" tIns="0" rIns="0" bIns="0" rtlCol="0" anchor="t"/>
          <a:lstStyle/>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The first fort captured by a teenage Shivaji Maharaj in 1646, traditionally marking the start of Swarajya</a:t>
            </a:r>
            <a:endParaRPr lang="en-US" sz="1250" dirty="0"/>
          </a:p>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Its rugged, near-inaccessible ridge made it a natural stronghold guarding the routes toward Rajgad and the Konkan</a:t>
            </a:r>
            <a:endParaRPr lang="en-US" sz="1250" dirty="0"/>
          </a:p>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Treasure reportedly recovered here helped finance new construction at nearby Rajgad</a:t>
            </a:r>
            <a:endParaRPr lang="en-US" sz="1250" dirty="0"/>
          </a:p>
        </p:txBody>
      </p:sp>
      <p:sp>
        <p:nvSpPr>
          <p:cNvPr id="12" name="Text 9"/>
          <p:cNvSpPr/>
          <p:nvPr/>
        </p:nvSpPr>
        <p:spPr>
          <a:xfrm>
            <a:off x="457200" y="4352544"/>
            <a:ext cx="512064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KEY EVENTS</a:t>
            </a:r>
            <a:endParaRPr lang="en-US" sz="1300" dirty="0"/>
          </a:p>
        </p:txBody>
      </p:sp>
      <p:sp>
        <p:nvSpPr>
          <p:cNvPr id="13" name="Shape 10"/>
          <p:cNvSpPr/>
          <p:nvPr/>
        </p:nvSpPr>
        <p:spPr>
          <a:xfrm>
            <a:off x="447414" y="4938883"/>
            <a:ext cx="109728" cy="109728"/>
          </a:xfrm>
          <a:prstGeom prst="ellipse">
            <a:avLst/>
          </a:prstGeom>
          <a:solidFill>
            <a:srgbClr val="7A2E2E"/>
          </a:solidFill>
          <a:ln/>
        </p:spPr>
      </p:sp>
      <p:sp>
        <p:nvSpPr>
          <p:cNvPr id="14" name="Text 11"/>
          <p:cNvSpPr/>
          <p:nvPr/>
        </p:nvSpPr>
        <p:spPr>
          <a:xfrm>
            <a:off x="585216" y="4901184"/>
            <a:ext cx="4864608" cy="457200"/>
          </a:xfrm>
          <a:prstGeom prst="rect">
            <a:avLst/>
          </a:prstGeom>
          <a:noFill/>
          <a:ln/>
        </p:spPr>
        <p:txBody>
          <a:bodyPr wrap="square" lIns="0" tIns="0" rIns="0" bIns="0" rtlCol="0" anchor="t"/>
          <a:lstStyle/>
          <a:p>
            <a:pPr marL="0" indent="0">
              <a:lnSpc>
                <a:spcPct val="110000"/>
              </a:lnSpc>
              <a:buNone/>
            </a:pPr>
            <a:r>
              <a:rPr lang="en-US" sz="1200" b="1" dirty="0">
                <a:solidFill>
                  <a:srgbClr val="7A2E2E"/>
                </a:solidFill>
                <a:latin typeface="Calibri" pitchFamily="34" charset="0"/>
                <a:ea typeface="Calibri" pitchFamily="34" charset="-122"/>
                <a:cs typeface="Calibri" pitchFamily="34" charset="-120"/>
              </a:rPr>
              <a:t>1646  </a:t>
            </a:r>
            <a:r>
              <a:rPr lang="en-US" sz="1200" dirty="0">
                <a:solidFill>
                  <a:srgbClr val="2A2622"/>
                </a:solidFill>
                <a:latin typeface="Calibri" pitchFamily="34" charset="0"/>
                <a:ea typeface="Calibri" pitchFamily="34" charset="-122"/>
                <a:cs typeface="Calibri" pitchFamily="34" charset="-120"/>
              </a:rPr>
              <a:t>Captured by Shivaji Maharaj; renamed Prachandagad</a:t>
            </a:r>
            <a:endParaRPr lang="en-US" sz="1200" dirty="0"/>
          </a:p>
        </p:txBody>
      </p:sp>
      <p:sp>
        <p:nvSpPr>
          <p:cNvPr id="15" name="Shape 12"/>
          <p:cNvSpPr/>
          <p:nvPr/>
        </p:nvSpPr>
        <p:spPr>
          <a:xfrm>
            <a:off x="439554" y="5542146"/>
            <a:ext cx="109728" cy="109728"/>
          </a:xfrm>
          <a:prstGeom prst="ellipse">
            <a:avLst/>
          </a:prstGeom>
          <a:solidFill>
            <a:srgbClr val="7A2E2E"/>
          </a:solidFill>
          <a:ln/>
        </p:spPr>
      </p:sp>
      <p:sp>
        <p:nvSpPr>
          <p:cNvPr id="16" name="Text 13"/>
          <p:cNvSpPr/>
          <p:nvPr/>
        </p:nvSpPr>
        <p:spPr>
          <a:xfrm>
            <a:off x="576072" y="5468112"/>
            <a:ext cx="4864608" cy="457200"/>
          </a:xfrm>
          <a:prstGeom prst="rect">
            <a:avLst/>
          </a:prstGeom>
          <a:noFill/>
          <a:ln/>
        </p:spPr>
        <p:txBody>
          <a:bodyPr wrap="square" lIns="0" tIns="0" rIns="0" bIns="0" rtlCol="0" anchor="t"/>
          <a:lstStyle/>
          <a:p>
            <a:pPr marL="0" indent="0">
              <a:lnSpc>
                <a:spcPct val="110000"/>
              </a:lnSpc>
              <a:buNone/>
            </a:pPr>
            <a:r>
              <a:rPr lang="en-US" sz="1200" b="1" dirty="0">
                <a:solidFill>
                  <a:srgbClr val="7A2E2E"/>
                </a:solidFill>
                <a:latin typeface="Calibri" pitchFamily="34" charset="0"/>
                <a:ea typeface="Calibri" pitchFamily="34" charset="-122"/>
                <a:cs typeface="Calibri" pitchFamily="34" charset="-120"/>
              </a:rPr>
              <a:t>1704  </a:t>
            </a:r>
            <a:r>
              <a:rPr lang="en-US" sz="1200" dirty="0">
                <a:solidFill>
                  <a:srgbClr val="2A2622"/>
                </a:solidFill>
                <a:latin typeface="Calibri" pitchFamily="34" charset="0"/>
                <a:ea typeface="Calibri" pitchFamily="34" charset="-122"/>
                <a:cs typeface="Calibri" pitchFamily="34" charset="-120"/>
              </a:rPr>
              <a:t>Besieged and taken by Mughal forces under Aurangzeb</a:t>
            </a:r>
            <a:endParaRPr lang="en-US" sz="1200" dirty="0"/>
          </a:p>
        </p:txBody>
      </p:sp>
      <p:sp>
        <p:nvSpPr>
          <p:cNvPr id="17" name="Shape 14"/>
          <p:cNvSpPr/>
          <p:nvPr/>
        </p:nvSpPr>
        <p:spPr>
          <a:xfrm>
            <a:off x="447575" y="6097042"/>
            <a:ext cx="109728" cy="109728"/>
          </a:xfrm>
          <a:prstGeom prst="ellipse">
            <a:avLst/>
          </a:prstGeom>
          <a:solidFill>
            <a:srgbClr val="7A2E2E"/>
          </a:solidFill>
          <a:ln/>
        </p:spPr>
      </p:sp>
      <p:sp>
        <p:nvSpPr>
          <p:cNvPr id="18" name="Text 15"/>
          <p:cNvSpPr/>
          <p:nvPr/>
        </p:nvSpPr>
        <p:spPr>
          <a:xfrm>
            <a:off x="585216" y="6057339"/>
            <a:ext cx="4864608" cy="457200"/>
          </a:xfrm>
          <a:prstGeom prst="rect">
            <a:avLst/>
          </a:prstGeom>
          <a:noFill/>
          <a:ln/>
        </p:spPr>
        <p:txBody>
          <a:bodyPr wrap="square" lIns="0" tIns="0" rIns="0" bIns="0" rtlCol="0" anchor="t"/>
          <a:lstStyle/>
          <a:p>
            <a:pPr marL="0" indent="0">
              <a:lnSpc>
                <a:spcPct val="110000"/>
              </a:lnSpc>
              <a:buNone/>
            </a:pPr>
            <a:r>
              <a:rPr lang="en-US" sz="1200" b="1" dirty="0">
                <a:solidFill>
                  <a:srgbClr val="7A2E2E"/>
                </a:solidFill>
                <a:latin typeface="Calibri" pitchFamily="34" charset="0"/>
                <a:ea typeface="Calibri" pitchFamily="34" charset="-122"/>
                <a:cs typeface="Calibri" pitchFamily="34" charset="-120"/>
              </a:rPr>
              <a:t>1705  </a:t>
            </a:r>
            <a:r>
              <a:rPr lang="en-US" sz="1200" dirty="0">
                <a:solidFill>
                  <a:srgbClr val="2A2622"/>
                </a:solidFill>
                <a:latin typeface="Calibri" pitchFamily="34" charset="0"/>
                <a:ea typeface="Calibri" pitchFamily="34" charset="-122"/>
                <a:cs typeface="Calibri" pitchFamily="34" charset="-120"/>
              </a:rPr>
              <a:t>Recaptured by the Marathas</a:t>
            </a:r>
            <a:endParaRPr lang="en-US" sz="1200" dirty="0"/>
          </a:p>
        </p:txBody>
      </p:sp>
      <p:sp>
        <p:nvSpPr>
          <p:cNvPr id="19" name="Shape 16"/>
          <p:cNvSpPr/>
          <p:nvPr/>
        </p:nvSpPr>
        <p:spPr>
          <a:xfrm>
            <a:off x="6433228" y="1125136"/>
            <a:ext cx="5120640" cy="777240"/>
          </a:xfrm>
          <a:prstGeom prst="roundRect">
            <a:avLst>
              <a:gd name="adj" fmla="val 9412"/>
            </a:avLst>
          </a:prstGeom>
          <a:solidFill>
            <a:srgbClr val="F3E4C6"/>
          </a:solidFill>
          <a:ln w="12700">
            <a:solidFill>
              <a:srgbClr val="C98A2B"/>
            </a:solidFill>
            <a:prstDash val="solid"/>
          </a:ln>
        </p:spPr>
      </p:sp>
      <p:sp>
        <p:nvSpPr>
          <p:cNvPr id="20" name="Text 17"/>
          <p:cNvSpPr/>
          <p:nvPr/>
        </p:nvSpPr>
        <p:spPr>
          <a:xfrm>
            <a:off x="6656832" y="1347617"/>
            <a:ext cx="4754880" cy="640080"/>
          </a:xfrm>
          <a:prstGeom prst="rect">
            <a:avLst/>
          </a:prstGeom>
          <a:noFill/>
          <a:ln/>
        </p:spPr>
        <p:txBody>
          <a:bodyPr wrap="square" lIns="0" tIns="0" rIns="0" bIns="0" rtlCol="0" anchor="t"/>
          <a:lstStyle/>
          <a:p>
            <a:pPr marL="0" indent="0">
              <a:lnSpc>
                <a:spcPct val="115000"/>
              </a:lnSpc>
              <a:buNone/>
            </a:pPr>
            <a:r>
              <a:rPr lang="en-US" sz="1000" b="1" kern="0" spc="100" dirty="0">
                <a:solidFill>
                  <a:srgbClr val="7A2E2E"/>
                </a:solidFill>
                <a:latin typeface="Calibri" pitchFamily="34" charset="0"/>
                <a:ea typeface="Calibri" pitchFamily="34" charset="-122"/>
                <a:cs typeface="Calibri" pitchFamily="34" charset="-120"/>
              </a:rPr>
              <a:t>SHIVAJI MAHARAJ'S ASSOCIATION
</a:t>
            </a:r>
            <a:r>
              <a:rPr lang="en-US" sz="1150" dirty="0">
                <a:solidFill>
                  <a:srgbClr val="2A2622"/>
                </a:solidFill>
                <a:latin typeface="Calibri" pitchFamily="34" charset="0"/>
                <a:ea typeface="Calibri" pitchFamily="34" charset="-122"/>
                <a:cs typeface="Calibri" pitchFamily="34" charset="-120"/>
              </a:rPr>
              <a:t>1646 onward — Shivaji’s first conquest and an early anchor of Swarajya</a:t>
            </a:r>
            <a:endParaRPr lang="en-US" sz="1000" dirty="0"/>
          </a:p>
        </p:txBody>
      </p:sp>
      <p:sp>
        <p:nvSpPr>
          <p:cNvPr id="21" name="Text 18"/>
          <p:cNvSpPr/>
          <p:nvPr/>
        </p:nvSpPr>
        <p:spPr>
          <a:xfrm>
            <a:off x="457200" y="6473952"/>
            <a:ext cx="7315200" cy="274320"/>
          </a:xfrm>
          <a:prstGeom prst="rect">
            <a:avLst/>
          </a:prstGeom>
          <a:noFill/>
          <a:ln/>
        </p:spPr>
        <p:txBody>
          <a:bodyPr wrap="square" lIns="0" tIns="0" rIns="0" bIns="0" rtlCol="0" anchor="ctr"/>
          <a:lstStyle/>
          <a:p>
            <a:pPr marL="0" indent="0">
              <a:buNone/>
            </a:pPr>
            <a:r>
              <a:rPr lang="en-US" sz="900" i="1" dirty="0">
                <a:solidFill>
                  <a:srgbClr val="746E64"/>
                </a:solidFill>
                <a:latin typeface="Calibri" pitchFamily="34" charset="0"/>
                <a:ea typeface="Calibri" pitchFamily="34" charset="-122"/>
                <a:cs typeface="Calibri" pitchFamily="34" charset="-120"/>
              </a:rPr>
              <a:t>Torna Fort (1/2)</a:t>
            </a:r>
            <a:endParaRPr lang="en-US" sz="900" dirty="0"/>
          </a:p>
        </p:txBody>
      </p:sp>
      <p:sp>
        <p:nvSpPr>
          <p:cNvPr id="22" name="Text 19"/>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746E64"/>
                </a:solidFill>
                <a:latin typeface="Calibri" pitchFamily="34" charset="0"/>
                <a:ea typeface="Calibri" pitchFamily="34" charset="-122"/>
                <a:cs typeface="Calibri" pitchFamily="34" charset="-120"/>
              </a:rPr>
              <a:t>5</a:t>
            </a:r>
            <a:endParaRPr lang="en-US" sz="900" dirty="0"/>
          </a:p>
        </p:txBody>
      </p:sp>
      <p:pic>
        <p:nvPicPr>
          <p:cNvPr id="23" name="Picture 22" descr="Torna fort, Maharashtra.">
            <a:extLst>
              <a:ext uri="{FF2B5EF4-FFF2-40B4-BE49-F238E27FC236}">
                <a16:creationId xmlns:a16="http://schemas.microsoft.com/office/drawing/2014/main" id="{CA1FAC41-0851-7ADA-CB56-4A78CF5255DB}"/>
              </a:ext>
            </a:extLst>
          </p:cNvPr>
          <p:cNvPicPr>
            <a:picLocks noChangeAspect="1"/>
          </p:cNvPicPr>
          <p:nvPr/>
        </p:nvPicPr>
        <p:blipFill>
          <a:blip r:embed="rId4"/>
          <a:stretch>
            <a:fillRect/>
          </a:stretch>
        </p:blipFill>
        <p:spPr>
          <a:xfrm>
            <a:off x="6483944" y="2012104"/>
            <a:ext cx="5019208" cy="484589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C98A2B"/>
          </a:solidFill>
          <a:ln/>
        </p:spPr>
      </p:sp>
      <p:pic>
        <p:nvPicPr>
          <p:cNvPr id="3" name="Image 0" descr="/home/claude/forts/assets/fort_icon_white.png"/>
          <p:cNvPicPr>
            <a:picLocks noChangeAspect="1"/>
          </p:cNvPicPr>
          <p:nvPr/>
        </p:nvPicPr>
        <p:blipFill>
          <a:blip r:embed="rId3"/>
          <a:stretch>
            <a:fillRect/>
          </a:stretch>
        </p:blipFill>
        <p:spPr>
          <a:xfrm>
            <a:off x="576072" y="502920"/>
            <a:ext cx="329184" cy="329184"/>
          </a:xfrm>
          <a:prstGeom prst="rect">
            <a:avLst/>
          </a:prstGeom>
        </p:spPr>
      </p:pic>
      <p:sp>
        <p:nvSpPr>
          <p:cNvPr id="4" name="Text 1"/>
          <p:cNvSpPr/>
          <p:nvPr/>
        </p:nvSpPr>
        <p:spPr>
          <a:xfrm>
            <a:off x="1170432" y="310896"/>
            <a:ext cx="8778240" cy="457200"/>
          </a:xfrm>
          <a:prstGeom prst="rect">
            <a:avLst/>
          </a:prstGeom>
          <a:noFill/>
          <a:ln/>
        </p:spPr>
        <p:txBody>
          <a:bodyPr wrap="square" lIns="0" tIns="0" rIns="0" bIns="0" rtlCol="0" anchor="b"/>
          <a:lstStyle/>
          <a:p>
            <a:pPr marL="0" indent="0">
              <a:buNone/>
            </a:pPr>
            <a:r>
              <a:rPr lang="en-US" sz="2700" b="1" dirty="0">
                <a:solidFill>
                  <a:srgbClr val="7A2E2E"/>
                </a:solidFill>
                <a:latin typeface="Cambria" pitchFamily="34" charset="0"/>
                <a:ea typeface="Cambria" pitchFamily="34" charset="-122"/>
                <a:cs typeface="Cambria" pitchFamily="34" charset="-120"/>
              </a:rPr>
              <a:t>Torna Fort</a:t>
            </a:r>
            <a:endParaRPr lang="en-US" sz="2700" dirty="0"/>
          </a:p>
        </p:txBody>
      </p:sp>
      <p:sp>
        <p:nvSpPr>
          <p:cNvPr id="5" name="Text 2"/>
          <p:cNvSpPr/>
          <p:nvPr/>
        </p:nvSpPr>
        <p:spPr>
          <a:xfrm>
            <a:off x="1188720" y="786384"/>
            <a:ext cx="8778240" cy="274320"/>
          </a:xfrm>
          <a:prstGeom prst="rect">
            <a:avLst/>
          </a:prstGeom>
          <a:noFill/>
          <a:ln/>
        </p:spPr>
        <p:txBody>
          <a:bodyPr wrap="square" lIns="0" tIns="0" rIns="0" bIns="0" rtlCol="0" anchor="ctr"/>
          <a:lstStyle/>
          <a:p>
            <a:pPr marL="0" indent="0">
              <a:buNone/>
            </a:pPr>
            <a:r>
              <a:rPr lang="en-US" sz="1250" i="1" dirty="0">
                <a:solidFill>
                  <a:srgbClr val="746E64"/>
                </a:solidFill>
                <a:latin typeface="Calibri" pitchFamily="34" charset="0"/>
                <a:ea typeface="Calibri" pitchFamily="34" charset="-122"/>
                <a:cs typeface="Calibri" pitchFamily="34" charset="-120"/>
              </a:rPr>
              <a:t>Architecture, Location &amp; Legacy</a:t>
            </a:r>
            <a:endParaRPr lang="en-US" sz="1250" dirty="0"/>
          </a:p>
        </p:txBody>
      </p:sp>
      <p:sp>
        <p:nvSpPr>
          <p:cNvPr id="6" name="Shape 3"/>
          <p:cNvSpPr/>
          <p:nvPr/>
        </p:nvSpPr>
        <p:spPr>
          <a:xfrm>
            <a:off x="9445752" y="438912"/>
            <a:ext cx="2286000" cy="384048"/>
          </a:xfrm>
          <a:prstGeom prst="roundRect">
            <a:avLst>
              <a:gd name="adj" fmla="val 19048"/>
            </a:avLst>
          </a:prstGeom>
          <a:solidFill>
            <a:srgbClr val="F3E4C6"/>
          </a:solidFill>
          <a:ln w="12700">
            <a:solidFill>
              <a:srgbClr val="C98A2B"/>
            </a:solidFill>
            <a:prstDash val="solid"/>
          </a:ln>
        </p:spPr>
      </p:sp>
      <p:sp>
        <p:nvSpPr>
          <p:cNvPr id="7" name="Text 4"/>
          <p:cNvSpPr/>
          <p:nvPr/>
        </p:nvSpPr>
        <p:spPr>
          <a:xfrm>
            <a:off x="9445752" y="438912"/>
            <a:ext cx="2286000" cy="384048"/>
          </a:xfrm>
          <a:prstGeom prst="rect">
            <a:avLst/>
          </a:prstGeom>
          <a:noFill/>
          <a:ln/>
        </p:spPr>
        <p:txBody>
          <a:bodyPr wrap="square" lIns="0" tIns="0" rIns="0" bIns="0" rtlCol="0" anchor="ctr"/>
          <a:lstStyle/>
          <a:p>
            <a:pPr marL="0" indent="0" algn="ctr">
              <a:buNone/>
            </a:pPr>
            <a:r>
              <a:rPr lang="en-US" sz="1100" b="1" dirty="0">
                <a:solidFill>
                  <a:srgbClr val="7A2E2E"/>
                </a:solidFill>
                <a:latin typeface="Calibri" pitchFamily="34" charset="0"/>
                <a:ea typeface="Calibri" pitchFamily="34" charset="-122"/>
                <a:cs typeface="Calibri" pitchFamily="34" charset="-120"/>
              </a:rPr>
              <a:t>Hill fort</a:t>
            </a:r>
            <a:endParaRPr lang="en-US" sz="1100" dirty="0"/>
          </a:p>
        </p:txBody>
      </p:sp>
      <p:sp>
        <p:nvSpPr>
          <p:cNvPr id="8" name="Text 5"/>
          <p:cNvSpPr/>
          <p:nvPr/>
        </p:nvSpPr>
        <p:spPr>
          <a:xfrm>
            <a:off x="457200" y="1325880"/>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ARCHITECTURAL FEATURES</a:t>
            </a:r>
            <a:endParaRPr lang="en-US" sz="1300" dirty="0"/>
          </a:p>
        </p:txBody>
      </p:sp>
      <p:sp>
        <p:nvSpPr>
          <p:cNvPr id="9" name="Text 6"/>
          <p:cNvSpPr/>
          <p:nvPr/>
        </p:nvSpPr>
        <p:spPr>
          <a:xfrm>
            <a:off x="457200" y="1627632"/>
            <a:ext cx="5760720" cy="4572000"/>
          </a:xfrm>
          <a:prstGeom prst="rect">
            <a:avLst/>
          </a:prstGeom>
          <a:noFill/>
          <a:ln/>
        </p:spPr>
        <p:txBody>
          <a:bodyPr wrap="square" lIns="0" tIns="0" rIns="0" bIns="0" rtlCol="0" anchor="t"/>
          <a:lstStyle/>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Massive walls following the natural rock contours of the ridge</a:t>
            </a:r>
            <a:endParaRPr lang="en-US" sz="1200" dirty="0"/>
          </a:p>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Budhla Machi and Zunjar Machi — fortified spur bastions on either flank</a:t>
            </a:r>
            <a:endParaRPr lang="en-US" sz="1200" dirty="0"/>
          </a:p>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Menghai Devi temple near the fort entrance</a:t>
            </a:r>
            <a:endParaRPr lang="en-US" sz="1200" dirty="0"/>
          </a:p>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Kothi Darwaza and ruined granary structures</a:t>
            </a:r>
            <a:endParaRPr lang="en-US" sz="1200" dirty="0"/>
          </a:p>
        </p:txBody>
      </p:sp>
      <p:sp>
        <p:nvSpPr>
          <p:cNvPr id="10" name="Text 7"/>
          <p:cNvSpPr/>
          <p:nvPr/>
        </p:nvSpPr>
        <p:spPr>
          <a:xfrm>
            <a:off x="457200" y="3776472"/>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SUGGESTED PHOTOGRAPHS</a:t>
            </a:r>
            <a:endParaRPr lang="en-US" sz="1300" dirty="0"/>
          </a:p>
        </p:txBody>
      </p:sp>
      <p:sp>
        <p:nvSpPr>
          <p:cNvPr id="11" name="Shape 8"/>
          <p:cNvSpPr/>
          <p:nvPr/>
        </p:nvSpPr>
        <p:spPr>
          <a:xfrm>
            <a:off x="457200" y="4096512"/>
            <a:ext cx="2798064" cy="868680"/>
          </a:xfrm>
          <a:prstGeom prst="roundRect">
            <a:avLst>
              <a:gd name="adj" fmla="val 6316"/>
            </a:avLst>
          </a:prstGeom>
          <a:solidFill>
            <a:srgbClr val="FFFFFF"/>
          </a:solidFill>
          <a:ln w="12700">
            <a:solidFill>
              <a:srgbClr val="DCD5C7"/>
            </a:solidFill>
            <a:prstDash val="dash"/>
          </a:ln>
        </p:spPr>
      </p:sp>
      <p:sp>
        <p:nvSpPr>
          <p:cNvPr id="12" name="Text 9"/>
          <p:cNvSpPr/>
          <p:nvPr/>
        </p:nvSpPr>
        <p:spPr>
          <a:xfrm>
            <a:off x="566928" y="4096512"/>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Approach ridge &amp; fortification walls</a:t>
            </a:r>
            <a:endParaRPr lang="en-US" sz="1300" dirty="0"/>
          </a:p>
        </p:txBody>
      </p:sp>
      <p:sp>
        <p:nvSpPr>
          <p:cNvPr id="13" name="Shape 10"/>
          <p:cNvSpPr/>
          <p:nvPr/>
        </p:nvSpPr>
        <p:spPr>
          <a:xfrm>
            <a:off x="3419856" y="4096512"/>
            <a:ext cx="2798064" cy="868680"/>
          </a:xfrm>
          <a:prstGeom prst="roundRect">
            <a:avLst>
              <a:gd name="adj" fmla="val 6316"/>
            </a:avLst>
          </a:prstGeom>
          <a:solidFill>
            <a:srgbClr val="FFFFFF"/>
          </a:solidFill>
          <a:ln w="12700">
            <a:solidFill>
              <a:srgbClr val="DCD5C7"/>
            </a:solidFill>
            <a:prstDash val="dash"/>
          </a:ln>
        </p:spPr>
      </p:sp>
      <p:sp>
        <p:nvSpPr>
          <p:cNvPr id="14" name="Text 11"/>
          <p:cNvSpPr/>
          <p:nvPr/>
        </p:nvSpPr>
        <p:spPr>
          <a:xfrm>
            <a:off x="3529584" y="4096512"/>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Zunjar Machi bastion</a:t>
            </a:r>
            <a:endParaRPr lang="en-US" sz="1300" dirty="0"/>
          </a:p>
        </p:txBody>
      </p:sp>
      <p:sp>
        <p:nvSpPr>
          <p:cNvPr id="15" name="Shape 12"/>
          <p:cNvSpPr/>
          <p:nvPr/>
        </p:nvSpPr>
        <p:spPr>
          <a:xfrm>
            <a:off x="457200" y="5129784"/>
            <a:ext cx="2798064" cy="868680"/>
          </a:xfrm>
          <a:prstGeom prst="roundRect">
            <a:avLst>
              <a:gd name="adj" fmla="val 6316"/>
            </a:avLst>
          </a:prstGeom>
          <a:solidFill>
            <a:srgbClr val="FFFFFF"/>
          </a:solidFill>
          <a:ln w="12700">
            <a:solidFill>
              <a:srgbClr val="DCD5C7"/>
            </a:solidFill>
            <a:prstDash val="dash"/>
          </a:ln>
        </p:spPr>
      </p:sp>
      <p:sp>
        <p:nvSpPr>
          <p:cNvPr id="16" name="Text 13"/>
          <p:cNvSpPr/>
          <p:nvPr/>
        </p:nvSpPr>
        <p:spPr>
          <a:xfrm>
            <a:off x="566928" y="5129784"/>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Menghai Devi temple</a:t>
            </a:r>
            <a:endParaRPr lang="en-US" sz="1300" dirty="0"/>
          </a:p>
        </p:txBody>
      </p:sp>
      <p:sp>
        <p:nvSpPr>
          <p:cNvPr id="17" name="Shape 14"/>
          <p:cNvSpPr/>
          <p:nvPr/>
        </p:nvSpPr>
        <p:spPr>
          <a:xfrm>
            <a:off x="3419856" y="5129784"/>
            <a:ext cx="2798064" cy="868680"/>
          </a:xfrm>
          <a:prstGeom prst="roundRect">
            <a:avLst>
              <a:gd name="adj" fmla="val 6316"/>
            </a:avLst>
          </a:prstGeom>
          <a:solidFill>
            <a:srgbClr val="FFFFFF"/>
          </a:solidFill>
          <a:ln w="12700">
            <a:solidFill>
              <a:srgbClr val="DCD5C7"/>
            </a:solidFill>
            <a:prstDash val="dash"/>
          </a:ln>
        </p:spPr>
      </p:sp>
      <p:sp>
        <p:nvSpPr>
          <p:cNvPr id="18" name="Text 15"/>
          <p:cNvSpPr/>
          <p:nvPr/>
        </p:nvSpPr>
        <p:spPr>
          <a:xfrm>
            <a:off x="3529584" y="5129784"/>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View toward Rajgad</a:t>
            </a:r>
            <a:endParaRPr lang="en-US" sz="1300" dirty="0"/>
          </a:p>
        </p:txBody>
      </p:sp>
      <p:sp>
        <p:nvSpPr>
          <p:cNvPr id="19" name="Shape 16"/>
          <p:cNvSpPr/>
          <p:nvPr/>
        </p:nvSpPr>
        <p:spPr>
          <a:xfrm>
            <a:off x="8659368" y="1344168"/>
            <a:ext cx="1648090" cy="2478024"/>
          </a:xfrm>
          <a:prstGeom prst="roundRect">
            <a:avLst>
              <a:gd name="adj" fmla="val 2774"/>
            </a:avLst>
          </a:prstGeom>
          <a:solidFill>
            <a:srgbClr val="FFFFFF"/>
          </a:solidFill>
          <a:ln w="12700">
            <a:solidFill>
              <a:srgbClr val="DCD5C7"/>
            </a:solidFill>
            <a:prstDash val="solid"/>
          </a:ln>
        </p:spPr>
      </p:sp>
      <p:pic>
        <p:nvPicPr>
          <p:cNvPr id="20" name="Image 1" descr="/home/claude/forts/assets/map_torna.png"/>
          <p:cNvPicPr>
            <a:picLocks noChangeAspect="1"/>
          </p:cNvPicPr>
          <p:nvPr/>
        </p:nvPicPr>
        <p:blipFill>
          <a:blip r:embed="rId4"/>
          <a:stretch>
            <a:fillRect/>
          </a:stretch>
        </p:blipFill>
        <p:spPr>
          <a:xfrm>
            <a:off x="8732520" y="1417320"/>
            <a:ext cx="1501786" cy="2331720"/>
          </a:xfrm>
          <a:prstGeom prst="rect">
            <a:avLst/>
          </a:prstGeom>
        </p:spPr>
      </p:pic>
      <p:sp>
        <p:nvSpPr>
          <p:cNvPr id="21" name="Text 17"/>
          <p:cNvSpPr/>
          <p:nvPr/>
        </p:nvSpPr>
        <p:spPr>
          <a:xfrm>
            <a:off x="6583680" y="3858768"/>
            <a:ext cx="5120640" cy="274320"/>
          </a:xfrm>
          <a:prstGeom prst="rect">
            <a:avLst/>
          </a:prstGeom>
          <a:noFill/>
          <a:ln/>
        </p:spPr>
        <p:txBody>
          <a:bodyPr wrap="square" lIns="0" tIns="0" rIns="0" bIns="0" rtlCol="0" anchor="ctr"/>
          <a:lstStyle/>
          <a:p>
            <a:pPr marL="0" indent="0" algn="r">
              <a:buNone/>
            </a:pPr>
            <a:r>
              <a:rPr lang="en-US" sz="1000" i="1" dirty="0">
                <a:solidFill>
                  <a:srgbClr val="746E64"/>
                </a:solidFill>
                <a:latin typeface="Calibri" pitchFamily="34" charset="0"/>
                <a:ea typeface="Calibri" pitchFamily="34" charset="-122"/>
                <a:cs typeface="Calibri" pitchFamily="34" charset="-120"/>
              </a:rPr>
              <a:t>Location within Maharashtra</a:t>
            </a:r>
            <a:endParaRPr lang="en-US" sz="1000" dirty="0"/>
          </a:p>
        </p:txBody>
      </p:sp>
      <p:sp>
        <p:nvSpPr>
          <p:cNvPr id="22" name="Shape 18"/>
          <p:cNvSpPr/>
          <p:nvPr/>
        </p:nvSpPr>
        <p:spPr>
          <a:xfrm>
            <a:off x="6537960" y="4160520"/>
            <a:ext cx="5120640" cy="1783080"/>
          </a:xfrm>
          <a:prstGeom prst="roundRect">
            <a:avLst>
              <a:gd name="adj" fmla="val 4103"/>
            </a:avLst>
          </a:prstGeom>
          <a:solidFill>
            <a:srgbClr val="F3E4C6"/>
          </a:solidFill>
          <a:ln w="12700">
            <a:solidFill>
              <a:srgbClr val="C98A2B"/>
            </a:solidFill>
            <a:prstDash val="solid"/>
          </a:ln>
        </p:spPr>
      </p:sp>
      <p:sp>
        <p:nvSpPr>
          <p:cNvPr id="23" name="Text 19"/>
          <p:cNvSpPr/>
          <p:nvPr/>
        </p:nvSpPr>
        <p:spPr>
          <a:xfrm>
            <a:off x="6739128" y="4288536"/>
            <a:ext cx="4718304" cy="1527048"/>
          </a:xfrm>
          <a:prstGeom prst="rect">
            <a:avLst/>
          </a:prstGeom>
          <a:noFill/>
          <a:ln/>
        </p:spPr>
        <p:txBody>
          <a:bodyPr wrap="square" lIns="0" tIns="0" rIns="0" bIns="0" rtlCol="0" anchor="t"/>
          <a:lstStyle/>
          <a:p>
            <a:pPr marL="0" indent="0">
              <a:lnSpc>
                <a:spcPct val="115000"/>
              </a:lnSpc>
              <a:buNone/>
            </a:pPr>
            <a:r>
              <a:rPr lang="en-US" sz="1050" b="1" kern="0" spc="100" dirty="0">
                <a:solidFill>
                  <a:srgbClr val="7A2E2E"/>
                </a:solidFill>
                <a:latin typeface="Calibri" pitchFamily="34" charset="0"/>
                <a:ea typeface="Calibri" pitchFamily="34" charset="-122"/>
                <a:cs typeface="Calibri" pitchFamily="34" charset="-120"/>
              </a:rPr>
              <a:t>DID YOU KNOW?
</a:t>
            </a:r>
            <a:r>
              <a:rPr lang="en-US" sz="1150" i="1" dirty="0">
                <a:solidFill>
                  <a:srgbClr val="2A2622"/>
                </a:solidFill>
                <a:latin typeface="Calibri" pitchFamily="34" charset="0"/>
                <a:ea typeface="Calibri" pitchFamily="34" charset="-122"/>
                <a:cs typeface="Calibri" pitchFamily="34" charset="-120"/>
              </a:rPr>
              <a:t>Local tradition holds that Shivaji found a hoard of gold coins during the fort’s repair, which he used to help build Rajgad nearby.</a:t>
            </a:r>
            <a:endParaRPr lang="en-US" sz="1050" dirty="0"/>
          </a:p>
        </p:txBody>
      </p:sp>
      <p:sp>
        <p:nvSpPr>
          <p:cNvPr id="24" name="Text 20"/>
          <p:cNvSpPr/>
          <p:nvPr/>
        </p:nvSpPr>
        <p:spPr>
          <a:xfrm>
            <a:off x="457200" y="6473952"/>
            <a:ext cx="7315200" cy="274320"/>
          </a:xfrm>
          <a:prstGeom prst="rect">
            <a:avLst/>
          </a:prstGeom>
          <a:noFill/>
          <a:ln/>
        </p:spPr>
        <p:txBody>
          <a:bodyPr wrap="square" lIns="0" tIns="0" rIns="0" bIns="0" rtlCol="0" anchor="ctr"/>
          <a:lstStyle/>
          <a:p>
            <a:pPr marL="0" indent="0">
              <a:buNone/>
            </a:pPr>
            <a:r>
              <a:rPr lang="en-US" sz="900" i="1" dirty="0">
                <a:solidFill>
                  <a:srgbClr val="746E64"/>
                </a:solidFill>
                <a:latin typeface="Calibri" pitchFamily="34" charset="0"/>
                <a:ea typeface="Calibri" pitchFamily="34" charset="-122"/>
                <a:cs typeface="Calibri" pitchFamily="34" charset="-120"/>
              </a:rPr>
              <a:t>Torna Fort (2/2)</a:t>
            </a:r>
            <a:endParaRPr lang="en-US" sz="900" dirty="0"/>
          </a:p>
        </p:txBody>
      </p:sp>
      <p:sp>
        <p:nvSpPr>
          <p:cNvPr id="25" name="Text 21"/>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746E64"/>
                </a:solidFill>
                <a:latin typeface="Calibri" pitchFamily="34" charset="0"/>
                <a:ea typeface="Calibri" pitchFamily="34" charset="-122"/>
                <a:cs typeface="Calibri" pitchFamily="34" charset="-120"/>
              </a:rPr>
              <a:t>6</a:t>
            </a:r>
            <a:endParaRPr lang="en-US" sz="900" dirty="0"/>
          </a:p>
        </p:txBody>
      </p:sp>
      <p:pic>
        <p:nvPicPr>
          <p:cNvPr id="27" name="Picture 26" descr="Torna Images – Browse 302 Stock Photos, Vectors, and Video | Adobe Stock">
            <a:extLst>
              <a:ext uri="{FF2B5EF4-FFF2-40B4-BE49-F238E27FC236}">
                <a16:creationId xmlns:a16="http://schemas.microsoft.com/office/drawing/2014/main" id="{C796BF4A-1F35-A16D-F0C2-CB9428059A14}"/>
              </a:ext>
            </a:extLst>
          </p:cNvPr>
          <p:cNvPicPr>
            <a:picLocks noChangeAspect="1"/>
          </p:cNvPicPr>
          <p:nvPr/>
        </p:nvPicPr>
        <p:blipFill>
          <a:blip r:embed="rId5"/>
          <a:stretch>
            <a:fillRect/>
          </a:stretch>
        </p:blipFill>
        <p:spPr>
          <a:xfrm>
            <a:off x="438912" y="3108960"/>
            <a:ext cx="5760720" cy="299185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C98A2B"/>
          </a:solidFill>
          <a:ln/>
        </p:spPr>
      </p:sp>
      <p:pic>
        <p:nvPicPr>
          <p:cNvPr id="3" name="Image 0" descr="/home/claude/forts/assets/fort_icon_white.png"/>
          <p:cNvPicPr>
            <a:picLocks noChangeAspect="1"/>
          </p:cNvPicPr>
          <p:nvPr/>
        </p:nvPicPr>
        <p:blipFill>
          <a:blip r:embed="rId3"/>
          <a:stretch>
            <a:fillRect/>
          </a:stretch>
        </p:blipFill>
        <p:spPr>
          <a:xfrm>
            <a:off x="576072" y="502920"/>
            <a:ext cx="329184" cy="329184"/>
          </a:xfrm>
          <a:prstGeom prst="rect">
            <a:avLst/>
          </a:prstGeom>
        </p:spPr>
      </p:pic>
      <p:sp>
        <p:nvSpPr>
          <p:cNvPr id="4" name="Text 1"/>
          <p:cNvSpPr/>
          <p:nvPr/>
        </p:nvSpPr>
        <p:spPr>
          <a:xfrm>
            <a:off x="1170432" y="310896"/>
            <a:ext cx="8778240" cy="457200"/>
          </a:xfrm>
          <a:prstGeom prst="rect">
            <a:avLst/>
          </a:prstGeom>
          <a:noFill/>
          <a:ln/>
        </p:spPr>
        <p:txBody>
          <a:bodyPr wrap="square" lIns="0" tIns="0" rIns="0" bIns="0" rtlCol="0" anchor="b"/>
          <a:lstStyle/>
          <a:p>
            <a:pPr marL="0" indent="0">
              <a:buNone/>
            </a:pPr>
            <a:r>
              <a:rPr lang="en-US" sz="2700" b="1" dirty="0">
                <a:solidFill>
                  <a:srgbClr val="7A2E2E"/>
                </a:solidFill>
                <a:latin typeface="Cambria" pitchFamily="34" charset="0"/>
                <a:ea typeface="Cambria" pitchFamily="34" charset="-122"/>
                <a:cs typeface="Cambria" pitchFamily="34" charset="-120"/>
              </a:rPr>
              <a:t>Rajgad Fort</a:t>
            </a:r>
            <a:endParaRPr lang="en-US" sz="2700" dirty="0"/>
          </a:p>
        </p:txBody>
      </p:sp>
      <p:sp>
        <p:nvSpPr>
          <p:cNvPr id="5" name="Text 2"/>
          <p:cNvSpPr/>
          <p:nvPr/>
        </p:nvSpPr>
        <p:spPr>
          <a:xfrm>
            <a:off x="1188720" y="786384"/>
            <a:ext cx="8778240" cy="274320"/>
          </a:xfrm>
          <a:prstGeom prst="rect">
            <a:avLst/>
          </a:prstGeom>
          <a:noFill/>
          <a:ln/>
        </p:spPr>
        <p:txBody>
          <a:bodyPr wrap="square" lIns="0" tIns="0" rIns="0" bIns="0" rtlCol="0" anchor="ctr"/>
          <a:lstStyle/>
          <a:p>
            <a:pPr marL="0" indent="0">
              <a:buNone/>
            </a:pPr>
            <a:r>
              <a:rPr lang="en-US" sz="1250" i="1" dirty="0">
                <a:solidFill>
                  <a:srgbClr val="746E64"/>
                </a:solidFill>
                <a:latin typeface="Calibri" pitchFamily="34" charset="0"/>
                <a:ea typeface="Calibri" pitchFamily="34" charset="-122"/>
                <a:cs typeface="Calibri" pitchFamily="34" charset="-120"/>
              </a:rPr>
              <a:t>Murumdev (earlier name)  •  Gunjavane, Pune District, Maharashtra</a:t>
            </a:r>
            <a:endParaRPr lang="en-US" sz="1250" dirty="0"/>
          </a:p>
        </p:txBody>
      </p:sp>
      <p:sp>
        <p:nvSpPr>
          <p:cNvPr id="6" name="Shape 3"/>
          <p:cNvSpPr/>
          <p:nvPr/>
        </p:nvSpPr>
        <p:spPr>
          <a:xfrm>
            <a:off x="9445752" y="438912"/>
            <a:ext cx="2286000" cy="384048"/>
          </a:xfrm>
          <a:prstGeom prst="roundRect">
            <a:avLst>
              <a:gd name="adj" fmla="val 19048"/>
            </a:avLst>
          </a:prstGeom>
          <a:solidFill>
            <a:srgbClr val="F3E4C6"/>
          </a:solidFill>
          <a:ln w="12700">
            <a:solidFill>
              <a:srgbClr val="C98A2B"/>
            </a:solidFill>
            <a:prstDash val="solid"/>
          </a:ln>
        </p:spPr>
      </p:sp>
      <p:sp>
        <p:nvSpPr>
          <p:cNvPr id="7" name="Text 4"/>
          <p:cNvSpPr/>
          <p:nvPr/>
        </p:nvSpPr>
        <p:spPr>
          <a:xfrm>
            <a:off x="9445752" y="438912"/>
            <a:ext cx="2286000" cy="384048"/>
          </a:xfrm>
          <a:prstGeom prst="rect">
            <a:avLst/>
          </a:prstGeom>
          <a:noFill/>
          <a:ln/>
        </p:spPr>
        <p:txBody>
          <a:bodyPr wrap="square" lIns="0" tIns="0" rIns="0" bIns="0" rtlCol="0" anchor="ctr"/>
          <a:lstStyle/>
          <a:p>
            <a:pPr marL="0" indent="0" algn="ctr">
              <a:buNone/>
            </a:pPr>
            <a:r>
              <a:rPr lang="en-US" sz="1100" b="1" dirty="0">
                <a:solidFill>
                  <a:srgbClr val="7A2E2E"/>
                </a:solidFill>
                <a:latin typeface="Calibri" pitchFamily="34" charset="0"/>
                <a:ea typeface="Calibri" pitchFamily="34" charset="-122"/>
                <a:cs typeface="Calibri" pitchFamily="34" charset="-120"/>
              </a:rPr>
              <a:t>Hill fort</a:t>
            </a:r>
            <a:endParaRPr lang="en-US" sz="1100" dirty="0"/>
          </a:p>
        </p:txBody>
      </p:sp>
      <p:sp>
        <p:nvSpPr>
          <p:cNvPr id="8" name="Text 5"/>
          <p:cNvSpPr/>
          <p:nvPr/>
        </p:nvSpPr>
        <p:spPr>
          <a:xfrm>
            <a:off x="457200" y="1325880"/>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HISTORY</a:t>
            </a:r>
            <a:endParaRPr lang="en-US" sz="1300" dirty="0"/>
          </a:p>
        </p:txBody>
      </p:sp>
      <p:sp>
        <p:nvSpPr>
          <p:cNvPr id="9" name="Text 6"/>
          <p:cNvSpPr/>
          <p:nvPr/>
        </p:nvSpPr>
        <p:spPr>
          <a:xfrm>
            <a:off x="457200" y="1627632"/>
            <a:ext cx="5760720" cy="4572000"/>
          </a:xfrm>
          <a:prstGeom prst="rect">
            <a:avLst/>
          </a:prstGeom>
          <a:noFill/>
          <a:ln/>
        </p:spPr>
        <p:txBody>
          <a:bodyPr wrap="square" lIns="0" tIns="0" rIns="0" bIns="0" rtlCol="0" anchor="t"/>
          <a:lstStyle/>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Originally a modest hill fort called Murumdev under Bahmani and later Adilshahi control</a:t>
            </a:r>
            <a:endParaRPr lang="en-US" sz="1250" dirty="0"/>
          </a:p>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Taken over and greatly strengthened after Shivaji secured the region in the mid-1640s</a:t>
            </a:r>
            <a:endParaRPr lang="en-US" sz="1250" dirty="0"/>
          </a:p>
        </p:txBody>
      </p:sp>
      <p:sp>
        <p:nvSpPr>
          <p:cNvPr id="10" name="Text 7"/>
          <p:cNvSpPr/>
          <p:nvPr/>
        </p:nvSpPr>
        <p:spPr>
          <a:xfrm>
            <a:off x="457200" y="2990088"/>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ROLE IN SHIVAJI'S SWARAJYA</a:t>
            </a:r>
            <a:endParaRPr lang="en-US" sz="1300" dirty="0"/>
          </a:p>
        </p:txBody>
      </p:sp>
      <p:sp>
        <p:nvSpPr>
          <p:cNvPr id="11" name="Text 8"/>
          <p:cNvSpPr/>
          <p:nvPr/>
        </p:nvSpPr>
        <p:spPr>
          <a:xfrm>
            <a:off x="457200" y="3291840"/>
            <a:ext cx="5760720" cy="4572000"/>
          </a:xfrm>
          <a:prstGeom prst="rect">
            <a:avLst/>
          </a:prstGeom>
          <a:noFill/>
          <a:ln/>
        </p:spPr>
        <p:txBody>
          <a:bodyPr wrap="square" lIns="0" tIns="0" rIns="0" bIns="0" rtlCol="0" anchor="t"/>
          <a:lstStyle/>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Served as the capital of Swarajya for about 26 years (c.1645–1674)</a:t>
            </a:r>
            <a:endParaRPr lang="en-US" sz="1250" dirty="0"/>
          </a:p>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Functioned as Shivaji’s main administrative, military and family residence before Raigad</a:t>
            </a:r>
            <a:endParaRPr lang="en-US" sz="1250" dirty="0"/>
          </a:p>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Its three fortified spurs (machis) allowed defence in depth and control of surrounding passes</a:t>
            </a:r>
            <a:endParaRPr lang="en-US" sz="1250" dirty="0"/>
          </a:p>
        </p:txBody>
      </p:sp>
      <p:sp>
        <p:nvSpPr>
          <p:cNvPr id="12" name="Text 9"/>
          <p:cNvSpPr/>
          <p:nvPr/>
        </p:nvSpPr>
        <p:spPr>
          <a:xfrm>
            <a:off x="457200" y="4763003"/>
            <a:ext cx="512064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KEY EVENTS</a:t>
            </a:r>
            <a:endParaRPr lang="en-US" sz="1300" dirty="0"/>
          </a:p>
        </p:txBody>
      </p:sp>
      <p:sp>
        <p:nvSpPr>
          <p:cNvPr id="13" name="Shape 10"/>
          <p:cNvSpPr/>
          <p:nvPr/>
        </p:nvSpPr>
        <p:spPr>
          <a:xfrm>
            <a:off x="423556" y="5280660"/>
            <a:ext cx="109728" cy="109728"/>
          </a:xfrm>
          <a:prstGeom prst="ellipse">
            <a:avLst/>
          </a:prstGeom>
          <a:solidFill>
            <a:srgbClr val="7A2E2E"/>
          </a:solidFill>
          <a:ln/>
        </p:spPr>
      </p:sp>
      <p:sp>
        <p:nvSpPr>
          <p:cNvPr id="14" name="Text 11"/>
          <p:cNvSpPr/>
          <p:nvPr/>
        </p:nvSpPr>
        <p:spPr>
          <a:xfrm>
            <a:off x="584390" y="5202936"/>
            <a:ext cx="4864608" cy="457200"/>
          </a:xfrm>
          <a:prstGeom prst="rect">
            <a:avLst/>
          </a:prstGeom>
          <a:noFill/>
          <a:ln/>
        </p:spPr>
        <p:txBody>
          <a:bodyPr wrap="square" lIns="0" tIns="0" rIns="0" bIns="0" rtlCol="0" anchor="t"/>
          <a:lstStyle/>
          <a:p>
            <a:pPr marL="0" indent="0">
              <a:lnSpc>
                <a:spcPct val="110000"/>
              </a:lnSpc>
              <a:buNone/>
            </a:pPr>
            <a:r>
              <a:rPr lang="en-US" sz="1200" b="1" dirty="0">
                <a:solidFill>
                  <a:srgbClr val="7A2E2E"/>
                </a:solidFill>
                <a:latin typeface="Calibri" pitchFamily="34" charset="0"/>
                <a:ea typeface="Calibri" pitchFamily="34" charset="-122"/>
                <a:cs typeface="Calibri" pitchFamily="34" charset="-120"/>
              </a:rPr>
              <a:t>c.1645  </a:t>
            </a:r>
            <a:r>
              <a:rPr lang="en-US" sz="1200" dirty="0">
                <a:solidFill>
                  <a:srgbClr val="2A2622"/>
                </a:solidFill>
                <a:latin typeface="Calibri" pitchFamily="34" charset="0"/>
                <a:ea typeface="Calibri" pitchFamily="34" charset="-122"/>
                <a:cs typeface="Calibri" pitchFamily="34" charset="-120"/>
              </a:rPr>
              <a:t>Established as the capital of Swarajya</a:t>
            </a:r>
            <a:endParaRPr lang="en-US" sz="1200" dirty="0"/>
          </a:p>
        </p:txBody>
      </p:sp>
      <p:sp>
        <p:nvSpPr>
          <p:cNvPr id="15" name="Shape 12"/>
          <p:cNvSpPr/>
          <p:nvPr/>
        </p:nvSpPr>
        <p:spPr>
          <a:xfrm>
            <a:off x="424931" y="5633023"/>
            <a:ext cx="109728" cy="109728"/>
          </a:xfrm>
          <a:prstGeom prst="ellipse">
            <a:avLst/>
          </a:prstGeom>
          <a:solidFill>
            <a:srgbClr val="7A2E2E"/>
          </a:solidFill>
          <a:ln/>
        </p:spPr>
      </p:sp>
      <p:sp>
        <p:nvSpPr>
          <p:cNvPr id="16" name="Text 13"/>
          <p:cNvSpPr/>
          <p:nvPr/>
        </p:nvSpPr>
        <p:spPr>
          <a:xfrm>
            <a:off x="576072" y="5604251"/>
            <a:ext cx="4864608" cy="457200"/>
          </a:xfrm>
          <a:prstGeom prst="rect">
            <a:avLst/>
          </a:prstGeom>
          <a:noFill/>
          <a:ln/>
        </p:spPr>
        <p:txBody>
          <a:bodyPr wrap="square" lIns="0" tIns="0" rIns="0" bIns="0" rtlCol="0" anchor="t"/>
          <a:lstStyle/>
          <a:p>
            <a:pPr marL="0" indent="0">
              <a:lnSpc>
                <a:spcPct val="110000"/>
              </a:lnSpc>
              <a:buNone/>
            </a:pPr>
            <a:r>
              <a:rPr lang="en-US" sz="1200" b="1" dirty="0">
                <a:solidFill>
                  <a:srgbClr val="7A2E2E"/>
                </a:solidFill>
                <a:latin typeface="Calibri" pitchFamily="34" charset="0"/>
                <a:ea typeface="Calibri" pitchFamily="34" charset="-122"/>
                <a:cs typeface="Calibri" pitchFamily="34" charset="-120"/>
              </a:rPr>
              <a:t>1662  </a:t>
            </a:r>
            <a:r>
              <a:rPr lang="en-US" sz="1200" dirty="0">
                <a:solidFill>
                  <a:srgbClr val="2A2622"/>
                </a:solidFill>
                <a:latin typeface="Calibri" pitchFamily="34" charset="0"/>
                <a:ea typeface="Calibri" pitchFamily="34" charset="-122"/>
                <a:cs typeface="Calibri" pitchFamily="34" charset="-120"/>
              </a:rPr>
              <a:t>Sanjeevani Machi fortifications strengthened</a:t>
            </a:r>
            <a:endParaRPr lang="en-US" sz="1200" dirty="0"/>
          </a:p>
        </p:txBody>
      </p:sp>
      <p:sp>
        <p:nvSpPr>
          <p:cNvPr id="17" name="Shape 14"/>
          <p:cNvSpPr/>
          <p:nvPr/>
        </p:nvSpPr>
        <p:spPr>
          <a:xfrm>
            <a:off x="424931" y="6089904"/>
            <a:ext cx="109728" cy="109728"/>
          </a:xfrm>
          <a:prstGeom prst="ellipse">
            <a:avLst/>
          </a:prstGeom>
          <a:solidFill>
            <a:srgbClr val="7A2E2E"/>
          </a:solidFill>
          <a:ln/>
        </p:spPr>
      </p:sp>
      <p:sp>
        <p:nvSpPr>
          <p:cNvPr id="18" name="Text 15"/>
          <p:cNvSpPr/>
          <p:nvPr/>
        </p:nvSpPr>
        <p:spPr>
          <a:xfrm>
            <a:off x="576072" y="6025896"/>
            <a:ext cx="4864608" cy="457200"/>
          </a:xfrm>
          <a:prstGeom prst="rect">
            <a:avLst/>
          </a:prstGeom>
          <a:noFill/>
          <a:ln/>
        </p:spPr>
        <p:txBody>
          <a:bodyPr wrap="square" lIns="0" tIns="0" rIns="0" bIns="0" rtlCol="0" anchor="t"/>
          <a:lstStyle/>
          <a:p>
            <a:pPr marL="0" indent="0">
              <a:lnSpc>
                <a:spcPct val="110000"/>
              </a:lnSpc>
              <a:buNone/>
            </a:pPr>
            <a:r>
              <a:rPr lang="en-US" sz="1200" b="1" dirty="0">
                <a:solidFill>
                  <a:srgbClr val="7A2E2E"/>
                </a:solidFill>
                <a:latin typeface="Calibri" pitchFamily="34" charset="0"/>
                <a:ea typeface="Calibri" pitchFamily="34" charset="-122"/>
                <a:cs typeface="Calibri" pitchFamily="34" charset="-120"/>
              </a:rPr>
              <a:t>1674  </a:t>
            </a:r>
            <a:r>
              <a:rPr lang="en-US" sz="1200" dirty="0">
                <a:solidFill>
                  <a:srgbClr val="2A2622"/>
                </a:solidFill>
                <a:latin typeface="Calibri" pitchFamily="34" charset="0"/>
                <a:ea typeface="Calibri" pitchFamily="34" charset="-122"/>
                <a:cs typeface="Calibri" pitchFamily="34" charset="-120"/>
              </a:rPr>
              <a:t>Jijabai (Shivaji’s mother) passes away here shortly after his coronation</a:t>
            </a:r>
            <a:endParaRPr lang="en-US" sz="1200" dirty="0"/>
          </a:p>
        </p:txBody>
      </p:sp>
      <p:sp>
        <p:nvSpPr>
          <p:cNvPr id="19" name="Shape 16"/>
          <p:cNvSpPr/>
          <p:nvPr/>
        </p:nvSpPr>
        <p:spPr>
          <a:xfrm>
            <a:off x="6610985" y="1060704"/>
            <a:ext cx="5120640" cy="777240"/>
          </a:xfrm>
          <a:prstGeom prst="roundRect">
            <a:avLst>
              <a:gd name="adj" fmla="val 9412"/>
            </a:avLst>
          </a:prstGeom>
          <a:solidFill>
            <a:srgbClr val="F3E4C6"/>
          </a:solidFill>
          <a:ln w="12700">
            <a:solidFill>
              <a:srgbClr val="C98A2B"/>
            </a:solidFill>
            <a:prstDash val="solid"/>
          </a:ln>
        </p:spPr>
      </p:sp>
      <p:sp>
        <p:nvSpPr>
          <p:cNvPr id="20" name="Text 17"/>
          <p:cNvSpPr/>
          <p:nvPr/>
        </p:nvSpPr>
        <p:spPr>
          <a:xfrm>
            <a:off x="6885305" y="1243584"/>
            <a:ext cx="4754880" cy="640080"/>
          </a:xfrm>
          <a:prstGeom prst="rect">
            <a:avLst/>
          </a:prstGeom>
          <a:noFill/>
          <a:ln/>
        </p:spPr>
        <p:txBody>
          <a:bodyPr wrap="square" lIns="0" tIns="0" rIns="0" bIns="0" rtlCol="0" anchor="t"/>
          <a:lstStyle/>
          <a:p>
            <a:pPr marL="0" indent="0">
              <a:lnSpc>
                <a:spcPct val="115000"/>
              </a:lnSpc>
              <a:buNone/>
            </a:pPr>
            <a:r>
              <a:rPr lang="en-US" sz="1000" b="1" kern="0" spc="100" dirty="0">
                <a:solidFill>
                  <a:srgbClr val="7A2E2E"/>
                </a:solidFill>
                <a:latin typeface="Calibri" pitchFamily="34" charset="0"/>
                <a:ea typeface="Calibri" pitchFamily="34" charset="-122"/>
                <a:cs typeface="Calibri" pitchFamily="34" charset="-120"/>
              </a:rPr>
              <a:t>SHIVAJI MAHARAJ'S ASSOCIATION
</a:t>
            </a:r>
            <a:r>
              <a:rPr lang="en-US" sz="1150" dirty="0">
                <a:solidFill>
                  <a:srgbClr val="2A2622"/>
                </a:solidFill>
                <a:latin typeface="Calibri" pitchFamily="34" charset="0"/>
                <a:ea typeface="Calibri" pitchFamily="34" charset="-122"/>
                <a:cs typeface="Calibri" pitchFamily="34" charset="-120"/>
              </a:rPr>
              <a:t>c.1645–1674 — capital of Swarajya before the shift to Raigad</a:t>
            </a:r>
            <a:endParaRPr lang="en-US" sz="1000" dirty="0"/>
          </a:p>
        </p:txBody>
      </p:sp>
      <p:sp>
        <p:nvSpPr>
          <p:cNvPr id="21" name="Text 18"/>
          <p:cNvSpPr/>
          <p:nvPr/>
        </p:nvSpPr>
        <p:spPr>
          <a:xfrm>
            <a:off x="457200" y="6473952"/>
            <a:ext cx="7315200" cy="274320"/>
          </a:xfrm>
          <a:prstGeom prst="rect">
            <a:avLst/>
          </a:prstGeom>
          <a:noFill/>
          <a:ln/>
        </p:spPr>
        <p:txBody>
          <a:bodyPr wrap="square" lIns="0" tIns="0" rIns="0" bIns="0" rtlCol="0" anchor="ctr"/>
          <a:lstStyle/>
          <a:p>
            <a:pPr marL="0" indent="0">
              <a:buNone/>
            </a:pPr>
            <a:r>
              <a:rPr lang="en-US" sz="900" i="1" dirty="0">
                <a:solidFill>
                  <a:srgbClr val="746E64"/>
                </a:solidFill>
                <a:latin typeface="Calibri" pitchFamily="34" charset="0"/>
                <a:ea typeface="Calibri" pitchFamily="34" charset="-122"/>
                <a:cs typeface="Calibri" pitchFamily="34" charset="-120"/>
              </a:rPr>
              <a:t>Rajgad Fort (1/2)</a:t>
            </a:r>
            <a:endParaRPr lang="en-US" sz="900" dirty="0"/>
          </a:p>
        </p:txBody>
      </p:sp>
      <p:sp>
        <p:nvSpPr>
          <p:cNvPr id="22" name="Text 19"/>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746E64"/>
                </a:solidFill>
                <a:latin typeface="Calibri" pitchFamily="34" charset="0"/>
                <a:ea typeface="Calibri" pitchFamily="34" charset="-122"/>
                <a:cs typeface="Calibri" pitchFamily="34" charset="-120"/>
              </a:rPr>
              <a:t>7</a:t>
            </a:r>
            <a:endParaRPr lang="en-US" sz="900" dirty="0"/>
          </a:p>
        </p:txBody>
      </p:sp>
      <p:pic>
        <p:nvPicPr>
          <p:cNvPr id="24" name="Picture 23">
            <a:extLst>
              <a:ext uri="{FF2B5EF4-FFF2-40B4-BE49-F238E27FC236}">
                <a16:creationId xmlns:a16="http://schemas.microsoft.com/office/drawing/2014/main" id="{51FDA825-BA07-3826-D9CC-47B7F363AD90}"/>
              </a:ext>
            </a:extLst>
          </p:cNvPr>
          <p:cNvPicPr>
            <a:picLocks noChangeAspect="1"/>
          </p:cNvPicPr>
          <p:nvPr/>
        </p:nvPicPr>
        <p:blipFill>
          <a:blip r:embed="rId4"/>
          <a:stretch>
            <a:fillRect/>
          </a:stretch>
        </p:blipFill>
        <p:spPr>
          <a:xfrm>
            <a:off x="6885305" y="2020824"/>
            <a:ext cx="4584800" cy="475015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C98A2B"/>
          </a:solidFill>
          <a:ln/>
        </p:spPr>
      </p:sp>
      <p:pic>
        <p:nvPicPr>
          <p:cNvPr id="3" name="Image 0" descr="/home/claude/forts/assets/fort_icon_white.png"/>
          <p:cNvPicPr>
            <a:picLocks noChangeAspect="1"/>
          </p:cNvPicPr>
          <p:nvPr/>
        </p:nvPicPr>
        <p:blipFill>
          <a:blip r:embed="rId3"/>
          <a:stretch>
            <a:fillRect/>
          </a:stretch>
        </p:blipFill>
        <p:spPr>
          <a:xfrm>
            <a:off x="576072" y="502920"/>
            <a:ext cx="329184" cy="329184"/>
          </a:xfrm>
          <a:prstGeom prst="rect">
            <a:avLst/>
          </a:prstGeom>
        </p:spPr>
      </p:pic>
      <p:sp>
        <p:nvSpPr>
          <p:cNvPr id="4" name="Text 1"/>
          <p:cNvSpPr/>
          <p:nvPr/>
        </p:nvSpPr>
        <p:spPr>
          <a:xfrm>
            <a:off x="1170432" y="310896"/>
            <a:ext cx="8778240" cy="457200"/>
          </a:xfrm>
          <a:prstGeom prst="rect">
            <a:avLst/>
          </a:prstGeom>
          <a:noFill/>
          <a:ln/>
        </p:spPr>
        <p:txBody>
          <a:bodyPr wrap="square" lIns="0" tIns="0" rIns="0" bIns="0" rtlCol="0" anchor="b"/>
          <a:lstStyle/>
          <a:p>
            <a:pPr marL="0" indent="0">
              <a:buNone/>
            </a:pPr>
            <a:r>
              <a:rPr lang="en-US" sz="2700" b="1" dirty="0">
                <a:solidFill>
                  <a:srgbClr val="7A2E2E"/>
                </a:solidFill>
                <a:latin typeface="Cambria" pitchFamily="34" charset="0"/>
                <a:ea typeface="Cambria" pitchFamily="34" charset="-122"/>
                <a:cs typeface="Cambria" pitchFamily="34" charset="-120"/>
              </a:rPr>
              <a:t>Rajgad Fort</a:t>
            </a:r>
            <a:endParaRPr lang="en-US" sz="2700" dirty="0"/>
          </a:p>
        </p:txBody>
      </p:sp>
      <p:sp>
        <p:nvSpPr>
          <p:cNvPr id="5" name="Text 2"/>
          <p:cNvSpPr/>
          <p:nvPr/>
        </p:nvSpPr>
        <p:spPr>
          <a:xfrm>
            <a:off x="1188720" y="786384"/>
            <a:ext cx="8778240" cy="274320"/>
          </a:xfrm>
          <a:prstGeom prst="rect">
            <a:avLst/>
          </a:prstGeom>
          <a:noFill/>
          <a:ln/>
        </p:spPr>
        <p:txBody>
          <a:bodyPr wrap="square" lIns="0" tIns="0" rIns="0" bIns="0" rtlCol="0" anchor="ctr"/>
          <a:lstStyle/>
          <a:p>
            <a:pPr marL="0" indent="0">
              <a:buNone/>
            </a:pPr>
            <a:r>
              <a:rPr lang="en-US" sz="1250" i="1" dirty="0">
                <a:solidFill>
                  <a:srgbClr val="746E64"/>
                </a:solidFill>
                <a:latin typeface="Calibri" pitchFamily="34" charset="0"/>
                <a:ea typeface="Calibri" pitchFamily="34" charset="-122"/>
                <a:cs typeface="Calibri" pitchFamily="34" charset="-120"/>
              </a:rPr>
              <a:t>Architecture, Location &amp; Legacy</a:t>
            </a:r>
            <a:endParaRPr lang="en-US" sz="1250" dirty="0"/>
          </a:p>
        </p:txBody>
      </p:sp>
      <p:sp>
        <p:nvSpPr>
          <p:cNvPr id="6" name="Shape 3"/>
          <p:cNvSpPr/>
          <p:nvPr/>
        </p:nvSpPr>
        <p:spPr>
          <a:xfrm>
            <a:off x="9445752" y="438912"/>
            <a:ext cx="2286000" cy="384048"/>
          </a:xfrm>
          <a:prstGeom prst="roundRect">
            <a:avLst>
              <a:gd name="adj" fmla="val 19048"/>
            </a:avLst>
          </a:prstGeom>
          <a:solidFill>
            <a:srgbClr val="F3E4C6"/>
          </a:solidFill>
          <a:ln w="12700">
            <a:solidFill>
              <a:srgbClr val="C98A2B"/>
            </a:solidFill>
            <a:prstDash val="solid"/>
          </a:ln>
        </p:spPr>
      </p:sp>
      <p:sp>
        <p:nvSpPr>
          <p:cNvPr id="7" name="Text 4"/>
          <p:cNvSpPr/>
          <p:nvPr/>
        </p:nvSpPr>
        <p:spPr>
          <a:xfrm>
            <a:off x="9445752" y="438912"/>
            <a:ext cx="2286000" cy="384048"/>
          </a:xfrm>
          <a:prstGeom prst="rect">
            <a:avLst/>
          </a:prstGeom>
          <a:noFill/>
          <a:ln/>
        </p:spPr>
        <p:txBody>
          <a:bodyPr wrap="square" lIns="0" tIns="0" rIns="0" bIns="0" rtlCol="0" anchor="ctr"/>
          <a:lstStyle/>
          <a:p>
            <a:pPr marL="0" indent="0" algn="ctr">
              <a:buNone/>
            </a:pPr>
            <a:r>
              <a:rPr lang="en-US" sz="1100" b="1" dirty="0">
                <a:solidFill>
                  <a:srgbClr val="7A2E2E"/>
                </a:solidFill>
                <a:latin typeface="Calibri" pitchFamily="34" charset="0"/>
                <a:ea typeface="Calibri" pitchFamily="34" charset="-122"/>
                <a:cs typeface="Calibri" pitchFamily="34" charset="-120"/>
              </a:rPr>
              <a:t>Hill fort</a:t>
            </a:r>
            <a:endParaRPr lang="en-US" sz="1100" dirty="0"/>
          </a:p>
        </p:txBody>
      </p:sp>
      <p:sp>
        <p:nvSpPr>
          <p:cNvPr id="8" name="Text 5"/>
          <p:cNvSpPr/>
          <p:nvPr/>
        </p:nvSpPr>
        <p:spPr>
          <a:xfrm>
            <a:off x="457200" y="1325880"/>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ARCHITECTURAL FEATURES</a:t>
            </a:r>
            <a:endParaRPr lang="en-US" sz="1300" dirty="0"/>
          </a:p>
        </p:txBody>
      </p:sp>
      <p:sp>
        <p:nvSpPr>
          <p:cNvPr id="9" name="Text 6"/>
          <p:cNvSpPr/>
          <p:nvPr/>
        </p:nvSpPr>
        <p:spPr>
          <a:xfrm>
            <a:off x="457200" y="1627632"/>
            <a:ext cx="5760720" cy="4572000"/>
          </a:xfrm>
          <a:prstGeom prst="rect">
            <a:avLst/>
          </a:prstGeom>
          <a:noFill/>
          <a:ln/>
        </p:spPr>
        <p:txBody>
          <a:bodyPr wrap="square" lIns="0" tIns="0" rIns="0" bIns="0" rtlCol="0" anchor="t"/>
          <a:lstStyle/>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Three machis — Padmavati, Sanjeevani and Suvela — radiating from the central citadel</a:t>
            </a:r>
            <a:endParaRPr lang="en-US" sz="1200" dirty="0"/>
          </a:p>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Balekilla (royal citadel) on the summit with palace foundations</a:t>
            </a:r>
            <a:endParaRPr lang="en-US" sz="1200" dirty="0"/>
          </a:p>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Padmavati temple and royal granaries</a:t>
            </a:r>
            <a:endParaRPr lang="en-US" sz="1200" dirty="0"/>
          </a:p>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Chor Darwaza — a concealed escape gate</a:t>
            </a:r>
            <a:endParaRPr lang="en-US" sz="1200" dirty="0"/>
          </a:p>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Extensive stepped water cisterns cut into rock</a:t>
            </a:r>
            <a:endParaRPr lang="en-US" sz="1200" dirty="0"/>
          </a:p>
        </p:txBody>
      </p:sp>
      <p:sp>
        <p:nvSpPr>
          <p:cNvPr id="10" name="Text 7"/>
          <p:cNvSpPr/>
          <p:nvPr/>
        </p:nvSpPr>
        <p:spPr>
          <a:xfrm>
            <a:off x="457200" y="4233672"/>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SUGGESTED PHOTOGRAPHS</a:t>
            </a:r>
            <a:endParaRPr lang="en-US" sz="1300" dirty="0"/>
          </a:p>
        </p:txBody>
      </p:sp>
      <p:sp>
        <p:nvSpPr>
          <p:cNvPr id="11" name="Shape 8"/>
          <p:cNvSpPr/>
          <p:nvPr/>
        </p:nvSpPr>
        <p:spPr>
          <a:xfrm>
            <a:off x="457200" y="4553712"/>
            <a:ext cx="2798064" cy="868680"/>
          </a:xfrm>
          <a:prstGeom prst="roundRect">
            <a:avLst>
              <a:gd name="adj" fmla="val 6316"/>
            </a:avLst>
          </a:prstGeom>
          <a:solidFill>
            <a:srgbClr val="FFFFFF"/>
          </a:solidFill>
          <a:ln w="12700">
            <a:solidFill>
              <a:srgbClr val="DCD5C7"/>
            </a:solidFill>
            <a:prstDash val="dash"/>
          </a:ln>
        </p:spPr>
      </p:sp>
      <p:sp>
        <p:nvSpPr>
          <p:cNvPr id="12" name="Text 9"/>
          <p:cNvSpPr/>
          <p:nvPr/>
        </p:nvSpPr>
        <p:spPr>
          <a:xfrm>
            <a:off x="566928" y="4553712"/>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Balekilla citadel walls</a:t>
            </a:r>
            <a:endParaRPr lang="en-US" sz="1300" dirty="0"/>
          </a:p>
        </p:txBody>
      </p:sp>
      <p:sp>
        <p:nvSpPr>
          <p:cNvPr id="13" name="Shape 10"/>
          <p:cNvSpPr/>
          <p:nvPr/>
        </p:nvSpPr>
        <p:spPr>
          <a:xfrm>
            <a:off x="3419856" y="4553712"/>
            <a:ext cx="2798064" cy="868680"/>
          </a:xfrm>
          <a:prstGeom prst="roundRect">
            <a:avLst>
              <a:gd name="adj" fmla="val 6316"/>
            </a:avLst>
          </a:prstGeom>
          <a:solidFill>
            <a:srgbClr val="FFFFFF"/>
          </a:solidFill>
          <a:ln w="12700">
            <a:solidFill>
              <a:srgbClr val="DCD5C7"/>
            </a:solidFill>
            <a:prstDash val="dash"/>
          </a:ln>
        </p:spPr>
      </p:sp>
      <p:sp>
        <p:nvSpPr>
          <p:cNvPr id="14" name="Text 11"/>
          <p:cNvSpPr/>
          <p:nvPr/>
        </p:nvSpPr>
        <p:spPr>
          <a:xfrm>
            <a:off x="3529584" y="4553712"/>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Padmavati Machi &amp; temple</a:t>
            </a:r>
            <a:endParaRPr lang="en-US" sz="1300" dirty="0"/>
          </a:p>
        </p:txBody>
      </p:sp>
      <p:sp>
        <p:nvSpPr>
          <p:cNvPr id="15" name="Shape 12"/>
          <p:cNvSpPr/>
          <p:nvPr/>
        </p:nvSpPr>
        <p:spPr>
          <a:xfrm>
            <a:off x="457200" y="5586984"/>
            <a:ext cx="2798064" cy="868680"/>
          </a:xfrm>
          <a:prstGeom prst="roundRect">
            <a:avLst>
              <a:gd name="adj" fmla="val 6316"/>
            </a:avLst>
          </a:prstGeom>
          <a:solidFill>
            <a:srgbClr val="FFFFFF"/>
          </a:solidFill>
          <a:ln w="12700">
            <a:solidFill>
              <a:srgbClr val="DCD5C7"/>
            </a:solidFill>
            <a:prstDash val="dash"/>
          </a:ln>
        </p:spPr>
      </p:sp>
      <p:sp>
        <p:nvSpPr>
          <p:cNvPr id="16" name="Text 13"/>
          <p:cNvSpPr/>
          <p:nvPr/>
        </p:nvSpPr>
        <p:spPr>
          <a:xfrm>
            <a:off x="566928" y="5586984"/>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Suvela Machi ridge</a:t>
            </a:r>
            <a:endParaRPr lang="en-US" sz="1300" dirty="0"/>
          </a:p>
        </p:txBody>
      </p:sp>
      <p:sp>
        <p:nvSpPr>
          <p:cNvPr id="17" name="Shape 14"/>
          <p:cNvSpPr/>
          <p:nvPr/>
        </p:nvSpPr>
        <p:spPr>
          <a:xfrm>
            <a:off x="3419856" y="5586984"/>
            <a:ext cx="2798064" cy="868680"/>
          </a:xfrm>
          <a:prstGeom prst="roundRect">
            <a:avLst>
              <a:gd name="adj" fmla="val 6316"/>
            </a:avLst>
          </a:prstGeom>
          <a:solidFill>
            <a:srgbClr val="FFFFFF"/>
          </a:solidFill>
          <a:ln w="12700">
            <a:solidFill>
              <a:srgbClr val="DCD5C7"/>
            </a:solidFill>
            <a:prstDash val="dash"/>
          </a:ln>
        </p:spPr>
      </p:sp>
      <p:sp>
        <p:nvSpPr>
          <p:cNvPr id="18" name="Text 15"/>
          <p:cNvSpPr/>
          <p:nvPr/>
        </p:nvSpPr>
        <p:spPr>
          <a:xfrm>
            <a:off x="3529584" y="5586984"/>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Panoramic view of the three machis</a:t>
            </a:r>
            <a:endParaRPr lang="en-US" sz="1300" dirty="0"/>
          </a:p>
        </p:txBody>
      </p:sp>
      <p:sp>
        <p:nvSpPr>
          <p:cNvPr id="19" name="Shape 16"/>
          <p:cNvSpPr/>
          <p:nvPr/>
        </p:nvSpPr>
        <p:spPr>
          <a:xfrm>
            <a:off x="8659368" y="1344168"/>
            <a:ext cx="1648090" cy="2478024"/>
          </a:xfrm>
          <a:prstGeom prst="roundRect">
            <a:avLst>
              <a:gd name="adj" fmla="val 2774"/>
            </a:avLst>
          </a:prstGeom>
          <a:solidFill>
            <a:srgbClr val="FFFFFF"/>
          </a:solidFill>
          <a:ln w="12700">
            <a:solidFill>
              <a:srgbClr val="DCD5C7"/>
            </a:solidFill>
            <a:prstDash val="solid"/>
          </a:ln>
        </p:spPr>
      </p:sp>
      <p:pic>
        <p:nvPicPr>
          <p:cNvPr id="20" name="Image 1" descr="/home/claude/forts/assets/map_rajgad.png"/>
          <p:cNvPicPr>
            <a:picLocks noChangeAspect="1"/>
          </p:cNvPicPr>
          <p:nvPr/>
        </p:nvPicPr>
        <p:blipFill>
          <a:blip r:embed="rId4"/>
          <a:stretch>
            <a:fillRect/>
          </a:stretch>
        </p:blipFill>
        <p:spPr>
          <a:xfrm>
            <a:off x="8732520" y="1417320"/>
            <a:ext cx="1501786" cy="2331720"/>
          </a:xfrm>
          <a:prstGeom prst="rect">
            <a:avLst/>
          </a:prstGeom>
        </p:spPr>
      </p:pic>
      <p:sp>
        <p:nvSpPr>
          <p:cNvPr id="21" name="Text 17"/>
          <p:cNvSpPr/>
          <p:nvPr/>
        </p:nvSpPr>
        <p:spPr>
          <a:xfrm>
            <a:off x="6583680" y="3858768"/>
            <a:ext cx="5120640" cy="274320"/>
          </a:xfrm>
          <a:prstGeom prst="rect">
            <a:avLst/>
          </a:prstGeom>
          <a:noFill/>
          <a:ln/>
        </p:spPr>
        <p:txBody>
          <a:bodyPr wrap="square" lIns="0" tIns="0" rIns="0" bIns="0" rtlCol="0" anchor="ctr"/>
          <a:lstStyle/>
          <a:p>
            <a:pPr marL="0" indent="0" algn="r">
              <a:buNone/>
            </a:pPr>
            <a:r>
              <a:rPr lang="en-US" sz="1000" i="1" dirty="0">
                <a:solidFill>
                  <a:srgbClr val="746E64"/>
                </a:solidFill>
                <a:latin typeface="Calibri" pitchFamily="34" charset="0"/>
                <a:ea typeface="Calibri" pitchFamily="34" charset="-122"/>
                <a:cs typeface="Calibri" pitchFamily="34" charset="-120"/>
              </a:rPr>
              <a:t>Location within Maharashtra</a:t>
            </a:r>
            <a:endParaRPr lang="en-US" sz="1000" dirty="0"/>
          </a:p>
        </p:txBody>
      </p:sp>
      <p:sp>
        <p:nvSpPr>
          <p:cNvPr id="22" name="Shape 18"/>
          <p:cNvSpPr/>
          <p:nvPr/>
        </p:nvSpPr>
        <p:spPr>
          <a:xfrm>
            <a:off x="6537960" y="4160520"/>
            <a:ext cx="5120640" cy="1783080"/>
          </a:xfrm>
          <a:prstGeom prst="roundRect">
            <a:avLst>
              <a:gd name="adj" fmla="val 4103"/>
            </a:avLst>
          </a:prstGeom>
          <a:solidFill>
            <a:srgbClr val="F3E4C6"/>
          </a:solidFill>
          <a:ln w="12700">
            <a:solidFill>
              <a:srgbClr val="C98A2B"/>
            </a:solidFill>
            <a:prstDash val="solid"/>
          </a:ln>
        </p:spPr>
      </p:sp>
      <p:sp>
        <p:nvSpPr>
          <p:cNvPr id="23" name="Text 19"/>
          <p:cNvSpPr/>
          <p:nvPr/>
        </p:nvSpPr>
        <p:spPr>
          <a:xfrm>
            <a:off x="6739128" y="4288536"/>
            <a:ext cx="4718304" cy="1527048"/>
          </a:xfrm>
          <a:prstGeom prst="rect">
            <a:avLst/>
          </a:prstGeom>
          <a:noFill/>
          <a:ln/>
        </p:spPr>
        <p:txBody>
          <a:bodyPr wrap="square" lIns="0" tIns="0" rIns="0" bIns="0" rtlCol="0" anchor="t"/>
          <a:lstStyle/>
          <a:p>
            <a:pPr marL="0" indent="0">
              <a:lnSpc>
                <a:spcPct val="115000"/>
              </a:lnSpc>
              <a:buNone/>
            </a:pPr>
            <a:r>
              <a:rPr lang="en-US" sz="1050" b="1" kern="0" spc="100" dirty="0">
                <a:solidFill>
                  <a:srgbClr val="7A2E2E"/>
                </a:solidFill>
                <a:latin typeface="Calibri" pitchFamily="34" charset="0"/>
                <a:ea typeface="Calibri" pitchFamily="34" charset="-122"/>
                <a:cs typeface="Calibri" pitchFamily="34" charset="-120"/>
              </a:rPr>
              <a:t>DID YOU KNOW?
</a:t>
            </a:r>
            <a:r>
              <a:rPr lang="en-US" sz="1150" i="1" dirty="0">
                <a:solidFill>
                  <a:srgbClr val="2A2622"/>
                </a:solidFill>
                <a:latin typeface="Calibri" pitchFamily="34" charset="0"/>
                <a:ea typeface="Calibri" pitchFamily="34" charset="-122"/>
                <a:cs typeface="Calibri" pitchFamily="34" charset="-120"/>
              </a:rPr>
              <a:t>Rajgad remained Shivaji’s primary base for nearly three decades — longer than any other fort — earning it the title "Raja-gad", the King of Forts.</a:t>
            </a:r>
            <a:endParaRPr lang="en-US" sz="1050" dirty="0"/>
          </a:p>
        </p:txBody>
      </p:sp>
      <p:sp>
        <p:nvSpPr>
          <p:cNvPr id="24" name="Text 20"/>
          <p:cNvSpPr/>
          <p:nvPr/>
        </p:nvSpPr>
        <p:spPr>
          <a:xfrm>
            <a:off x="457200" y="6473952"/>
            <a:ext cx="7315200" cy="274320"/>
          </a:xfrm>
          <a:prstGeom prst="rect">
            <a:avLst/>
          </a:prstGeom>
          <a:noFill/>
          <a:ln/>
        </p:spPr>
        <p:txBody>
          <a:bodyPr wrap="square" lIns="0" tIns="0" rIns="0" bIns="0" rtlCol="0" anchor="ctr"/>
          <a:lstStyle/>
          <a:p>
            <a:pPr marL="0" indent="0">
              <a:buNone/>
            </a:pPr>
            <a:r>
              <a:rPr lang="en-US" sz="900" i="1" dirty="0">
                <a:solidFill>
                  <a:srgbClr val="746E64"/>
                </a:solidFill>
                <a:latin typeface="Calibri" pitchFamily="34" charset="0"/>
                <a:ea typeface="Calibri" pitchFamily="34" charset="-122"/>
                <a:cs typeface="Calibri" pitchFamily="34" charset="-120"/>
              </a:rPr>
              <a:t>Rajgad Fort (2/2)</a:t>
            </a:r>
            <a:endParaRPr lang="en-US" sz="900" dirty="0"/>
          </a:p>
        </p:txBody>
      </p:sp>
      <p:sp>
        <p:nvSpPr>
          <p:cNvPr id="25" name="Text 21"/>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746E64"/>
                </a:solidFill>
                <a:latin typeface="Calibri" pitchFamily="34" charset="0"/>
                <a:ea typeface="Calibri" pitchFamily="34" charset="-122"/>
                <a:cs typeface="Calibri" pitchFamily="34" charset="-120"/>
              </a:rPr>
              <a:t>8</a:t>
            </a:r>
            <a:endParaRPr lang="en-US" sz="900" dirty="0"/>
          </a:p>
        </p:txBody>
      </p:sp>
      <p:pic>
        <p:nvPicPr>
          <p:cNvPr id="27" name="Picture 26">
            <a:extLst>
              <a:ext uri="{FF2B5EF4-FFF2-40B4-BE49-F238E27FC236}">
                <a16:creationId xmlns:a16="http://schemas.microsoft.com/office/drawing/2014/main" id="{1F9D54E5-65DD-FAB4-D3B0-8F6F82601177}"/>
              </a:ext>
            </a:extLst>
          </p:cNvPr>
          <p:cNvPicPr>
            <a:picLocks noChangeAspect="1"/>
          </p:cNvPicPr>
          <p:nvPr/>
        </p:nvPicPr>
        <p:blipFill>
          <a:blip r:embed="rId5"/>
          <a:stretch>
            <a:fillRect/>
          </a:stretch>
        </p:blipFill>
        <p:spPr>
          <a:xfrm>
            <a:off x="218637" y="3126093"/>
            <a:ext cx="6036678" cy="334785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C98A2B"/>
          </a:solidFill>
          <a:ln/>
        </p:spPr>
      </p:sp>
      <p:pic>
        <p:nvPicPr>
          <p:cNvPr id="3" name="Image 0" descr="/home/claude/forts/assets/fort_icon_white.png"/>
          <p:cNvPicPr>
            <a:picLocks noChangeAspect="1"/>
          </p:cNvPicPr>
          <p:nvPr/>
        </p:nvPicPr>
        <p:blipFill>
          <a:blip r:embed="rId3"/>
          <a:stretch>
            <a:fillRect/>
          </a:stretch>
        </p:blipFill>
        <p:spPr>
          <a:xfrm>
            <a:off x="576072" y="502920"/>
            <a:ext cx="329184" cy="329184"/>
          </a:xfrm>
          <a:prstGeom prst="rect">
            <a:avLst/>
          </a:prstGeom>
        </p:spPr>
      </p:pic>
      <p:sp>
        <p:nvSpPr>
          <p:cNvPr id="4" name="Text 1"/>
          <p:cNvSpPr/>
          <p:nvPr/>
        </p:nvSpPr>
        <p:spPr>
          <a:xfrm>
            <a:off x="1170432" y="310896"/>
            <a:ext cx="8778240" cy="457200"/>
          </a:xfrm>
          <a:prstGeom prst="rect">
            <a:avLst/>
          </a:prstGeom>
          <a:noFill/>
          <a:ln/>
        </p:spPr>
        <p:txBody>
          <a:bodyPr wrap="square" lIns="0" tIns="0" rIns="0" bIns="0" rtlCol="0" anchor="b"/>
          <a:lstStyle/>
          <a:p>
            <a:pPr marL="0" indent="0">
              <a:buNone/>
            </a:pPr>
            <a:r>
              <a:rPr lang="en-US" sz="2700" b="1" dirty="0">
                <a:solidFill>
                  <a:srgbClr val="7A2E2E"/>
                </a:solidFill>
                <a:latin typeface="Cambria" pitchFamily="34" charset="0"/>
                <a:ea typeface="Cambria" pitchFamily="34" charset="-122"/>
                <a:cs typeface="Cambria" pitchFamily="34" charset="-120"/>
              </a:rPr>
              <a:t>Raigad Fort</a:t>
            </a:r>
            <a:endParaRPr lang="en-US" sz="2700" dirty="0"/>
          </a:p>
        </p:txBody>
      </p:sp>
      <p:sp>
        <p:nvSpPr>
          <p:cNvPr id="5" name="Text 2"/>
          <p:cNvSpPr/>
          <p:nvPr/>
        </p:nvSpPr>
        <p:spPr>
          <a:xfrm>
            <a:off x="1188720" y="786384"/>
            <a:ext cx="8778240" cy="274320"/>
          </a:xfrm>
          <a:prstGeom prst="rect">
            <a:avLst/>
          </a:prstGeom>
          <a:noFill/>
          <a:ln/>
        </p:spPr>
        <p:txBody>
          <a:bodyPr wrap="square" lIns="0" tIns="0" rIns="0" bIns="0" rtlCol="0" anchor="ctr"/>
          <a:lstStyle/>
          <a:p>
            <a:pPr marL="0" indent="0">
              <a:buNone/>
            </a:pPr>
            <a:r>
              <a:rPr lang="en-US" sz="1250" i="1" dirty="0">
                <a:solidFill>
                  <a:srgbClr val="746E64"/>
                </a:solidFill>
                <a:latin typeface="Calibri" pitchFamily="34" charset="0"/>
                <a:ea typeface="Calibri" pitchFamily="34" charset="-122"/>
                <a:cs typeface="Calibri" pitchFamily="34" charset="-120"/>
              </a:rPr>
              <a:t>Rairi (earlier name)  •  Mahad, Raigad District, Maharashtra</a:t>
            </a:r>
            <a:endParaRPr lang="en-US" sz="1250" dirty="0"/>
          </a:p>
        </p:txBody>
      </p:sp>
      <p:sp>
        <p:nvSpPr>
          <p:cNvPr id="6" name="Shape 3"/>
          <p:cNvSpPr/>
          <p:nvPr/>
        </p:nvSpPr>
        <p:spPr>
          <a:xfrm>
            <a:off x="9445752" y="438912"/>
            <a:ext cx="2286000" cy="384048"/>
          </a:xfrm>
          <a:prstGeom prst="roundRect">
            <a:avLst>
              <a:gd name="adj" fmla="val 19048"/>
            </a:avLst>
          </a:prstGeom>
          <a:solidFill>
            <a:srgbClr val="F3E4C6"/>
          </a:solidFill>
          <a:ln w="12700">
            <a:solidFill>
              <a:srgbClr val="C98A2B"/>
            </a:solidFill>
            <a:prstDash val="solid"/>
          </a:ln>
        </p:spPr>
      </p:sp>
      <p:sp>
        <p:nvSpPr>
          <p:cNvPr id="7" name="Text 4"/>
          <p:cNvSpPr/>
          <p:nvPr/>
        </p:nvSpPr>
        <p:spPr>
          <a:xfrm>
            <a:off x="9445752" y="438912"/>
            <a:ext cx="2286000" cy="384048"/>
          </a:xfrm>
          <a:prstGeom prst="rect">
            <a:avLst/>
          </a:prstGeom>
          <a:noFill/>
          <a:ln/>
        </p:spPr>
        <p:txBody>
          <a:bodyPr wrap="square" lIns="0" tIns="0" rIns="0" bIns="0" rtlCol="0" anchor="ctr"/>
          <a:lstStyle/>
          <a:p>
            <a:pPr marL="0" indent="0" algn="ctr">
              <a:buNone/>
            </a:pPr>
            <a:r>
              <a:rPr lang="en-US" sz="1100" b="1" dirty="0">
                <a:solidFill>
                  <a:srgbClr val="7A2E2E"/>
                </a:solidFill>
                <a:latin typeface="Calibri" pitchFamily="34" charset="0"/>
                <a:ea typeface="Calibri" pitchFamily="34" charset="-122"/>
                <a:cs typeface="Calibri" pitchFamily="34" charset="-120"/>
              </a:rPr>
              <a:t>Hill fort</a:t>
            </a:r>
            <a:endParaRPr lang="en-US" sz="1100" dirty="0"/>
          </a:p>
        </p:txBody>
      </p:sp>
      <p:sp>
        <p:nvSpPr>
          <p:cNvPr id="8" name="Text 5"/>
          <p:cNvSpPr/>
          <p:nvPr/>
        </p:nvSpPr>
        <p:spPr>
          <a:xfrm>
            <a:off x="457200" y="1325880"/>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HISTORY</a:t>
            </a:r>
            <a:endParaRPr lang="en-US" sz="1300" dirty="0"/>
          </a:p>
        </p:txBody>
      </p:sp>
      <p:sp>
        <p:nvSpPr>
          <p:cNvPr id="9" name="Text 6"/>
          <p:cNvSpPr/>
          <p:nvPr/>
        </p:nvSpPr>
        <p:spPr>
          <a:xfrm>
            <a:off x="457200" y="1627632"/>
            <a:ext cx="5760720" cy="4572000"/>
          </a:xfrm>
          <a:prstGeom prst="rect">
            <a:avLst/>
          </a:prstGeom>
          <a:noFill/>
          <a:ln/>
        </p:spPr>
        <p:txBody>
          <a:bodyPr wrap="square" lIns="0" tIns="0" rIns="0" bIns="0" rtlCol="0" anchor="t"/>
          <a:lstStyle/>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Originally a smaller fort called Rairi, held by the local chieftain Chandrarao More</a:t>
            </a:r>
            <a:endParaRPr lang="en-US" sz="1250" dirty="0"/>
          </a:p>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Annexed by Shivaji Maharaj in 1656 after the defeat of the More family</a:t>
            </a:r>
            <a:endParaRPr lang="en-US" sz="1250" dirty="0"/>
          </a:p>
        </p:txBody>
      </p:sp>
      <p:sp>
        <p:nvSpPr>
          <p:cNvPr id="10" name="Text 7"/>
          <p:cNvSpPr/>
          <p:nvPr/>
        </p:nvSpPr>
        <p:spPr>
          <a:xfrm>
            <a:off x="457200" y="2373429"/>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ROLE IN SHIVAJI'S SWARAJYA</a:t>
            </a:r>
            <a:endParaRPr lang="en-US" sz="1300" dirty="0"/>
          </a:p>
        </p:txBody>
      </p:sp>
      <p:sp>
        <p:nvSpPr>
          <p:cNvPr id="11" name="Text 8"/>
          <p:cNvSpPr/>
          <p:nvPr/>
        </p:nvSpPr>
        <p:spPr>
          <a:xfrm>
            <a:off x="466344" y="2832234"/>
            <a:ext cx="5760720" cy="4572000"/>
          </a:xfrm>
          <a:prstGeom prst="rect">
            <a:avLst/>
          </a:prstGeom>
          <a:noFill/>
          <a:ln/>
        </p:spPr>
        <p:txBody>
          <a:bodyPr wrap="square" lIns="0" tIns="0" rIns="0" bIns="0" rtlCol="0" anchor="t"/>
          <a:lstStyle/>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Rebuilt and declared the new capital of Swarajya in 1674 for its central, defensible location</a:t>
            </a:r>
            <a:endParaRPr lang="en-US" sz="1250" dirty="0"/>
          </a:p>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Site of Shivaji Maharaj’s formal coronation as Chhatrapati on 6 June 1674</a:t>
            </a:r>
            <a:endParaRPr lang="en-US" sz="1250" dirty="0"/>
          </a:p>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Housed the royal court, mint, treasury and administration of the growing Maratha state</a:t>
            </a:r>
            <a:endParaRPr lang="en-US" sz="1250" dirty="0"/>
          </a:p>
        </p:txBody>
      </p:sp>
      <p:sp>
        <p:nvSpPr>
          <p:cNvPr id="12" name="Text 9"/>
          <p:cNvSpPr/>
          <p:nvPr/>
        </p:nvSpPr>
        <p:spPr>
          <a:xfrm>
            <a:off x="576072" y="4347972"/>
            <a:ext cx="512064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KEY EVENTS</a:t>
            </a:r>
            <a:endParaRPr lang="en-US" sz="1300" dirty="0"/>
          </a:p>
        </p:txBody>
      </p:sp>
      <p:sp>
        <p:nvSpPr>
          <p:cNvPr id="14" name="Text 11"/>
          <p:cNvSpPr/>
          <p:nvPr/>
        </p:nvSpPr>
        <p:spPr>
          <a:xfrm>
            <a:off x="768096" y="4818888"/>
            <a:ext cx="4864608" cy="457200"/>
          </a:xfrm>
          <a:prstGeom prst="rect">
            <a:avLst/>
          </a:prstGeom>
          <a:noFill/>
          <a:ln/>
        </p:spPr>
        <p:txBody>
          <a:bodyPr wrap="square" lIns="0" tIns="0" rIns="0" bIns="0" rtlCol="0" anchor="t"/>
          <a:lstStyle/>
          <a:p>
            <a:pPr marL="0" indent="0">
              <a:lnSpc>
                <a:spcPct val="110000"/>
              </a:lnSpc>
              <a:buNone/>
            </a:pPr>
            <a:r>
              <a:rPr lang="en-US" sz="1200" b="1" dirty="0">
                <a:solidFill>
                  <a:srgbClr val="7A2E2E"/>
                </a:solidFill>
                <a:latin typeface="Calibri" pitchFamily="34" charset="0"/>
                <a:ea typeface="Calibri" pitchFamily="34" charset="-122"/>
                <a:cs typeface="Calibri" pitchFamily="34" charset="-120"/>
              </a:rPr>
              <a:t>1656  </a:t>
            </a:r>
            <a:r>
              <a:rPr lang="en-US" sz="1200" dirty="0">
                <a:solidFill>
                  <a:srgbClr val="2A2622"/>
                </a:solidFill>
                <a:latin typeface="Calibri" pitchFamily="34" charset="0"/>
                <a:ea typeface="Calibri" pitchFamily="34" charset="-122"/>
                <a:cs typeface="Calibri" pitchFamily="34" charset="-120"/>
              </a:rPr>
              <a:t>Captured by Shivaji Maharaj</a:t>
            </a:r>
            <a:endParaRPr lang="en-US" sz="1200" dirty="0"/>
          </a:p>
        </p:txBody>
      </p:sp>
      <p:sp>
        <p:nvSpPr>
          <p:cNvPr id="16" name="Text 13"/>
          <p:cNvSpPr/>
          <p:nvPr/>
        </p:nvSpPr>
        <p:spPr>
          <a:xfrm>
            <a:off x="768096" y="5295820"/>
            <a:ext cx="4864608" cy="457200"/>
          </a:xfrm>
          <a:prstGeom prst="rect">
            <a:avLst/>
          </a:prstGeom>
          <a:noFill/>
          <a:ln/>
        </p:spPr>
        <p:txBody>
          <a:bodyPr wrap="square" lIns="0" tIns="0" rIns="0" bIns="0" rtlCol="0" anchor="t"/>
          <a:lstStyle/>
          <a:p>
            <a:pPr marL="0" indent="0">
              <a:lnSpc>
                <a:spcPct val="110000"/>
              </a:lnSpc>
              <a:buNone/>
            </a:pPr>
            <a:r>
              <a:rPr lang="en-US" sz="1200" b="1" dirty="0">
                <a:solidFill>
                  <a:srgbClr val="7A2E2E"/>
                </a:solidFill>
                <a:latin typeface="Calibri" pitchFamily="34" charset="0"/>
                <a:ea typeface="Calibri" pitchFamily="34" charset="-122"/>
                <a:cs typeface="Calibri" pitchFamily="34" charset="-120"/>
              </a:rPr>
              <a:t>1674  </a:t>
            </a:r>
            <a:r>
              <a:rPr lang="en-US" sz="1200" dirty="0">
                <a:solidFill>
                  <a:srgbClr val="2A2622"/>
                </a:solidFill>
                <a:latin typeface="Calibri" pitchFamily="34" charset="0"/>
                <a:ea typeface="Calibri" pitchFamily="34" charset="-122"/>
                <a:cs typeface="Calibri" pitchFamily="34" charset="-120"/>
              </a:rPr>
              <a:t>Coronation of Shivaji as Chhatrapati; declared capital</a:t>
            </a:r>
            <a:endParaRPr lang="en-US" sz="1200" dirty="0"/>
          </a:p>
        </p:txBody>
      </p:sp>
      <p:sp>
        <p:nvSpPr>
          <p:cNvPr id="18" name="Text 15"/>
          <p:cNvSpPr/>
          <p:nvPr/>
        </p:nvSpPr>
        <p:spPr>
          <a:xfrm>
            <a:off x="768096" y="5752298"/>
            <a:ext cx="4864608" cy="457200"/>
          </a:xfrm>
          <a:prstGeom prst="rect">
            <a:avLst/>
          </a:prstGeom>
          <a:noFill/>
          <a:ln/>
        </p:spPr>
        <p:txBody>
          <a:bodyPr wrap="square" lIns="0" tIns="0" rIns="0" bIns="0" rtlCol="0" anchor="t"/>
          <a:lstStyle/>
          <a:p>
            <a:pPr marL="0" indent="0">
              <a:lnSpc>
                <a:spcPct val="110000"/>
              </a:lnSpc>
              <a:buNone/>
            </a:pPr>
            <a:r>
              <a:rPr lang="en-US" sz="1200" b="1" dirty="0">
                <a:solidFill>
                  <a:srgbClr val="7A2E2E"/>
                </a:solidFill>
                <a:latin typeface="Calibri" pitchFamily="34" charset="0"/>
                <a:ea typeface="Calibri" pitchFamily="34" charset="-122"/>
                <a:cs typeface="Calibri" pitchFamily="34" charset="-120"/>
              </a:rPr>
              <a:t>1680  </a:t>
            </a:r>
            <a:r>
              <a:rPr lang="en-US" sz="1200" dirty="0">
                <a:solidFill>
                  <a:srgbClr val="2A2622"/>
                </a:solidFill>
                <a:latin typeface="Calibri" pitchFamily="34" charset="0"/>
                <a:ea typeface="Calibri" pitchFamily="34" charset="-122"/>
                <a:cs typeface="Calibri" pitchFamily="34" charset="-120"/>
              </a:rPr>
              <a:t>Death of Shivaji Maharaj at Raigad</a:t>
            </a:r>
            <a:endParaRPr lang="en-US" sz="1200" dirty="0"/>
          </a:p>
        </p:txBody>
      </p:sp>
      <p:sp>
        <p:nvSpPr>
          <p:cNvPr id="20" name="Text 17"/>
          <p:cNvSpPr/>
          <p:nvPr/>
        </p:nvSpPr>
        <p:spPr>
          <a:xfrm>
            <a:off x="758952" y="6181344"/>
            <a:ext cx="4864608" cy="457200"/>
          </a:xfrm>
          <a:prstGeom prst="rect">
            <a:avLst/>
          </a:prstGeom>
          <a:noFill/>
          <a:ln/>
        </p:spPr>
        <p:txBody>
          <a:bodyPr wrap="square" lIns="0" tIns="0" rIns="0" bIns="0" rtlCol="0" anchor="t"/>
          <a:lstStyle/>
          <a:p>
            <a:pPr marL="0" indent="0">
              <a:lnSpc>
                <a:spcPct val="110000"/>
              </a:lnSpc>
              <a:buNone/>
            </a:pPr>
            <a:r>
              <a:rPr lang="en-US" sz="1200" b="1" dirty="0">
                <a:solidFill>
                  <a:srgbClr val="7A2E2E"/>
                </a:solidFill>
                <a:latin typeface="Calibri" pitchFamily="34" charset="0"/>
                <a:ea typeface="Calibri" pitchFamily="34" charset="-122"/>
                <a:cs typeface="Calibri" pitchFamily="34" charset="-120"/>
              </a:rPr>
              <a:t>1689  </a:t>
            </a:r>
            <a:r>
              <a:rPr lang="en-US" sz="1200" dirty="0">
                <a:solidFill>
                  <a:srgbClr val="2A2622"/>
                </a:solidFill>
                <a:latin typeface="Calibri" pitchFamily="34" charset="0"/>
                <a:ea typeface="Calibri" pitchFamily="34" charset="-122"/>
                <a:cs typeface="Calibri" pitchFamily="34" charset="-120"/>
              </a:rPr>
              <a:t>Fort falls to Mughal forces after a prolonged siege</a:t>
            </a:r>
            <a:endParaRPr lang="en-US" sz="1200" dirty="0"/>
          </a:p>
        </p:txBody>
      </p:sp>
      <p:sp>
        <p:nvSpPr>
          <p:cNvPr id="21" name="Shape 18"/>
          <p:cNvSpPr/>
          <p:nvPr/>
        </p:nvSpPr>
        <p:spPr>
          <a:xfrm>
            <a:off x="6382512" y="1335024"/>
            <a:ext cx="5120640" cy="777240"/>
          </a:xfrm>
          <a:prstGeom prst="roundRect">
            <a:avLst>
              <a:gd name="adj" fmla="val 9412"/>
            </a:avLst>
          </a:prstGeom>
          <a:solidFill>
            <a:srgbClr val="F3E4C6"/>
          </a:solidFill>
          <a:ln w="12700">
            <a:solidFill>
              <a:srgbClr val="C98A2B"/>
            </a:solidFill>
            <a:prstDash val="solid"/>
          </a:ln>
        </p:spPr>
      </p:sp>
      <p:sp>
        <p:nvSpPr>
          <p:cNvPr id="22" name="Text 19"/>
          <p:cNvSpPr/>
          <p:nvPr/>
        </p:nvSpPr>
        <p:spPr>
          <a:xfrm>
            <a:off x="6656832" y="1472184"/>
            <a:ext cx="4754880" cy="640080"/>
          </a:xfrm>
          <a:prstGeom prst="rect">
            <a:avLst/>
          </a:prstGeom>
          <a:noFill/>
          <a:ln/>
        </p:spPr>
        <p:txBody>
          <a:bodyPr wrap="square" lIns="0" tIns="0" rIns="0" bIns="0" rtlCol="0" anchor="t"/>
          <a:lstStyle/>
          <a:p>
            <a:pPr marL="0" indent="0">
              <a:lnSpc>
                <a:spcPct val="115000"/>
              </a:lnSpc>
              <a:buNone/>
            </a:pPr>
            <a:r>
              <a:rPr lang="en-US" sz="1000" b="1" kern="0" spc="100" dirty="0">
                <a:solidFill>
                  <a:srgbClr val="7A2E2E"/>
                </a:solidFill>
                <a:latin typeface="Calibri" pitchFamily="34" charset="0"/>
                <a:ea typeface="Calibri" pitchFamily="34" charset="-122"/>
                <a:cs typeface="Calibri" pitchFamily="34" charset="-120"/>
              </a:rPr>
              <a:t>SHIVAJI MAHARAJ'S ASSOCIATION
</a:t>
            </a:r>
            <a:r>
              <a:rPr lang="en-US" sz="1150" dirty="0">
                <a:solidFill>
                  <a:srgbClr val="2A2622"/>
                </a:solidFill>
                <a:latin typeface="Calibri" pitchFamily="34" charset="0"/>
                <a:ea typeface="Calibri" pitchFamily="34" charset="-122"/>
                <a:cs typeface="Calibri" pitchFamily="34" charset="-120"/>
              </a:rPr>
              <a:t>1656 capture; capital of Swarajya from 1674 until 1689</a:t>
            </a:r>
            <a:endParaRPr lang="en-US" sz="1000" dirty="0"/>
          </a:p>
        </p:txBody>
      </p:sp>
      <p:sp>
        <p:nvSpPr>
          <p:cNvPr id="23" name="Text 20"/>
          <p:cNvSpPr/>
          <p:nvPr/>
        </p:nvSpPr>
        <p:spPr>
          <a:xfrm>
            <a:off x="457200" y="6473952"/>
            <a:ext cx="7315200" cy="274320"/>
          </a:xfrm>
          <a:prstGeom prst="rect">
            <a:avLst/>
          </a:prstGeom>
          <a:noFill/>
          <a:ln/>
        </p:spPr>
        <p:txBody>
          <a:bodyPr wrap="square" lIns="0" tIns="0" rIns="0" bIns="0" rtlCol="0" anchor="ctr"/>
          <a:lstStyle/>
          <a:p>
            <a:pPr marL="0" indent="0">
              <a:buNone/>
            </a:pPr>
            <a:r>
              <a:rPr lang="en-US" sz="900" i="1" dirty="0">
                <a:solidFill>
                  <a:srgbClr val="746E64"/>
                </a:solidFill>
                <a:latin typeface="Calibri" pitchFamily="34" charset="0"/>
                <a:ea typeface="Calibri" pitchFamily="34" charset="-122"/>
                <a:cs typeface="Calibri" pitchFamily="34" charset="-120"/>
              </a:rPr>
              <a:t>Raigad Fort (1/2)</a:t>
            </a:r>
            <a:endParaRPr lang="en-US" sz="900" dirty="0"/>
          </a:p>
        </p:txBody>
      </p:sp>
      <p:sp>
        <p:nvSpPr>
          <p:cNvPr id="24" name="Text 21"/>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746E64"/>
                </a:solidFill>
                <a:latin typeface="Calibri" pitchFamily="34" charset="0"/>
                <a:ea typeface="Calibri" pitchFamily="34" charset="-122"/>
                <a:cs typeface="Calibri" pitchFamily="34" charset="-120"/>
              </a:rPr>
              <a:t>9</a:t>
            </a:r>
            <a:endParaRPr lang="en-US" sz="900" dirty="0"/>
          </a:p>
        </p:txBody>
      </p:sp>
      <p:pic>
        <p:nvPicPr>
          <p:cNvPr id="25" name="Picture 24" descr="Raigad Fort in August — 3/5 · When to Visit | NakshIQ">
            <a:extLst>
              <a:ext uri="{FF2B5EF4-FFF2-40B4-BE49-F238E27FC236}">
                <a16:creationId xmlns:a16="http://schemas.microsoft.com/office/drawing/2014/main" id="{BE708D25-4E90-18B1-8156-55D66BF53124}"/>
              </a:ext>
            </a:extLst>
          </p:cNvPr>
          <p:cNvPicPr>
            <a:picLocks noChangeAspect="1"/>
          </p:cNvPicPr>
          <p:nvPr/>
        </p:nvPicPr>
        <p:blipFill>
          <a:blip r:embed="rId4"/>
          <a:stretch>
            <a:fillRect/>
          </a:stretch>
        </p:blipFill>
        <p:spPr>
          <a:xfrm>
            <a:off x="5998464" y="2784354"/>
            <a:ext cx="6168189" cy="34427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C98A2B"/>
          </a:solidFill>
          <a:ln/>
        </p:spPr>
      </p:sp>
      <p:pic>
        <p:nvPicPr>
          <p:cNvPr id="3" name="Image 0" descr="/home/claude/forts/assets/fort_icon_white.png"/>
          <p:cNvPicPr>
            <a:picLocks noChangeAspect="1"/>
          </p:cNvPicPr>
          <p:nvPr/>
        </p:nvPicPr>
        <p:blipFill>
          <a:blip r:embed="rId3"/>
          <a:stretch>
            <a:fillRect/>
          </a:stretch>
        </p:blipFill>
        <p:spPr>
          <a:xfrm>
            <a:off x="576072" y="502920"/>
            <a:ext cx="329184" cy="329184"/>
          </a:xfrm>
          <a:prstGeom prst="rect">
            <a:avLst/>
          </a:prstGeom>
        </p:spPr>
      </p:pic>
      <p:sp>
        <p:nvSpPr>
          <p:cNvPr id="4" name="Text 1"/>
          <p:cNvSpPr/>
          <p:nvPr/>
        </p:nvSpPr>
        <p:spPr>
          <a:xfrm>
            <a:off x="1170432" y="310896"/>
            <a:ext cx="8778240" cy="457200"/>
          </a:xfrm>
          <a:prstGeom prst="rect">
            <a:avLst/>
          </a:prstGeom>
          <a:noFill/>
          <a:ln/>
        </p:spPr>
        <p:txBody>
          <a:bodyPr wrap="square" lIns="0" tIns="0" rIns="0" bIns="0" rtlCol="0" anchor="b"/>
          <a:lstStyle/>
          <a:p>
            <a:pPr marL="0" indent="0">
              <a:buNone/>
            </a:pPr>
            <a:r>
              <a:rPr lang="en-US" sz="2700" b="1" dirty="0">
                <a:solidFill>
                  <a:srgbClr val="7A2E2E"/>
                </a:solidFill>
                <a:latin typeface="Cambria" pitchFamily="34" charset="0"/>
                <a:ea typeface="Cambria" pitchFamily="34" charset="-122"/>
                <a:cs typeface="Cambria" pitchFamily="34" charset="-120"/>
              </a:rPr>
              <a:t>Raigad Fort</a:t>
            </a:r>
            <a:endParaRPr lang="en-US" sz="2700" dirty="0"/>
          </a:p>
        </p:txBody>
      </p:sp>
      <p:sp>
        <p:nvSpPr>
          <p:cNvPr id="5" name="Text 2"/>
          <p:cNvSpPr/>
          <p:nvPr/>
        </p:nvSpPr>
        <p:spPr>
          <a:xfrm>
            <a:off x="1188720" y="786384"/>
            <a:ext cx="8778240" cy="274320"/>
          </a:xfrm>
          <a:prstGeom prst="rect">
            <a:avLst/>
          </a:prstGeom>
          <a:noFill/>
          <a:ln/>
        </p:spPr>
        <p:txBody>
          <a:bodyPr wrap="square" lIns="0" tIns="0" rIns="0" bIns="0" rtlCol="0" anchor="ctr"/>
          <a:lstStyle/>
          <a:p>
            <a:pPr marL="0" indent="0">
              <a:buNone/>
            </a:pPr>
            <a:r>
              <a:rPr lang="en-US" sz="1250" i="1" dirty="0">
                <a:solidFill>
                  <a:srgbClr val="746E64"/>
                </a:solidFill>
                <a:latin typeface="Calibri" pitchFamily="34" charset="0"/>
                <a:ea typeface="Calibri" pitchFamily="34" charset="-122"/>
                <a:cs typeface="Calibri" pitchFamily="34" charset="-120"/>
              </a:rPr>
              <a:t>Architecture, Location &amp; Legacy</a:t>
            </a:r>
            <a:endParaRPr lang="en-US" sz="1250" dirty="0"/>
          </a:p>
        </p:txBody>
      </p:sp>
      <p:sp>
        <p:nvSpPr>
          <p:cNvPr id="6" name="Shape 3"/>
          <p:cNvSpPr/>
          <p:nvPr/>
        </p:nvSpPr>
        <p:spPr>
          <a:xfrm>
            <a:off x="9445752" y="438912"/>
            <a:ext cx="2286000" cy="384048"/>
          </a:xfrm>
          <a:prstGeom prst="roundRect">
            <a:avLst>
              <a:gd name="adj" fmla="val 19048"/>
            </a:avLst>
          </a:prstGeom>
          <a:solidFill>
            <a:srgbClr val="F3E4C6"/>
          </a:solidFill>
          <a:ln w="12700">
            <a:solidFill>
              <a:srgbClr val="C98A2B"/>
            </a:solidFill>
            <a:prstDash val="solid"/>
          </a:ln>
        </p:spPr>
      </p:sp>
      <p:sp>
        <p:nvSpPr>
          <p:cNvPr id="7" name="Text 4"/>
          <p:cNvSpPr/>
          <p:nvPr/>
        </p:nvSpPr>
        <p:spPr>
          <a:xfrm>
            <a:off x="9445752" y="438912"/>
            <a:ext cx="2286000" cy="384048"/>
          </a:xfrm>
          <a:prstGeom prst="rect">
            <a:avLst/>
          </a:prstGeom>
          <a:noFill/>
          <a:ln/>
        </p:spPr>
        <p:txBody>
          <a:bodyPr wrap="square" lIns="0" tIns="0" rIns="0" bIns="0" rtlCol="0" anchor="ctr"/>
          <a:lstStyle/>
          <a:p>
            <a:pPr marL="0" indent="0" algn="ctr">
              <a:buNone/>
            </a:pPr>
            <a:r>
              <a:rPr lang="en-US" sz="1100" b="1" dirty="0">
                <a:solidFill>
                  <a:srgbClr val="7A2E2E"/>
                </a:solidFill>
                <a:latin typeface="Calibri" pitchFamily="34" charset="0"/>
                <a:ea typeface="Calibri" pitchFamily="34" charset="-122"/>
                <a:cs typeface="Calibri" pitchFamily="34" charset="-120"/>
              </a:rPr>
              <a:t>Hill fort</a:t>
            </a:r>
            <a:endParaRPr lang="en-US" sz="1100" dirty="0"/>
          </a:p>
        </p:txBody>
      </p:sp>
      <p:sp>
        <p:nvSpPr>
          <p:cNvPr id="8" name="Text 5"/>
          <p:cNvSpPr/>
          <p:nvPr/>
        </p:nvSpPr>
        <p:spPr>
          <a:xfrm>
            <a:off x="457200" y="1325880"/>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ARCHITECTURAL FEATURES</a:t>
            </a:r>
            <a:endParaRPr lang="en-US" sz="1300" dirty="0"/>
          </a:p>
        </p:txBody>
      </p:sp>
      <p:sp>
        <p:nvSpPr>
          <p:cNvPr id="9" name="Text 6"/>
          <p:cNvSpPr/>
          <p:nvPr/>
        </p:nvSpPr>
        <p:spPr>
          <a:xfrm>
            <a:off x="457200" y="1627632"/>
            <a:ext cx="5760720" cy="4572000"/>
          </a:xfrm>
          <a:prstGeom prst="rect">
            <a:avLst/>
          </a:prstGeom>
          <a:noFill/>
          <a:ln/>
        </p:spPr>
        <p:txBody>
          <a:bodyPr wrap="square" lIns="0" tIns="0" rIns="0" bIns="0" rtlCol="0" anchor="t"/>
          <a:lstStyle/>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Maha Darwaza (main gate) and the imposing Hirakani Buruj bastion</a:t>
            </a:r>
            <a:endParaRPr lang="en-US" sz="1200" dirty="0"/>
          </a:p>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Raja Sabha — the coronation hall with the royal throne platform</a:t>
            </a:r>
            <a:endParaRPr lang="en-US" sz="1200" dirty="0"/>
          </a:p>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Bazarpeth — a fortified market street lined with shop foundations</a:t>
            </a:r>
            <a:endParaRPr lang="en-US" sz="1200" dirty="0"/>
          </a:p>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Ganga Sagar Lake, Jagdishwar temple, and Shivaji Maharaj’s samadhi (memorial)</a:t>
            </a:r>
            <a:endParaRPr lang="en-US" sz="1200" dirty="0"/>
          </a:p>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Nagarkhana (drum-house) gate structure</a:t>
            </a:r>
            <a:endParaRPr lang="en-US" sz="1200" dirty="0"/>
          </a:p>
        </p:txBody>
      </p:sp>
      <p:sp>
        <p:nvSpPr>
          <p:cNvPr id="10" name="Text 7"/>
          <p:cNvSpPr/>
          <p:nvPr/>
        </p:nvSpPr>
        <p:spPr>
          <a:xfrm>
            <a:off x="457200" y="4233672"/>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SUGGESTED PHOTOGRAPHS</a:t>
            </a:r>
            <a:endParaRPr lang="en-US" sz="1300" dirty="0"/>
          </a:p>
        </p:txBody>
      </p:sp>
      <p:sp>
        <p:nvSpPr>
          <p:cNvPr id="11" name="Shape 8"/>
          <p:cNvSpPr/>
          <p:nvPr/>
        </p:nvSpPr>
        <p:spPr>
          <a:xfrm>
            <a:off x="457200" y="4553712"/>
            <a:ext cx="2798064" cy="868680"/>
          </a:xfrm>
          <a:prstGeom prst="roundRect">
            <a:avLst>
              <a:gd name="adj" fmla="val 6316"/>
            </a:avLst>
          </a:prstGeom>
          <a:solidFill>
            <a:srgbClr val="FFFFFF"/>
          </a:solidFill>
          <a:ln w="12700">
            <a:solidFill>
              <a:srgbClr val="DCD5C7"/>
            </a:solidFill>
            <a:prstDash val="dash"/>
          </a:ln>
        </p:spPr>
      </p:sp>
      <p:sp>
        <p:nvSpPr>
          <p:cNvPr id="12" name="Text 9"/>
          <p:cNvSpPr/>
          <p:nvPr/>
        </p:nvSpPr>
        <p:spPr>
          <a:xfrm>
            <a:off x="566928" y="4553712"/>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Maha Darwaza main gate</a:t>
            </a:r>
            <a:endParaRPr lang="en-US" sz="1300" dirty="0"/>
          </a:p>
        </p:txBody>
      </p:sp>
      <p:sp>
        <p:nvSpPr>
          <p:cNvPr id="13" name="Shape 10"/>
          <p:cNvSpPr/>
          <p:nvPr/>
        </p:nvSpPr>
        <p:spPr>
          <a:xfrm>
            <a:off x="3419856" y="4553712"/>
            <a:ext cx="2798064" cy="868680"/>
          </a:xfrm>
          <a:prstGeom prst="roundRect">
            <a:avLst>
              <a:gd name="adj" fmla="val 6316"/>
            </a:avLst>
          </a:prstGeom>
          <a:solidFill>
            <a:srgbClr val="FFFFFF"/>
          </a:solidFill>
          <a:ln w="12700">
            <a:solidFill>
              <a:srgbClr val="DCD5C7"/>
            </a:solidFill>
            <a:prstDash val="dash"/>
          </a:ln>
        </p:spPr>
      </p:sp>
      <p:sp>
        <p:nvSpPr>
          <p:cNvPr id="14" name="Text 11"/>
          <p:cNvSpPr/>
          <p:nvPr/>
        </p:nvSpPr>
        <p:spPr>
          <a:xfrm>
            <a:off x="3529584" y="4553712"/>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Raja Sabha coronation hall</a:t>
            </a:r>
            <a:endParaRPr lang="en-US" sz="1300" dirty="0"/>
          </a:p>
        </p:txBody>
      </p:sp>
      <p:sp>
        <p:nvSpPr>
          <p:cNvPr id="15" name="Shape 12"/>
          <p:cNvSpPr/>
          <p:nvPr/>
        </p:nvSpPr>
        <p:spPr>
          <a:xfrm>
            <a:off x="457200" y="5586984"/>
            <a:ext cx="2798064" cy="868680"/>
          </a:xfrm>
          <a:prstGeom prst="roundRect">
            <a:avLst>
              <a:gd name="adj" fmla="val 6316"/>
            </a:avLst>
          </a:prstGeom>
          <a:solidFill>
            <a:srgbClr val="FFFFFF"/>
          </a:solidFill>
          <a:ln w="12700">
            <a:solidFill>
              <a:srgbClr val="DCD5C7"/>
            </a:solidFill>
            <a:prstDash val="dash"/>
          </a:ln>
        </p:spPr>
      </p:sp>
      <p:sp>
        <p:nvSpPr>
          <p:cNvPr id="16" name="Text 13"/>
          <p:cNvSpPr/>
          <p:nvPr/>
        </p:nvSpPr>
        <p:spPr>
          <a:xfrm>
            <a:off x="566928" y="5586984"/>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Hirakani Buruj bastion</a:t>
            </a:r>
            <a:endParaRPr lang="en-US" sz="1300" dirty="0"/>
          </a:p>
        </p:txBody>
      </p:sp>
      <p:sp>
        <p:nvSpPr>
          <p:cNvPr id="17" name="Shape 14"/>
          <p:cNvSpPr/>
          <p:nvPr/>
        </p:nvSpPr>
        <p:spPr>
          <a:xfrm>
            <a:off x="3419856" y="5586984"/>
            <a:ext cx="2798064" cy="868680"/>
          </a:xfrm>
          <a:prstGeom prst="roundRect">
            <a:avLst>
              <a:gd name="adj" fmla="val 6316"/>
            </a:avLst>
          </a:prstGeom>
          <a:solidFill>
            <a:srgbClr val="FFFFFF"/>
          </a:solidFill>
          <a:ln w="12700">
            <a:solidFill>
              <a:srgbClr val="DCD5C7"/>
            </a:solidFill>
            <a:prstDash val="dash"/>
          </a:ln>
        </p:spPr>
      </p:sp>
      <p:sp>
        <p:nvSpPr>
          <p:cNvPr id="18" name="Text 15"/>
          <p:cNvSpPr/>
          <p:nvPr/>
        </p:nvSpPr>
        <p:spPr>
          <a:xfrm>
            <a:off x="3529584" y="5586984"/>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Shivaji Maharaj’s samadhi</a:t>
            </a:r>
            <a:endParaRPr lang="en-US" sz="1300" dirty="0"/>
          </a:p>
        </p:txBody>
      </p:sp>
      <p:sp>
        <p:nvSpPr>
          <p:cNvPr id="19" name="Shape 16"/>
          <p:cNvSpPr/>
          <p:nvPr/>
        </p:nvSpPr>
        <p:spPr>
          <a:xfrm>
            <a:off x="8659368" y="1344168"/>
            <a:ext cx="1648090" cy="2478024"/>
          </a:xfrm>
          <a:prstGeom prst="roundRect">
            <a:avLst>
              <a:gd name="adj" fmla="val 2774"/>
            </a:avLst>
          </a:prstGeom>
          <a:solidFill>
            <a:srgbClr val="FFFFFF"/>
          </a:solidFill>
          <a:ln w="12700">
            <a:solidFill>
              <a:srgbClr val="DCD5C7"/>
            </a:solidFill>
            <a:prstDash val="solid"/>
          </a:ln>
        </p:spPr>
      </p:sp>
      <p:pic>
        <p:nvPicPr>
          <p:cNvPr id="20" name="Image 1" descr="/home/claude/forts/assets/map_raigad.png"/>
          <p:cNvPicPr>
            <a:picLocks noChangeAspect="1"/>
          </p:cNvPicPr>
          <p:nvPr/>
        </p:nvPicPr>
        <p:blipFill>
          <a:blip r:embed="rId4"/>
          <a:stretch>
            <a:fillRect/>
          </a:stretch>
        </p:blipFill>
        <p:spPr>
          <a:xfrm>
            <a:off x="8732520" y="1417320"/>
            <a:ext cx="1501786" cy="2331720"/>
          </a:xfrm>
          <a:prstGeom prst="rect">
            <a:avLst/>
          </a:prstGeom>
        </p:spPr>
      </p:pic>
      <p:sp>
        <p:nvSpPr>
          <p:cNvPr id="21" name="Text 17"/>
          <p:cNvSpPr/>
          <p:nvPr/>
        </p:nvSpPr>
        <p:spPr>
          <a:xfrm>
            <a:off x="6583680" y="3858768"/>
            <a:ext cx="5120640" cy="274320"/>
          </a:xfrm>
          <a:prstGeom prst="rect">
            <a:avLst/>
          </a:prstGeom>
          <a:noFill/>
          <a:ln/>
        </p:spPr>
        <p:txBody>
          <a:bodyPr wrap="square" lIns="0" tIns="0" rIns="0" bIns="0" rtlCol="0" anchor="ctr"/>
          <a:lstStyle/>
          <a:p>
            <a:pPr marL="0" indent="0" algn="r">
              <a:buNone/>
            </a:pPr>
            <a:r>
              <a:rPr lang="en-US" sz="1000" i="1" dirty="0">
                <a:solidFill>
                  <a:srgbClr val="746E64"/>
                </a:solidFill>
                <a:latin typeface="Calibri" pitchFamily="34" charset="0"/>
                <a:ea typeface="Calibri" pitchFamily="34" charset="-122"/>
                <a:cs typeface="Calibri" pitchFamily="34" charset="-120"/>
              </a:rPr>
              <a:t>Location within Maharashtra</a:t>
            </a:r>
            <a:endParaRPr lang="en-US" sz="1000" dirty="0"/>
          </a:p>
        </p:txBody>
      </p:sp>
      <p:sp>
        <p:nvSpPr>
          <p:cNvPr id="22" name="Shape 18"/>
          <p:cNvSpPr/>
          <p:nvPr/>
        </p:nvSpPr>
        <p:spPr>
          <a:xfrm>
            <a:off x="6537960" y="4160520"/>
            <a:ext cx="5120640" cy="1783080"/>
          </a:xfrm>
          <a:prstGeom prst="roundRect">
            <a:avLst>
              <a:gd name="adj" fmla="val 4103"/>
            </a:avLst>
          </a:prstGeom>
          <a:solidFill>
            <a:srgbClr val="F3E4C6"/>
          </a:solidFill>
          <a:ln w="12700">
            <a:solidFill>
              <a:srgbClr val="C98A2B"/>
            </a:solidFill>
            <a:prstDash val="solid"/>
          </a:ln>
        </p:spPr>
      </p:sp>
      <p:sp>
        <p:nvSpPr>
          <p:cNvPr id="23" name="Text 19"/>
          <p:cNvSpPr/>
          <p:nvPr/>
        </p:nvSpPr>
        <p:spPr>
          <a:xfrm>
            <a:off x="6739128" y="4288536"/>
            <a:ext cx="4718304" cy="1527048"/>
          </a:xfrm>
          <a:prstGeom prst="rect">
            <a:avLst/>
          </a:prstGeom>
          <a:noFill/>
          <a:ln/>
        </p:spPr>
        <p:txBody>
          <a:bodyPr wrap="square" lIns="0" tIns="0" rIns="0" bIns="0" rtlCol="0" anchor="t"/>
          <a:lstStyle/>
          <a:p>
            <a:pPr marL="0" indent="0">
              <a:lnSpc>
                <a:spcPct val="115000"/>
              </a:lnSpc>
              <a:buNone/>
            </a:pPr>
            <a:r>
              <a:rPr lang="en-US" sz="1050" b="1" kern="0" spc="100" dirty="0">
                <a:solidFill>
                  <a:srgbClr val="7A2E2E"/>
                </a:solidFill>
                <a:latin typeface="Calibri" pitchFamily="34" charset="0"/>
                <a:ea typeface="Calibri" pitchFamily="34" charset="-122"/>
                <a:cs typeface="Calibri" pitchFamily="34" charset="-120"/>
              </a:rPr>
              <a:t>DID YOU KNOW?
</a:t>
            </a:r>
            <a:r>
              <a:rPr lang="en-US" sz="1150" i="1" dirty="0">
                <a:solidFill>
                  <a:srgbClr val="2A2622"/>
                </a:solidFill>
                <a:latin typeface="Calibri" pitchFamily="34" charset="0"/>
                <a:ea typeface="Calibri" pitchFamily="34" charset="-122"/>
                <a:cs typeface="Calibri" pitchFamily="34" charset="-120"/>
              </a:rPr>
              <a:t>British traveller descriptions likened Raigad’s approach — a single narrow stairway of over 1,700 steps — to a natural fortress gate that made the summit nearly impregnable.</a:t>
            </a:r>
            <a:endParaRPr lang="en-US" sz="1050" dirty="0"/>
          </a:p>
        </p:txBody>
      </p:sp>
      <p:sp>
        <p:nvSpPr>
          <p:cNvPr id="24" name="Text 20"/>
          <p:cNvSpPr/>
          <p:nvPr/>
        </p:nvSpPr>
        <p:spPr>
          <a:xfrm>
            <a:off x="457200" y="6473952"/>
            <a:ext cx="7315200" cy="274320"/>
          </a:xfrm>
          <a:prstGeom prst="rect">
            <a:avLst/>
          </a:prstGeom>
          <a:noFill/>
          <a:ln/>
        </p:spPr>
        <p:txBody>
          <a:bodyPr wrap="square" lIns="0" tIns="0" rIns="0" bIns="0" rtlCol="0" anchor="ctr"/>
          <a:lstStyle/>
          <a:p>
            <a:pPr marL="0" indent="0">
              <a:buNone/>
            </a:pPr>
            <a:r>
              <a:rPr lang="en-US" sz="900" i="1" dirty="0">
                <a:solidFill>
                  <a:srgbClr val="746E64"/>
                </a:solidFill>
                <a:latin typeface="Calibri" pitchFamily="34" charset="0"/>
                <a:ea typeface="Calibri" pitchFamily="34" charset="-122"/>
                <a:cs typeface="Calibri" pitchFamily="34" charset="-120"/>
              </a:rPr>
              <a:t>Raigad Fort (2/2)</a:t>
            </a:r>
            <a:endParaRPr lang="en-US" sz="900" dirty="0"/>
          </a:p>
        </p:txBody>
      </p:sp>
      <p:sp>
        <p:nvSpPr>
          <p:cNvPr id="25" name="Text 21"/>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746E64"/>
                </a:solidFill>
                <a:latin typeface="Calibri" pitchFamily="34" charset="0"/>
                <a:ea typeface="Calibri" pitchFamily="34" charset="-122"/>
                <a:cs typeface="Calibri" pitchFamily="34" charset="-120"/>
              </a:rPr>
              <a:t>10</a:t>
            </a:r>
            <a:endParaRPr lang="en-US" sz="900" dirty="0"/>
          </a:p>
        </p:txBody>
      </p:sp>
      <p:pic>
        <p:nvPicPr>
          <p:cNvPr id="26" name="Picture 25" descr="Raigad :Aerial Glimpse of Raigad Fort">
            <a:extLst>
              <a:ext uri="{FF2B5EF4-FFF2-40B4-BE49-F238E27FC236}">
                <a16:creationId xmlns:a16="http://schemas.microsoft.com/office/drawing/2014/main" id="{5F90B547-2F6E-44A2-DAB0-4D80516E7CEB}"/>
              </a:ext>
            </a:extLst>
          </p:cNvPr>
          <p:cNvPicPr>
            <a:picLocks noChangeAspect="1"/>
          </p:cNvPicPr>
          <p:nvPr/>
        </p:nvPicPr>
        <p:blipFill>
          <a:blip r:embed="rId5"/>
          <a:stretch>
            <a:fillRect/>
          </a:stretch>
        </p:blipFill>
        <p:spPr>
          <a:xfrm>
            <a:off x="72189" y="3270042"/>
            <a:ext cx="6328611" cy="343327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C98A2B"/>
          </a:solidFill>
          <a:ln/>
        </p:spPr>
      </p:sp>
      <p:pic>
        <p:nvPicPr>
          <p:cNvPr id="3" name="Image 0" descr="/home/claude/forts/assets/fort_icon_white.png"/>
          <p:cNvPicPr>
            <a:picLocks noChangeAspect="1"/>
          </p:cNvPicPr>
          <p:nvPr/>
        </p:nvPicPr>
        <p:blipFill>
          <a:blip r:embed="rId3"/>
          <a:stretch>
            <a:fillRect/>
          </a:stretch>
        </p:blipFill>
        <p:spPr>
          <a:xfrm>
            <a:off x="576072" y="502920"/>
            <a:ext cx="329184" cy="329184"/>
          </a:xfrm>
          <a:prstGeom prst="rect">
            <a:avLst/>
          </a:prstGeom>
        </p:spPr>
      </p:pic>
      <p:sp>
        <p:nvSpPr>
          <p:cNvPr id="4" name="Text 1"/>
          <p:cNvSpPr/>
          <p:nvPr/>
        </p:nvSpPr>
        <p:spPr>
          <a:xfrm>
            <a:off x="1170432" y="310896"/>
            <a:ext cx="8778240" cy="457200"/>
          </a:xfrm>
          <a:prstGeom prst="rect">
            <a:avLst/>
          </a:prstGeom>
          <a:noFill/>
          <a:ln/>
        </p:spPr>
        <p:txBody>
          <a:bodyPr wrap="square" lIns="0" tIns="0" rIns="0" bIns="0" rtlCol="0" anchor="b"/>
          <a:lstStyle/>
          <a:p>
            <a:pPr marL="0" indent="0">
              <a:buNone/>
            </a:pPr>
            <a:r>
              <a:rPr lang="en-US" sz="2700" b="1" dirty="0">
                <a:solidFill>
                  <a:srgbClr val="7A2E2E"/>
                </a:solidFill>
                <a:latin typeface="Cambria" pitchFamily="34" charset="0"/>
                <a:ea typeface="Cambria" pitchFamily="34" charset="-122"/>
                <a:cs typeface="Cambria" pitchFamily="34" charset="-120"/>
              </a:rPr>
              <a:t>Pratapgad Fort</a:t>
            </a:r>
            <a:endParaRPr lang="en-US" sz="2700" dirty="0"/>
          </a:p>
        </p:txBody>
      </p:sp>
      <p:sp>
        <p:nvSpPr>
          <p:cNvPr id="5" name="Text 2"/>
          <p:cNvSpPr/>
          <p:nvPr/>
        </p:nvSpPr>
        <p:spPr>
          <a:xfrm>
            <a:off x="1188720" y="786384"/>
            <a:ext cx="8778240" cy="274320"/>
          </a:xfrm>
          <a:prstGeom prst="rect">
            <a:avLst/>
          </a:prstGeom>
          <a:noFill/>
          <a:ln/>
        </p:spPr>
        <p:txBody>
          <a:bodyPr wrap="square" lIns="0" tIns="0" rIns="0" bIns="0" rtlCol="0" anchor="ctr"/>
          <a:lstStyle/>
          <a:p>
            <a:pPr marL="0" indent="0">
              <a:buNone/>
            </a:pPr>
            <a:r>
              <a:rPr lang="en-US" sz="1250" i="1" dirty="0">
                <a:solidFill>
                  <a:srgbClr val="746E64"/>
                </a:solidFill>
                <a:latin typeface="Calibri" pitchFamily="34" charset="0"/>
                <a:ea typeface="Calibri" pitchFamily="34" charset="-122"/>
                <a:cs typeface="Calibri" pitchFamily="34" charset="-120"/>
              </a:rPr>
              <a:t>Near Mahabaleshwar, Satara District, Maharashtra</a:t>
            </a:r>
            <a:endParaRPr lang="en-US" sz="1250" dirty="0"/>
          </a:p>
        </p:txBody>
      </p:sp>
      <p:sp>
        <p:nvSpPr>
          <p:cNvPr id="6" name="Shape 3"/>
          <p:cNvSpPr/>
          <p:nvPr/>
        </p:nvSpPr>
        <p:spPr>
          <a:xfrm>
            <a:off x="9445752" y="438912"/>
            <a:ext cx="2286000" cy="384048"/>
          </a:xfrm>
          <a:prstGeom prst="roundRect">
            <a:avLst>
              <a:gd name="adj" fmla="val 19048"/>
            </a:avLst>
          </a:prstGeom>
          <a:solidFill>
            <a:srgbClr val="F3E4C6"/>
          </a:solidFill>
          <a:ln w="12700">
            <a:solidFill>
              <a:srgbClr val="C98A2B"/>
            </a:solidFill>
            <a:prstDash val="solid"/>
          </a:ln>
        </p:spPr>
      </p:sp>
      <p:sp>
        <p:nvSpPr>
          <p:cNvPr id="7" name="Text 4"/>
          <p:cNvSpPr/>
          <p:nvPr/>
        </p:nvSpPr>
        <p:spPr>
          <a:xfrm>
            <a:off x="9445752" y="438912"/>
            <a:ext cx="2286000" cy="384048"/>
          </a:xfrm>
          <a:prstGeom prst="rect">
            <a:avLst/>
          </a:prstGeom>
          <a:noFill/>
          <a:ln/>
        </p:spPr>
        <p:txBody>
          <a:bodyPr wrap="square" lIns="0" tIns="0" rIns="0" bIns="0" rtlCol="0" anchor="ctr"/>
          <a:lstStyle/>
          <a:p>
            <a:pPr marL="0" indent="0" algn="ctr">
              <a:buNone/>
            </a:pPr>
            <a:r>
              <a:rPr lang="en-US" sz="1100" b="1" dirty="0">
                <a:solidFill>
                  <a:srgbClr val="7A2E2E"/>
                </a:solidFill>
                <a:latin typeface="Calibri" pitchFamily="34" charset="0"/>
                <a:ea typeface="Calibri" pitchFamily="34" charset="-122"/>
                <a:cs typeface="Calibri" pitchFamily="34" charset="-120"/>
              </a:rPr>
              <a:t>Hill fort</a:t>
            </a:r>
            <a:endParaRPr lang="en-US" sz="1100" dirty="0"/>
          </a:p>
        </p:txBody>
      </p:sp>
      <p:sp>
        <p:nvSpPr>
          <p:cNvPr id="8" name="Text 5"/>
          <p:cNvSpPr/>
          <p:nvPr/>
        </p:nvSpPr>
        <p:spPr>
          <a:xfrm>
            <a:off x="457200" y="1325880"/>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HISTORY</a:t>
            </a:r>
            <a:endParaRPr lang="en-US" sz="1300" dirty="0"/>
          </a:p>
        </p:txBody>
      </p:sp>
      <p:sp>
        <p:nvSpPr>
          <p:cNvPr id="9" name="Text 6"/>
          <p:cNvSpPr/>
          <p:nvPr/>
        </p:nvSpPr>
        <p:spPr>
          <a:xfrm>
            <a:off x="457200" y="1627632"/>
            <a:ext cx="5760720" cy="4572000"/>
          </a:xfrm>
          <a:prstGeom prst="rect">
            <a:avLst/>
          </a:prstGeom>
          <a:noFill/>
          <a:ln/>
        </p:spPr>
        <p:txBody>
          <a:bodyPr wrap="square" lIns="0" tIns="0" rIns="0" bIns="0" rtlCol="0" anchor="t"/>
          <a:lstStyle/>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Unlike most forts on this list, Pratapgad was newly built rather than captured</a:t>
            </a:r>
            <a:endParaRPr lang="en-US" sz="1250" dirty="0"/>
          </a:p>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Constructed around 1656 on Shivaji’s orders, supervised by Moropant Pingle, to guard the Par Ghat pass</a:t>
            </a:r>
            <a:endParaRPr lang="en-US" sz="1250" dirty="0"/>
          </a:p>
        </p:txBody>
      </p:sp>
      <p:sp>
        <p:nvSpPr>
          <p:cNvPr id="10" name="Text 7"/>
          <p:cNvSpPr/>
          <p:nvPr/>
        </p:nvSpPr>
        <p:spPr>
          <a:xfrm>
            <a:off x="457200" y="2990088"/>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ROLE IN SHIVAJI'S SWARAJYA</a:t>
            </a:r>
            <a:endParaRPr lang="en-US" sz="1300" dirty="0"/>
          </a:p>
        </p:txBody>
      </p:sp>
      <p:sp>
        <p:nvSpPr>
          <p:cNvPr id="11" name="Text 8"/>
          <p:cNvSpPr/>
          <p:nvPr/>
        </p:nvSpPr>
        <p:spPr>
          <a:xfrm>
            <a:off x="457200" y="3291840"/>
            <a:ext cx="5760720" cy="4572000"/>
          </a:xfrm>
          <a:prstGeom prst="rect">
            <a:avLst/>
          </a:prstGeom>
          <a:noFill/>
          <a:ln/>
        </p:spPr>
        <p:txBody>
          <a:bodyPr wrap="square" lIns="0" tIns="0" rIns="0" bIns="0" rtlCol="0" anchor="t"/>
          <a:lstStyle/>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Built specifically to secure a strategic Konkan-facing mountain pass</a:t>
            </a:r>
            <a:endParaRPr lang="en-US" sz="1250" dirty="0"/>
          </a:p>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Became the stage for the decisive meeting between Shivaji Maharaj and the Bijapur general Afzal Khan</a:t>
            </a:r>
            <a:endParaRPr lang="en-US" sz="1250" dirty="0"/>
          </a:p>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The resulting Maratha victory broke Bijapur’s military threat and dramatically boosted Swarajya’s standing</a:t>
            </a:r>
            <a:endParaRPr lang="en-US" sz="1250" dirty="0"/>
          </a:p>
        </p:txBody>
      </p:sp>
      <p:sp>
        <p:nvSpPr>
          <p:cNvPr id="12" name="Text 9"/>
          <p:cNvSpPr/>
          <p:nvPr/>
        </p:nvSpPr>
        <p:spPr>
          <a:xfrm>
            <a:off x="438912" y="4972170"/>
            <a:ext cx="512064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KEY EVENTS</a:t>
            </a:r>
            <a:endParaRPr lang="en-US" sz="1300" dirty="0"/>
          </a:p>
        </p:txBody>
      </p:sp>
      <p:sp>
        <p:nvSpPr>
          <p:cNvPr id="14" name="Text 11"/>
          <p:cNvSpPr/>
          <p:nvPr/>
        </p:nvSpPr>
        <p:spPr>
          <a:xfrm>
            <a:off x="566928" y="5413248"/>
            <a:ext cx="4864608" cy="457200"/>
          </a:xfrm>
          <a:prstGeom prst="rect">
            <a:avLst/>
          </a:prstGeom>
          <a:noFill/>
          <a:ln/>
        </p:spPr>
        <p:txBody>
          <a:bodyPr wrap="square" lIns="0" tIns="0" rIns="0" bIns="0" rtlCol="0" anchor="t"/>
          <a:lstStyle/>
          <a:p>
            <a:pPr marL="0" indent="0">
              <a:lnSpc>
                <a:spcPct val="110000"/>
              </a:lnSpc>
              <a:buNone/>
            </a:pPr>
            <a:r>
              <a:rPr lang="en-US" sz="1200" b="1" dirty="0">
                <a:solidFill>
                  <a:srgbClr val="7A2E2E"/>
                </a:solidFill>
                <a:latin typeface="Calibri" pitchFamily="34" charset="0"/>
                <a:ea typeface="Calibri" pitchFamily="34" charset="-122"/>
                <a:cs typeface="Calibri" pitchFamily="34" charset="-120"/>
              </a:rPr>
              <a:t>1656  </a:t>
            </a:r>
            <a:r>
              <a:rPr lang="en-US" sz="1200" dirty="0">
                <a:solidFill>
                  <a:srgbClr val="2A2622"/>
                </a:solidFill>
                <a:latin typeface="Calibri" pitchFamily="34" charset="0"/>
                <a:ea typeface="Calibri" pitchFamily="34" charset="-122"/>
                <a:cs typeface="Calibri" pitchFamily="34" charset="-120"/>
              </a:rPr>
              <a:t>Fort construction completed</a:t>
            </a:r>
            <a:endParaRPr lang="en-US" sz="1200" dirty="0"/>
          </a:p>
        </p:txBody>
      </p:sp>
      <p:sp>
        <p:nvSpPr>
          <p:cNvPr id="16" name="Text 13"/>
          <p:cNvSpPr/>
          <p:nvPr/>
        </p:nvSpPr>
        <p:spPr>
          <a:xfrm>
            <a:off x="576072" y="5870448"/>
            <a:ext cx="4864608" cy="457200"/>
          </a:xfrm>
          <a:prstGeom prst="rect">
            <a:avLst/>
          </a:prstGeom>
          <a:noFill/>
          <a:ln/>
        </p:spPr>
        <p:txBody>
          <a:bodyPr wrap="square" lIns="0" tIns="0" rIns="0" bIns="0" rtlCol="0" anchor="t"/>
          <a:lstStyle/>
          <a:p>
            <a:pPr marL="0" indent="0">
              <a:lnSpc>
                <a:spcPct val="110000"/>
              </a:lnSpc>
              <a:buNone/>
            </a:pPr>
            <a:r>
              <a:rPr lang="en-US" sz="1200" b="1" dirty="0">
                <a:solidFill>
                  <a:srgbClr val="7A2E2E"/>
                </a:solidFill>
                <a:latin typeface="Calibri" pitchFamily="34" charset="0"/>
                <a:ea typeface="Calibri" pitchFamily="34" charset="-122"/>
                <a:cs typeface="Calibri" pitchFamily="34" charset="-120"/>
              </a:rPr>
              <a:t>10 Nov 1659  </a:t>
            </a:r>
            <a:r>
              <a:rPr lang="en-US" sz="1200" dirty="0">
                <a:solidFill>
                  <a:srgbClr val="2A2622"/>
                </a:solidFill>
                <a:latin typeface="Calibri" pitchFamily="34" charset="0"/>
                <a:ea typeface="Calibri" pitchFamily="34" charset="-122"/>
                <a:cs typeface="Calibri" pitchFamily="34" charset="-120"/>
              </a:rPr>
              <a:t>Shivaji Maharaj kills Afzal Khan in their fortified meeting; Maratha forces rout the Bijapur army</a:t>
            </a:r>
            <a:endParaRPr lang="en-US" sz="1200" dirty="0"/>
          </a:p>
        </p:txBody>
      </p:sp>
      <p:sp>
        <p:nvSpPr>
          <p:cNvPr id="17" name="Shape 14"/>
          <p:cNvSpPr/>
          <p:nvPr/>
        </p:nvSpPr>
        <p:spPr>
          <a:xfrm>
            <a:off x="6537960" y="1289304"/>
            <a:ext cx="5120640" cy="777240"/>
          </a:xfrm>
          <a:prstGeom prst="roundRect">
            <a:avLst>
              <a:gd name="adj" fmla="val 9412"/>
            </a:avLst>
          </a:prstGeom>
          <a:solidFill>
            <a:srgbClr val="F3E4C6"/>
          </a:solidFill>
          <a:ln w="12700">
            <a:solidFill>
              <a:srgbClr val="C98A2B"/>
            </a:solidFill>
            <a:prstDash val="solid"/>
          </a:ln>
        </p:spPr>
      </p:sp>
      <p:sp>
        <p:nvSpPr>
          <p:cNvPr id="18" name="Text 15"/>
          <p:cNvSpPr/>
          <p:nvPr/>
        </p:nvSpPr>
        <p:spPr>
          <a:xfrm>
            <a:off x="6812280" y="1463040"/>
            <a:ext cx="4754880" cy="640080"/>
          </a:xfrm>
          <a:prstGeom prst="rect">
            <a:avLst/>
          </a:prstGeom>
          <a:noFill/>
          <a:ln/>
        </p:spPr>
        <p:txBody>
          <a:bodyPr wrap="square" lIns="0" tIns="0" rIns="0" bIns="0" rtlCol="0" anchor="t"/>
          <a:lstStyle/>
          <a:p>
            <a:pPr marL="0" indent="0">
              <a:lnSpc>
                <a:spcPct val="115000"/>
              </a:lnSpc>
              <a:buNone/>
            </a:pPr>
            <a:r>
              <a:rPr lang="en-US" sz="1000" b="1" kern="0" spc="100" dirty="0">
                <a:solidFill>
                  <a:srgbClr val="7A2E2E"/>
                </a:solidFill>
                <a:latin typeface="Calibri" pitchFamily="34" charset="0"/>
                <a:ea typeface="Calibri" pitchFamily="34" charset="-122"/>
                <a:cs typeface="Calibri" pitchFamily="34" charset="-120"/>
              </a:rPr>
              <a:t>SHIVAJI MAHARAJ'S ASSOCIATION
</a:t>
            </a:r>
            <a:r>
              <a:rPr lang="en-US" sz="1150" dirty="0">
                <a:solidFill>
                  <a:srgbClr val="2A2622"/>
                </a:solidFill>
                <a:latin typeface="Calibri" pitchFamily="34" charset="0"/>
                <a:ea typeface="Calibri" pitchFamily="34" charset="-122"/>
                <a:cs typeface="Calibri" pitchFamily="34" charset="-120"/>
              </a:rPr>
              <a:t>Built c.1656; site of the pivotal 1659 encounter with Afzal Khan</a:t>
            </a:r>
            <a:endParaRPr lang="en-US" sz="1000" dirty="0"/>
          </a:p>
        </p:txBody>
      </p:sp>
      <p:sp>
        <p:nvSpPr>
          <p:cNvPr id="19" name="Text 16"/>
          <p:cNvSpPr/>
          <p:nvPr/>
        </p:nvSpPr>
        <p:spPr>
          <a:xfrm>
            <a:off x="457200" y="6473952"/>
            <a:ext cx="7315200" cy="274320"/>
          </a:xfrm>
          <a:prstGeom prst="rect">
            <a:avLst/>
          </a:prstGeom>
          <a:noFill/>
          <a:ln/>
        </p:spPr>
        <p:txBody>
          <a:bodyPr wrap="square" lIns="0" tIns="0" rIns="0" bIns="0" rtlCol="0" anchor="ctr"/>
          <a:lstStyle/>
          <a:p>
            <a:pPr marL="0" indent="0">
              <a:buNone/>
            </a:pPr>
            <a:r>
              <a:rPr lang="en-US" sz="900" i="1" dirty="0">
                <a:solidFill>
                  <a:srgbClr val="746E64"/>
                </a:solidFill>
                <a:latin typeface="Calibri" pitchFamily="34" charset="0"/>
                <a:ea typeface="Calibri" pitchFamily="34" charset="-122"/>
                <a:cs typeface="Calibri" pitchFamily="34" charset="-120"/>
              </a:rPr>
              <a:t>Pratapgad Fort (1/2)</a:t>
            </a:r>
            <a:endParaRPr lang="en-US" sz="900" dirty="0"/>
          </a:p>
        </p:txBody>
      </p:sp>
      <p:sp>
        <p:nvSpPr>
          <p:cNvPr id="20" name="Text 1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746E64"/>
                </a:solidFill>
                <a:latin typeface="Calibri" pitchFamily="34" charset="0"/>
                <a:ea typeface="Calibri" pitchFamily="34" charset="-122"/>
                <a:cs typeface="Calibri" pitchFamily="34" charset="-120"/>
              </a:rPr>
              <a:t>11</a:t>
            </a:r>
            <a:endParaRPr lang="en-US" sz="900" dirty="0"/>
          </a:p>
        </p:txBody>
      </p:sp>
      <p:pic>
        <p:nvPicPr>
          <p:cNvPr id="21" name="Picture 20" descr="Best Places To Visit In Satara Maharashtra In Hindi | best places to visit in satara maharashtra | Herzindagi">
            <a:extLst>
              <a:ext uri="{FF2B5EF4-FFF2-40B4-BE49-F238E27FC236}">
                <a16:creationId xmlns:a16="http://schemas.microsoft.com/office/drawing/2014/main" id="{17404458-DC96-1C51-CBDB-2E13A81A07F0}"/>
              </a:ext>
            </a:extLst>
          </p:cNvPr>
          <p:cNvPicPr>
            <a:picLocks noChangeAspect="1"/>
          </p:cNvPicPr>
          <p:nvPr/>
        </p:nvPicPr>
        <p:blipFill>
          <a:blip r:embed="rId4"/>
          <a:stretch>
            <a:fillRect/>
          </a:stretch>
        </p:blipFill>
        <p:spPr>
          <a:xfrm>
            <a:off x="6392939" y="2103120"/>
            <a:ext cx="5709826" cy="46284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C98A2B"/>
          </a:solidFill>
          <a:ln/>
        </p:spPr>
      </p:sp>
      <p:pic>
        <p:nvPicPr>
          <p:cNvPr id="3" name="Image 0" descr="/home/claude/forts/assets/fort_icon_white.png"/>
          <p:cNvPicPr>
            <a:picLocks noChangeAspect="1"/>
          </p:cNvPicPr>
          <p:nvPr/>
        </p:nvPicPr>
        <p:blipFill>
          <a:blip r:embed="rId3"/>
          <a:stretch>
            <a:fillRect/>
          </a:stretch>
        </p:blipFill>
        <p:spPr>
          <a:xfrm>
            <a:off x="576072" y="502920"/>
            <a:ext cx="329184" cy="329184"/>
          </a:xfrm>
          <a:prstGeom prst="rect">
            <a:avLst/>
          </a:prstGeom>
        </p:spPr>
      </p:pic>
      <p:sp>
        <p:nvSpPr>
          <p:cNvPr id="4" name="Text 1"/>
          <p:cNvSpPr/>
          <p:nvPr/>
        </p:nvSpPr>
        <p:spPr>
          <a:xfrm>
            <a:off x="1170432" y="310896"/>
            <a:ext cx="8778240" cy="457200"/>
          </a:xfrm>
          <a:prstGeom prst="rect">
            <a:avLst/>
          </a:prstGeom>
          <a:noFill/>
          <a:ln/>
        </p:spPr>
        <p:txBody>
          <a:bodyPr wrap="square" lIns="0" tIns="0" rIns="0" bIns="0" rtlCol="0" anchor="b"/>
          <a:lstStyle/>
          <a:p>
            <a:pPr marL="0" indent="0">
              <a:buNone/>
            </a:pPr>
            <a:r>
              <a:rPr lang="en-US" sz="2700" b="1" dirty="0">
                <a:solidFill>
                  <a:srgbClr val="7A2E2E"/>
                </a:solidFill>
                <a:latin typeface="Cambria" pitchFamily="34" charset="0"/>
                <a:ea typeface="Cambria" pitchFamily="34" charset="-122"/>
                <a:cs typeface="Cambria" pitchFamily="34" charset="-120"/>
              </a:rPr>
              <a:t>Pratapgad Fort</a:t>
            </a:r>
            <a:endParaRPr lang="en-US" sz="2700" dirty="0"/>
          </a:p>
        </p:txBody>
      </p:sp>
      <p:sp>
        <p:nvSpPr>
          <p:cNvPr id="5" name="Text 2"/>
          <p:cNvSpPr/>
          <p:nvPr/>
        </p:nvSpPr>
        <p:spPr>
          <a:xfrm>
            <a:off x="1188720" y="786384"/>
            <a:ext cx="8778240" cy="274320"/>
          </a:xfrm>
          <a:prstGeom prst="rect">
            <a:avLst/>
          </a:prstGeom>
          <a:noFill/>
          <a:ln/>
        </p:spPr>
        <p:txBody>
          <a:bodyPr wrap="square" lIns="0" tIns="0" rIns="0" bIns="0" rtlCol="0" anchor="ctr"/>
          <a:lstStyle/>
          <a:p>
            <a:pPr marL="0" indent="0">
              <a:buNone/>
            </a:pPr>
            <a:r>
              <a:rPr lang="en-US" sz="1250" i="1" dirty="0">
                <a:solidFill>
                  <a:srgbClr val="746E64"/>
                </a:solidFill>
                <a:latin typeface="Calibri" pitchFamily="34" charset="0"/>
                <a:ea typeface="Calibri" pitchFamily="34" charset="-122"/>
                <a:cs typeface="Calibri" pitchFamily="34" charset="-120"/>
              </a:rPr>
              <a:t>Architecture, Location &amp; Legacy</a:t>
            </a:r>
            <a:endParaRPr lang="en-US" sz="1250" dirty="0"/>
          </a:p>
        </p:txBody>
      </p:sp>
      <p:sp>
        <p:nvSpPr>
          <p:cNvPr id="6" name="Shape 3"/>
          <p:cNvSpPr/>
          <p:nvPr/>
        </p:nvSpPr>
        <p:spPr>
          <a:xfrm>
            <a:off x="9445752" y="438912"/>
            <a:ext cx="2286000" cy="384048"/>
          </a:xfrm>
          <a:prstGeom prst="roundRect">
            <a:avLst>
              <a:gd name="adj" fmla="val 19048"/>
            </a:avLst>
          </a:prstGeom>
          <a:solidFill>
            <a:srgbClr val="F3E4C6"/>
          </a:solidFill>
          <a:ln w="12700">
            <a:solidFill>
              <a:srgbClr val="C98A2B"/>
            </a:solidFill>
            <a:prstDash val="solid"/>
          </a:ln>
        </p:spPr>
      </p:sp>
      <p:sp>
        <p:nvSpPr>
          <p:cNvPr id="7" name="Text 4"/>
          <p:cNvSpPr/>
          <p:nvPr/>
        </p:nvSpPr>
        <p:spPr>
          <a:xfrm>
            <a:off x="9445752" y="438912"/>
            <a:ext cx="2286000" cy="384048"/>
          </a:xfrm>
          <a:prstGeom prst="rect">
            <a:avLst/>
          </a:prstGeom>
          <a:noFill/>
          <a:ln/>
        </p:spPr>
        <p:txBody>
          <a:bodyPr wrap="square" lIns="0" tIns="0" rIns="0" bIns="0" rtlCol="0" anchor="ctr"/>
          <a:lstStyle/>
          <a:p>
            <a:pPr marL="0" indent="0" algn="ctr">
              <a:buNone/>
            </a:pPr>
            <a:r>
              <a:rPr lang="en-US" sz="1100" b="1" dirty="0">
                <a:solidFill>
                  <a:srgbClr val="7A2E2E"/>
                </a:solidFill>
                <a:latin typeface="Calibri" pitchFamily="34" charset="0"/>
                <a:ea typeface="Calibri" pitchFamily="34" charset="-122"/>
                <a:cs typeface="Calibri" pitchFamily="34" charset="-120"/>
              </a:rPr>
              <a:t>Hill fort</a:t>
            </a:r>
            <a:endParaRPr lang="en-US" sz="1100" dirty="0"/>
          </a:p>
        </p:txBody>
      </p:sp>
      <p:sp>
        <p:nvSpPr>
          <p:cNvPr id="8" name="Text 5"/>
          <p:cNvSpPr/>
          <p:nvPr/>
        </p:nvSpPr>
        <p:spPr>
          <a:xfrm>
            <a:off x="457200" y="1325880"/>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ARCHITECTURAL FEATURES</a:t>
            </a:r>
            <a:endParaRPr lang="en-US" sz="1300" dirty="0"/>
          </a:p>
        </p:txBody>
      </p:sp>
      <p:sp>
        <p:nvSpPr>
          <p:cNvPr id="9" name="Text 6"/>
          <p:cNvSpPr/>
          <p:nvPr/>
        </p:nvSpPr>
        <p:spPr>
          <a:xfrm>
            <a:off x="457200" y="1627632"/>
            <a:ext cx="5760720" cy="4572000"/>
          </a:xfrm>
          <a:prstGeom prst="rect">
            <a:avLst/>
          </a:prstGeom>
          <a:noFill/>
          <a:ln/>
        </p:spPr>
        <p:txBody>
          <a:bodyPr wrap="square" lIns="0" tIns="0" rIns="0" bIns="0" rtlCol="0" anchor="t"/>
          <a:lstStyle/>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Distinct upper fort (Balekilla) and lower fort connected by fortified paths</a:t>
            </a:r>
            <a:endParaRPr lang="en-US" sz="1200" dirty="0"/>
          </a:p>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Bhavani Mandir, where Shivaji is said to have installed a Bhavani idol before the battle</a:t>
            </a:r>
            <a:endParaRPr lang="en-US" sz="1200" dirty="0"/>
          </a:p>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Afzal Khan’s tomb at the base of the fort</a:t>
            </a:r>
            <a:endParaRPr lang="en-US" sz="1200" dirty="0"/>
          </a:p>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Strong bastions with commanding views over the Konkan lowlands</a:t>
            </a:r>
            <a:endParaRPr lang="en-US" sz="1200" dirty="0"/>
          </a:p>
        </p:txBody>
      </p:sp>
      <p:sp>
        <p:nvSpPr>
          <p:cNvPr id="10" name="Text 7"/>
          <p:cNvSpPr/>
          <p:nvPr/>
        </p:nvSpPr>
        <p:spPr>
          <a:xfrm>
            <a:off x="457200" y="3776472"/>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SUGGESTED PHOTOGRAPHS</a:t>
            </a:r>
            <a:endParaRPr lang="en-US" sz="1300" dirty="0"/>
          </a:p>
        </p:txBody>
      </p:sp>
      <p:sp>
        <p:nvSpPr>
          <p:cNvPr id="11" name="Shape 8"/>
          <p:cNvSpPr/>
          <p:nvPr/>
        </p:nvSpPr>
        <p:spPr>
          <a:xfrm>
            <a:off x="457200" y="4096512"/>
            <a:ext cx="2798064" cy="868680"/>
          </a:xfrm>
          <a:prstGeom prst="roundRect">
            <a:avLst>
              <a:gd name="adj" fmla="val 6316"/>
            </a:avLst>
          </a:prstGeom>
          <a:solidFill>
            <a:srgbClr val="FFFFFF"/>
          </a:solidFill>
          <a:ln w="12700">
            <a:solidFill>
              <a:srgbClr val="DCD5C7"/>
            </a:solidFill>
            <a:prstDash val="dash"/>
          </a:ln>
        </p:spPr>
      </p:sp>
      <p:sp>
        <p:nvSpPr>
          <p:cNvPr id="12" name="Text 9"/>
          <p:cNvSpPr/>
          <p:nvPr/>
        </p:nvSpPr>
        <p:spPr>
          <a:xfrm>
            <a:off x="566928" y="4096512"/>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Upper fort (Balekilla) ramparts</a:t>
            </a:r>
            <a:endParaRPr lang="en-US" sz="1300" dirty="0"/>
          </a:p>
        </p:txBody>
      </p:sp>
      <p:sp>
        <p:nvSpPr>
          <p:cNvPr id="13" name="Shape 10"/>
          <p:cNvSpPr/>
          <p:nvPr/>
        </p:nvSpPr>
        <p:spPr>
          <a:xfrm>
            <a:off x="3419856" y="4096512"/>
            <a:ext cx="2798064" cy="868680"/>
          </a:xfrm>
          <a:prstGeom prst="roundRect">
            <a:avLst>
              <a:gd name="adj" fmla="val 6316"/>
            </a:avLst>
          </a:prstGeom>
          <a:solidFill>
            <a:srgbClr val="FFFFFF"/>
          </a:solidFill>
          <a:ln w="12700">
            <a:solidFill>
              <a:srgbClr val="DCD5C7"/>
            </a:solidFill>
            <a:prstDash val="dash"/>
          </a:ln>
        </p:spPr>
      </p:sp>
      <p:sp>
        <p:nvSpPr>
          <p:cNvPr id="14" name="Text 11"/>
          <p:cNvSpPr/>
          <p:nvPr/>
        </p:nvSpPr>
        <p:spPr>
          <a:xfrm>
            <a:off x="3529584" y="4096512"/>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Bhavani Mandir</a:t>
            </a:r>
            <a:endParaRPr lang="en-US" sz="1300" dirty="0"/>
          </a:p>
        </p:txBody>
      </p:sp>
      <p:sp>
        <p:nvSpPr>
          <p:cNvPr id="15" name="Shape 12"/>
          <p:cNvSpPr/>
          <p:nvPr/>
        </p:nvSpPr>
        <p:spPr>
          <a:xfrm>
            <a:off x="457200" y="5129784"/>
            <a:ext cx="2798064" cy="868680"/>
          </a:xfrm>
          <a:prstGeom prst="roundRect">
            <a:avLst>
              <a:gd name="adj" fmla="val 6316"/>
            </a:avLst>
          </a:prstGeom>
          <a:solidFill>
            <a:srgbClr val="FFFFFF"/>
          </a:solidFill>
          <a:ln w="12700">
            <a:solidFill>
              <a:srgbClr val="DCD5C7"/>
            </a:solidFill>
            <a:prstDash val="dash"/>
          </a:ln>
        </p:spPr>
      </p:sp>
      <p:sp>
        <p:nvSpPr>
          <p:cNvPr id="16" name="Text 13"/>
          <p:cNvSpPr/>
          <p:nvPr/>
        </p:nvSpPr>
        <p:spPr>
          <a:xfrm>
            <a:off x="566928" y="5129784"/>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View over the Konkan escarpment</a:t>
            </a:r>
            <a:endParaRPr lang="en-US" sz="1300" dirty="0"/>
          </a:p>
        </p:txBody>
      </p:sp>
      <p:sp>
        <p:nvSpPr>
          <p:cNvPr id="17" name="Shape 14"/>
          <p:cNvSpPr/>
          <p:nvPr/>
        </p:nvSpPr>
        <p:spPr>
          <a:xfrm>
            <a:off x="3419856" y="5129784"/>
            <a:ext cx="2798064" cy="868680"/>
          </a:xfrm>
          <a:prstGeom prst="roundRect">
            <a:avLst>
              <a:gd name="adj" fmla="val 6316"/>
            </a:avLst>
          </a:prstGeom>
          <a:solidFill>
            <a:srgbClr val="FFFFFF"/>
          </a:solidFill>
          <a:ln w="12700">
            <a:solidFill>
              <a:srgbClr val="DCD5C7"/>
            </a:solidFill>
            <a:prstDash val="dash"/>
          </a:ln>
        </p:spPr>
      </p:sp>
      <p:sp>
        <p:nvSpPr>
          <p:cNvPr id="18" name="Text 15"/>
          <p:cNvSpPr/>
          <p:nvPr/>
        </p:nvSpPr>
        <p:spPr>
          <a:xfrm>
            <a:off x="3529584" y="5129784"/>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Fortification walls &amp; bastions</a:t>
            </a:r>
            <a:endParaRPr lang="en-US" sz="1300" dirty="0"/>
          </a:p>
        </p:txBody>
      </p:sp>
      <p:sp>
        <p:nvSpPr>
          <p:cNvPr id="19" name="Shape 16"/>
          <p:cNvSpPr/>
          <p:nvPr/>
        </p:nvSpPr>
        <p:spPr>
          <a:xfrm>
            <a:off x="8659368" y="1344168"/>
            <a:ext cx="1648090" cy="2478024"/>
          </a:xfrm>
          <a:prstGeom prst="roundRect">
            <a:avLst>
              <a:gd name="adj" fmla="val 2774"/>
            </a:avLst>
          </a:prstGeom>
          <a:solidFill>
            <a:srgbClr val="FFFFFF"/>
          </a:solidFill>
          <a:ln w="12700">
            <a:solidFill>
              <a:srgbClr val="DCD5C7"/>
            </a:solidFill>
            <a:prstDash val="solid"/>
          </a:ln>
        </p:spPr>
      </p:sp>
      <p:pic>
        <p:nvPicPr>
          <p:cNvPr id="20" name="Image 1" descr="/home/claude/forts/assets/map_pratapgad.png"/>
          <p:cNvPicPr>
            <a:picLocks noChangeAspect="1"/>
          </p:cNvPicPr>
          <p:nvPr/>
        </p:nvPicPr>
        <p:blipFill>
          <a:blip r:embed="rId4"/>
          <a:stretch>
            <a:fillRect/>
          </a:stretch>
        </p:blipFill>
        <p:spPr>
          <a:xfrm>
            <a:off x="8732520" y="1417320"/>
            <a:ext cx="1501786" cy="2331720"/>
          </a:xfrm>
          <a:prstGeom prst="rect">
            <a:avLst/>
          </a:prstGeom>
        </p:spPr>
      </p:pic>
      <p:sp>
        <p:nvSpPr>
          <p:cNvPr id="21" name="Text 17"/>
          <p:cNvSpPr/>
          <p:nvPr/>
        </p:nvSpPr>
        <p:spPr>
          <a:xfrm>
            <a:off x="6583680" y="3858768"/>
            <a:ext cx="5120640" cy="274320"/>
          </a:xfrm>
          <a:prstGeom prst="rect">
            <a:avLst/>
          </a:prstGeom>
          <a:noFill/>
          <a:ln/>
        </p:spPr>
        <p:txBody>
          <a:bodyPr wrap="square" lIns="0" tIns="0" rIns="0" bIns="0" rtlCol="0" anchor="ctr"/>
          <a:lstStyle/>
          <a:p>
            <a:pPr marL="0" indent="0" algn="r">
              <a:buNone/>
            </a:pPr>
            <a:r>
              <a:rPr lang="en-US" sz="1000" i="1" dirty="0">
                <a:solidFill>
                  <a:srgbClr val="746E64"/>
                </a:solidFill>
                <a:latin typeface="Calibri" pitchFamily="34" charset="0"/>
                <a:ea typeface="Calibri" pitchFamily="34" charset="-122"/>
                <a:cs typeface="Calibri" pitchFamily="34" charset="-120"/>
              </a:rPr>
              <a:t>Location within Maharashtra</a:t>
            </a:r>
            <a:endParaRPr lang="en-US" sz="1000" dirty="0"/>
          </a:p>
        </p:txBody>
      </p:sp>
      <p:sp>
        <p:nvSpPr>
          <p:cNvPr id="22" name="Shape 18"/>
          <p:cNvSpPr/>
          <p:nvPr/>
        </p:nvSpPr>
        <p:spPr>
          <a:xfrm>
            <a:off x="7363325" y="4407408"/>
            <a:ext cx="4624137" cy="1536192"/>
          </a:xfrm>
          <a:prstGeom prst="roundRect">
            <a:avLst>
              <a:gd name="adj" fmla="val 4103"/>
            </a:avLst>
          </a:prstGeom>
          <a:solidFill>
            <a:srgbClr val="F3E4C6"/>
          </a:solidFill>
          <a:ln w="12700">
            <a:solidFill>
              <a:srgbClr val="C98A2B"/>
            </a:solidFill>
            <a:prstDash val="solid"/>
          </a:ln>
        </p:spPr>
      </p:sp>
      <p:sp>
        <p:nvSpPr>
          <p:cNvPr id="23" name="Text 19"/>
          <p:cNvSpPr/>
          <p:nvPr/>
        </p:nvSpPr>
        <p:spPr>
          <a:xfrm>
            <a:off x="7525483" y="4499972"/>
            <a:ext cx="4260812" cy="1315611"/>
          </a:xfrm>
          <a:prstGeom prst="rect">
            <a:avLst/>
          </a:prstGeom>
          <a:noFill/>
          <a:ln/>
        </p:spPr>
        <p:txBody>
          <a:bodyPr wrap="square" lIns="0" tIns="0" rIns="0" bIns="0" rtlCol="0" anchor="t"/>
          <a:lstStyle/>
          <a:p>
            <a:pPr marL="0" indent="0">
              <a:lnSpc>
                <a:spcPct val="115000"/>
              </a:lnSpc>
              <a:buNone/>
            </a:pPr>
            <a:r>
              <a:rPr lang="en-US" sz="1050" b="1" kern="0" spc="100" dirty="0">
                <a:solidFill>
                  <a:srgbClr val="7A2E2E"/>
                </a:solidFill>
                <a:latin typeface="Calibri" pitchFamily="34" charset="0"/>
                <a:ea typeface="Calibri" pitchFamily="34" charset="-122"/>
                <a:cs typeface="Calibri" pitchFamily="34" charset="-120"/>
              </a:rPr>
              <a:t>DID YOU KNOW?
</a:t>
            </a:r>
            <a:r>
              <a:rPr lang="en-US" sz="1150" i="1" dirty="0">
                <a:solidFill>
                  <a:srgbClr val="2A2622"/>
                </a:solidFill>
                <a:latin typeface="Calibri" pitchFamily="34" charset="0"/>
                <a:ea typeface="Calibri" pitchFamily="34" charset="-122"/>
                <a:cs typeface="Calibri" pitchFamily="34" charset="-120"/>
              </a:rPr>
              <a:t>The steel "wagh nakh" (tiger claws) associated with the Afzal Khan encounter remain one of the most famous artefacts in Maratha popular memory.</a:t>
            </a:r>
            <a:endParaRPr lang="en-US" sz="1050" dirty="0"/>
          </a:p>
        </p:txBody>
      </p:sp>
      <p:sp>
        <p:nvSpPr>
          <p:cNvPr id="24" name="Text 20"/>
          <p:cNvSpPr/>
          <p:nvPr/>
        </p:nvSpPr>
        <p:spPr>
          <a:xfrm>
            <a:off x="457200" y="6473952"/>
            <a:ext cx="7315200" cy="274320"/>
          </a:xfrm>
          <a:prstGeom prst="rect">
            <a:avLst/>
          </a:prstGeom>
          <a:noFill/>
          <a:ln/>
        </p:spPr>
        <p:txBody>
          <a:bodyPr wrap="square" lIns="0" tIns="0" rIns="0" bIns="0" rtlCol="0" anchor="ctr"/>
          <a:lstStyle/>
          <a:p>
            <a:pPr marL="0" indent="0">
              <a:buNone/>
            </a:pPr>
            <a:r>
              <a:rPr lang="en-US" sz="900" i="1" dirty="0">
                <a:solidFill>
                  <a:srgbClr val="746E64"/>
                </a:solidFill>
                <a:latin typeface="Calibri" pitchFamily="34" charset="0"/>
                <a:ea typeface="Calibri" pitchFamily="34" charset="-122"/>
                <a:cs typeface="Calibri" pitchFamily="34" charset="-120"/>
              </a:rPr>
              <a:t>Pratapgad Fort (2/2)</a:t>
            </a:r>
            <a:endParaRPr lang="en-US" sz="900" dirty="0"/>
          </a:p>
        </p:txBody>
      </p:sp>
      <p:sp>
        <p:nvSpPr>
          <p:cNvPr id="25" name="Text 21"/>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746E64"/>
                </a:solidFill>
                <a:latin typeface="Calibri" pitchFamily="34" charset="0"/>
                <a:ea typeface="Calibri" pitchFamily="34" charset="-122"/>
                <a:cs typeface="Calibri" pitchFamily="34" charset="-120"/>
              </a:rPr>
              <a:t>12</a:t>
            </a:r>
            <a:endParaRPr lang="en-US" sz="900" dirty="0"/>
          </a:p>
        </p:txBody>
      </p:sp>
      <p:pic>
        <p:nvPicPr>
          <p:cNvPr id="26" name="Picture 25" descr="Maharashtra Tourism (@maha_tourism) on X">
            <a:extLst>
              <a:ext uri="{FF2B5EF4-FFF2-40B4-BE49-F238E27FC236}">
                <a16:creationId xmlns:a16="http://schemas.microsoft.com/office/drawing/2014/main" id="{6C9A0D93-BD5C-24C9-18D0-7BEB323EEFD3}"/>
              </a:ext>
            </a:extLst>
          </p:cNvPr>
          <p:cNvPicPr>
            <a:picLocks noChangeAspect="1"/>
          </p:cNvPicPr>
          <p:nvPr/>
        </p:nvPicPr>
        <p:blipFill>
          <a:blip r:embed="rId5"/>
          <a:stretch>
            <a:fillRect/>
          </a:stretch>
        </p:blipFill>
        <p:spPr>
          <a:xfrm>
            <a:off x="141938" y="2833937"/>
            <a:ext cx="7020219" cy="393262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C98A2B"/>
          </a:solidFill>
          <a:ln/>
        </p:spPr>
      </p:sp>
      <p:pic>
        <p:nvPicPr>
          <p:cNvPr id="3" name="Image 0" descr="/home/claude/forts/assets/fort_icon_white.png"/>
          <p:cNvPicPr>
            <a:picLocks noChangeAspect="1"/>
          </p:cNvPicPr>
          <p:nvPr/>
        </p:nvPicPr>
        <p:blipFill>
          <a:blip r:embed="rId3"/>
          <a:stretch>
            <a:fillRect/>
          </a:stretch>
        </p:blipFill>
        <p:spPr>
          <a:xfrm>
            <a:off x="576072" y="502920"/>
            <a:ext cx="329184" cy="329184"/>
          </a:xfrm>
          <a:prstGeom prst="rect">
            <a:avLst/>
          </a:prstGeom>
        </p:spPr>
      </p:pic>
      <p:sp>
        <p:nvSpPr>
          <p:cNvPr id="4" name="Text 1"/>
          <p:cNvSpPr/>
          <p:nvPr/>
        </p:nvSpPr>
        <p:spPr>
          <a:xfrm>
            <a:off x="1170432" y="310896"/>
            <a:ext cx="8778240" cy="457200"/>
          </a:xfrm>
          <a:prstGeom prst="rect">
            <a:avLst/>
          </a:prstGeom>
          <a:noFill/>
          <a:ln/>
        </p:spPr>
        <p:txBody>
          <a:bodyPr wrap="square" lIns="0" tIns="0" rIns="0" bIns="0" rtlCol="0" anchor="b"/>
          <a:lstStyle/>
          <a:p>
            <a:pPr marL="0" indent="0">
              <a:buNone/>
            </a:pPr>
            <a:r>
              <a:rPr lang="en-US" sz="2700" b="1" dirty="0">
                <a:solidFill>
                  <a:srgbClr val="7A2E2E"/>
                </a:solidFill>
                <a:latin typeface="Cambria" pitchFamily="34" charset="0"/>
                <a:ea typeface="Cambria" pitchFamily="34" charset="-122"/>
                <a:cs typeface="Cambria" pitchFamily="34" charset="-120"/>
              </a:rPr>
              <a:t>Sinhagad Fort</a:t>
            </a:r>
            <a:endParaRPr lang="en-US" sz="2700" dirty="0"/>
          </a:p>
        </p:txBody>
      </p:sp>
      <p:sp>
        <p:nvSpPr>
          <p:cNvPr id="5" name="Text 2"/>
          <p:cNvSpPr/>
          <p:nvPr/>
        </p:nvSpPr>
        <p:spPr>
          <a:xfrm>
            <a:off x="1188720" y="786384"/>
            <a:ext cx="8778240" cy="274320"/>
          </a:xfrm>
          <a:prstGeom prst="rect">
            <a:avLst/>
          </a:prstGeom>
          <a:noFill/>
          <a:ln/>
        </p:spPr>
        <p:txBody>
          <a:bodyPr wrap="square" lIns="0" tIns="0" rIns="0" bIns="0" rtlCol="0" anchor="ctr"/>
          <a:lstStyle/>
          <a:p>
            <a:pPr marL="0" indent="0">
              <a:buNone/>
            </a:pPr>
            <a:r>
              <a:rPr lang="en-US" sz="1250" i="1" dirty="0">
                <a:solidFill>
                  <a:srgbClr val="746E64"/>
                </a:solidFill>
                <a:latin typeface="Calibri" pitchFamily="34" charset="0"/>
                <a:ea typeface="Calibri" pitchFamily="34" charset="-122"/>
                <a:cs typeface="Calibri" pitchFamily="34" charset="-120"/>
              </a:rPr>
              <a:t>Kondhana (earlier name)  •  Near Pune city, Maharashtra</a:t>
            </a:r>
            <a:endParaRPr lang="en-US" sz="1250" dirty="0"/>
          </a:p>
        </p:txBody>
      </p:sp>
      <p:sp>
        <p:nvSpPr>
          <p:cNvPr id="6" name="Shape 3"/>
          <p:cNvSpPr/>
          <p:nvPr/>
        </p:nvSpPr>
        <p:spPr>
          <a:xfrm>
            <a:off x="9445752" y="438912"/>
            <a:ext cx="2286000" cy="384048"/>
          </a:xfrm>
          <a:prstGeom prst="roundRect">
            <a:avLst>
              <a:gd name="adj" fmla="val 19048"/>
            </a:avLst>
          </a:prstGeom>
          <a:solidFill>
            <a:srgbClr val="F3E4C6"/>
          </a:solidFill>
          <a:ln w="12700">
            <a:solidFill>
              <a:srgbClr val="C98A2B"/>
            </a:solidFill>
            <a:prstDash val="solid"/>
          </a:ln>
        </p:spPr>
      </p:sp>
      <p:sp>
        <p:nvSpPr>
          <p:cNvPr id="7" name="Text 4"/>
          <p:cNvSpPr/>
          <p:nvPr/>
        </p:nvSpPr>
        <p:spPr>
          <a:xfrm>
            <a:off x="9445752" y="438912"/>
            <a:ext cx="2286000" cy="384048"/>
          </a:xfrm>
          <a:prstGeom prst="rect">
            <a:avLst/>
          </a:prstGeom>
          <a:noFill/>
          <a:ln/>
        </p:spPr>
        <p:txBody>
          <a:bodyPr wrap="square" lIns="0" tIns="0" rIns="0" bIns="0" rtlCol="0" anchor="ctr"/>
          <a:lstStyle/>
          <a:p>
            <a:pPr marL="0" indent="0" algn="ctr">
              <a:buNone/>
            </a:pPr>
            <a:r>
              <a:rPr lang="en-US" sz="1100" b="1" dirty="0">
                <a:solidFill>
                  <a:srgbClr val="7A2E2E"/>
                </a:solidFill>
                <a:latin typeface="Calibri" pitchFamily="34" charset="0"/>
                <a:ea typeface="Calibri" pitchFamily="34" charset="-122"/>
                <a:cs typeface="Calibri" pitchFamily="34" charset="-120"/>
              </a:rPr>
              <a:t>Hill fort</a:t>
            </a:r>
            <a:endParaRPr lang="en-US" sz="1100" dirty="0"/>
          </a:p>
        </p:txBody>
      </p:sp>
      <p:sp>
        <p:nvSpPr>
          <p:cNvPr id="8" name="Text 5"/>
          <p:cNvSpPr/>
          <p:nvPr/>
        </p:nvSpPr>
        <p:spPr>
          <a:xfrm>
            <a:off x="457200" y="1325880"/>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HISTORY</a:t>
            </a:r>
            <a:endParaRPr lang="en-US" sz="1300" dirty="0"/>
          </a:p>
        </p:txBody>
      </p:sp>
      <p:sp>
        <p:nvSpPr>
          <p:cNvPr id="9" name="Text 6"/>
          <p:cNvSpPr/>
          <p:nvPr/>
        </p:nvSpPr>
        <p:spPr>
          <a:xfrm>
            <a:off x="457200" y="1627632"/>
            <a:ext cx="5760720" cy="4572000"/>
          </a:xfrm>
          <a:prstGeom prst="rect">
            <a:avLst/>
          </a:prstGeom>
          <a:noFill/>
          <a:ln/>
        </p:spPr>
        <p:txBody>
          <a:bodyPr wrap="square" lIns="0" tIns="0" rIns="0" bIns="0" rtlCol="0" anchor="t"/>
          <a:lstStyle/>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An ancient fort known as Kondhana, held successively by Bahmani and Adilshahi (Bijapur) rulers</a:t>
            </a:r>
            <a:endParaRPr lang="en-US" sz="1250" dirty="0"/>
          </a:p>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Ceded to the Mughals under the 1665 Treaty of Purandar</a:t>
            </a:r>
            <a:endParaRPr lang="en-US" sz="1250" dirty="0"/>
          </a:p>
        </p:txBody>
      </p:sp>
      <p:sp>
        <p:nvSpPr>
          <p:cNvPr id="10" name="Text 7"/>
          <p:cNvSpPr/>
          <p:nvPr/>
        </p:nvSpPr>
        <p:spPr>
          <a:xfrm>
            <a:off x="457200" y="2583180"/>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ROLE IN SHIVAJI'S SWARAJYA</a:t>
            </a:r>
            <a:endParaRPr lang="en-US" sz="1300" dirty="0"/>
          </a:p>
        </p:txBody>
      </p:sp>
      <p:sp>
        <p:nvSpPr>
          <p:cNvPr id="11" name="Text 8"/>
          <p:cNvSpPr/>
          <p:nvPr/>
        </p:nvSpPr>
        <p:spPr>
          <a:xfrm>
            <a:off x="457073" y="2944368"/>
            <a:ext cx="5760720" cy="4572000"/>
          </a:xfrm>
          <a:prstGeom prst="rect">
            <a:avLst/>
          </a:prstGeom>
          <a:noFill/>
          <a:ln/>
        </p:spPr>
        <p:txBody>
          <a:bodyPr wrap="square" lIns="0" tIns="0" rIns="0" bIns="0" rtlCol="0" anchor="t"/>
          <a:lstStyle/>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Recaptured in a daring night assault on 4 February 1670 led by Tanaji Malusare, using rope-and-lizard climbing techniques on a sheer cliff face</a:t>
            </a:r>
            <a:endParaRPr lang="en-US" sz="1250" dirty="0"/>
          </a:p>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Tanaji was killed in the fierce fighting; the fort was renamed Sinhagad ("Lion’s Fort") in his honour</a:t>
            </a:r>
            <a:endParaRPr lang="en-US" sz="1250" dirty="0"/>
          </a:p>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Its recapture symbolised the Maratha resurgence after the setbacks of 1665</a:t>
            </a:r>
            <a:endParaRPr lang="en-US" sz="1250" dirty="0"/>
          </a:p>
        </p:txBody>
      </p:sp>
      <p:sp>
        <p:nvSpPr>
          <p:cNvPr id="12" name="Text 9"/>
          <p:cNvSpPr/>
          <p:nvPr/>
        </p:nvSpPr>
        <p:spPr>
          <a:xfrm>
            <a:off x="457200" y="4357597"/>
            <a:ext cx="512064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KEY EVENTS</a:t>
            </a:r>
            <a:endParaRPr lang="en-US" sz="1300" dirty="0"/>
          </a:p>
        </p:txBody>
      </p:sp>
      <p:sp>
        <p:nvSpPr>
          <p:cNvPr id="14" name="Text 11"/>
          <p:cNvSpPr/>
          <p:nvPr/>
        </p:nvSpPr>
        <p:spPr>
          <a:xfrm>
            <a:off x="585216" y="4818888"/>
            <a:ext cx="4864608" cy="457200"/>
          </a:xfrm>
          <a:prstGeom prst="rect">
            <a:avLst/>
          </a:prstGeom>
          <a:noFill/>
          <a:ln/>
        </p:spPr>
        <p:txBody>
          <a:bodyPr wrap="square" lIns="0" tIns="0" rIns="0" bIns="0" rtlCol="0" anchor="t"/>
          <a:lstStyle/>
          <a:p>
            <a:pPr marL="0" indent="0">
              <a:lnSpc>
                <a:spcPct val="110000"/>
              </a:lnSpc>
              <a:buNone/>
            </a:pPr>
            <a:r>
              <a:rPr lang="en-US" sz="1200" b="1" dirty="0">
                <a:solidFill>
                  <a:srgbClr val="7A2E2E"/>
                </a:solidFill>
                <a:latin typeface="Calibri" pitchFamily="34" charset="0"/>
                <a:ea typeface="Calibri" pitchFamily="34" charset="-122"/>
                <a:cs typeface="Calibri" pitchFamily="34" charset="-120"/>
              </a:rPr>
              <a:t>1665  </a:t>
            </a:r>
            <a:r>
              <a:rPr lang="en-US" sz="1200" dirty="0">
                <a:solidFill>
                  <a:srgbClr val="2A2622"/>
                </a:solidFill>
                <a:latin typeface="Calibri" pitchFamily="34" charset="0"/>
                <a:ea typeface="Calibri" pitchFamily="34" charset="-122"/>
                <a:cs typeface="Calibri" pitchFamily="34" charset="-120"/>
              </a:rPr>
              <a:t>Ceded to the Mughals under the Treaty of Purandar</a:t>
            </a:r>
            <a:endParaRPr lang="en-US" sz="1200" dirty="0"/>
          </a:p>
        </p:txBody>
      </p:sp>
      <p:sp>
        <p:nvSpPr>
          <p:cNvPr id="16" name="Text 13"/>
          <p:cNvSpPr/>
          <p:nvPr/>
        </p:nvSpPr>
        <p:spPr>
          <a:xfrm>
            <a:off x="585216" y="5234459"/>
            <a:ext cx="4864608" cy="457200"/>
          </a:xfrm>
          <a:prstGeom prst="rect">
            <a:avLst/>
          </a:prstGeom>
          <a:noFill/>
          <a:ln/>
        </p:spPr>
        <p:txBody>
          <a:bodyPr wrap="square" lIns="0" tIns="0" rIns="0" bIns="0" rtlCol="0" anchor="t"/>
          <a:lstStyle/>
          <a:p>
            <a:pPr marL="0" indent="0">
              <a:lnSpc>
                <a:spcPct val="110000"/>
              </a:lnSpc>
              <a:buNone/>
            </a:pPr>
            <a:r>
              <a:rPr lang="en-US" sz="1200" b="1" dirty="0">
                <a:solidFill>
                  <a:srgbClr val="7A2E2E"/>
                </a:solidFill>
                <a:latin typeface="Calibri" pitchFamily="34" charset="0"/>
                <a:ea typeface="Calibri" pitchFamily="34" charset="-122"/>
                <a:cs typeface="Calibri" pitchFamily="34" charset="-120"/>
              </a:rPr>
              <a:t>4 Feb 1670  </a:t>
            </a:r>
            <a:r>
              <a:rPr lang="en-US" sz="1200" dirty="0">
                <a:solidFill>
                  <a:srgbClr val="2A2622"/>
                </a:solidFill>
                <a:latin typeface="Calibri" pitchFamily="34" charset="0"/>
                <a:ea typeface="Calibri" pitchFamily="34" charset="-122"/>
                <a:cs typeface="Calibri" pitchFamily="34" charset="-120"/>
              </a:rPr>
              <a:t>Battle of Sinhagad — Tanaji Malusare recaptures the fort and dies in battle</a:t>
            </a:r>
            <a:endParaRPr lang="en-US" sz="1200" dirty="0"/>
          </a:p>
        </p:txBody>
      </p:sp>
      <p:sp>
        <p:nvSpPr>
          <p:cNvPr id="17" name="Shape 14"/>
          <p:cNvSpPr/>
          <p:nvPr/>
        </p:nvSpPr>
        <p:spPr>
          <a:xfrm>
            <a:off x="456946" y="5718610"/>
            <a:ext cx="5120640" cy="777240"/>
          </a:xfrm>
          <a:prstGeom prst="roundRect">
            <a:avLst>
              <a:gd name="adj" fmla="val 9412"/>
            </a:avLst>
          </a:prstGeom>
          <a:solidFill>
            <a:srgbClr val="F3E4C6"/>
          </a:solidFill>
          <a:ln w="12700">
            <a:solidFill>
              <a:srgbClr val="C98A2B"/>
            </a:solidFill>
            <a:prstDash val="solid"/>
          </a:ln>
        </p:spPr>
      </p:sp>
      <p:sp>
        <p:nvSpPr>
          <p:cNvPr id="18" name="Text 15"/>
          <p:cNvSpPr/>
          <p:nvPr/>
        </p:nvSpPr>
        <p:spPr>
          <a:xfrm>
            <a:off x="739648" y="5855770"/>
            <a:ext cx="4754880" cy="640080"/>
          </a:xfrm>
          <a:prstGeom prst="rect">
            <a:avLst/>
          </a:prstGeom>
          <a:noFill/>
          <a:ln/>
        </p:spPr>
        <p:txBody>
          <a:bodyPr wrap="square" lIns="0" tIns="0" rIns="0" bIns="0" rtlCol="0" anchor="t"/>
          <a:lstStyle/>
          <a:p>
            <a:pPr marL="0" indent="0">
              <a:lnSpc>
                <a:spcPct val="115000"/>
              </a:lnSpc>
              <a:buNone/>
            </a:pPr>
            <a:r>
              <a:rPr lang="en-US" sz="1000" b="1" kern="0" spc="100" dirty="0">
                <a:solidFill>
                  <a:srgbClr val="7A2E2E"/>
                </a:solidFill>
                <a:latin typeface="Calibri" pitchFamily="34" charset="0"/>
                <a:ea typeface="Calibri" pitchFamily="34" charset="-122"/>
                <a:cs typeface="Calibri" pitchFamily="34" charset="-120"/>
              </a:rPr>
              <a:t>SHIVAJI MAHARAJ'S ASSOCIATION
</a:t>
            </a:r>
            <a:r>
              <a:rPr lang="en-US" sz="1150" dirty="0">
                <a:solidFill>
                  <a:srgbClr val="2A2622"/>
                </a:solidFill>
                <a:latin typeface="Calibri" pitchFamily="34" charset="0"/>
                <a:ea typeface="Calibri" pitchFamily="34" charset="-122"/>
                <a:cs typeface="Calibri" pitchFamily="34" charset="-120"/>
              </a:rPr>
              <a:t>Recaptured in 1670; held by the Marathas thereafter</a:t>
            </a:r>
            <a:endParaRPr lang="en-US" sz="1000" dirty="0"/>
          </a:p>
        </p:txBody>
      </p:sp>
      <p:sp>
        <p:nvSpPr>
          <p:cNvPr id="19" name="Text 16"/>
          <p:cNvSpPr/>
          <p:nvPr/>
        </p:nvSpPr>
        <p:spPr>
          <a:xfrm>
            <a:off x="457200" y="6473952"/>
            <a:ext cx="7315200" cy="274320"/>
          </a:xfrm>
          <a:prstGeom prst="rect">
            <a:avLst/>
          </a:prstGeom>
          <a:noFill/>
          <a:ln/>
        </p:spPr>
        <p:txBody>
          <a:bodyPr wrap="square" lIns="0" tIns="0" rIns="0" bIns="0" rtlCol="0" anchor="ctr"/>
          <a:lstStyle/>
          <a:p>
            <a:pPr marL="0" indent="0">
              <a:buNone/>
            </a:pPr>
            <a:r>
              <a:rPr lang="en-US" sz="900" i="1" dirty="0">
                <a:solidFill>
                  <a:srgbClr val="746E64"/>
                </a:solidFill>
                <a:latin typeface="Calibri" pitchFamily="34" charset="0"/>
                <a:ea typeface="Calibri" pitchFamily="34" charset="-122"/>
                <a:cs typeface="Calibri" pitchFamily="34" charset="-120"/>
              </a:rPr>
              <a:t>Sinhagad Fort (1/2)</a:t>
            </a:r>
            <a:endParaRPr lang="en-US" sz="900" dirty="0"/>
          </a:p>
        </p:txBody>
      </p:sp>
      <p:sp>
        <p:nvSpPr>
          <p:cNvPr id="20" name="Text 1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746E64"/>
                </a:solidFill>
                <a:latin typeface="Calibri" pitchFamily="34" charset="0"/>
                <a:ea typeface="Calibri" pitchFamily="34" charset="-122"/>
                <a:cs typeface="Calibri" pitchFamily="34" charset="-120"/>
              </a:rPr>
              <a:t>13</a:t>
            </a:r>
            <a:endParaRPr lang="en-US" sz="900" dirty="0"/>
          </a:p>
        </p:txBody>
      </p:sp>
      <p:pic>
        <p:nvPicPr>
          <p:cNvPr id="23" name="Picture 22" descr="The entrance to the Sinhagad Fort. Pune, Maharashtra, India .">
            <a:extLst>
              <a:ext uri="{FF2B5EF4-FFF2-40B4-BE49-F238E27FC236}">
                <a16:creationId xmlns:a16="http://schemas.microsoft.com/office/drawing/2014/main" id="{716E16C6-9A47-495C-124F-B3EE4266108A}"/>
              </a:ext>
            </a:extLst>
          </p:cNvPr>
          <p:cNvPicPr>
            <a:picLocks noChangeAspect="1"/>
          </p:cNvPicPr>
          <p:nvPr/>
        </p:nvPicPr>
        <p:blipFill>
          <a:blip r:embed="rId4"/>
          <a:stretch>
            <a:fillRect/>
          </a:stretch>
        </p:blipFill>
        <p:spPr>
          <a:xfrm>
            <a:off x="7162801" y="841248"/>
            <a:ext cx="4007398" cy="59257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3E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C98A2B"/>
          </a:solidFill>
          <a:ln/>
        </p:spPr>
      </p:sp>
      <p:pic>
        <p:nvPicPr>
          <p:cNvPr id="3" name="Image 0" descr="/home/claude/forts/assets/fort_icon_white.png"/>
          <p:cNvPicPr>
            <a:picLocks noChangeAspect="1"/>
          </p:cNvPicPr>
          <p:nvPr/>
        </p:nvPicPr>
        <p:blipFill>
          <a:blip r:embed="rId3"/>
          <a:stretch>
            <a:fillRect/>
          </a:stretch>
        </p:blipFill>
        <p:spPr>
          <a:xfrm>
            <a:off x="576072" y="502920"/>
            <a:ext cx="329184" cy="329184"/>
          </a:xfrm>
          <a:prstGeom prst="rect">
            <a:avLst/>
          </a:prstGeom>
        </p:spPr>
      </p:pic>
      <p:sp>
        <p:nvSpPr>
          <p:cNvPr id="4" name="Text 1"/>
          <p:cNvSpPr/>
          <p:nvPr/>
        </p:nvSpPr>
        <p:spPr>
          <a:xfrm>
            <a:off x="1170432" y="310896"/>
            <a:ext cx="8778240" cy="457200"/>
          </a:xfrm>
          <a:prstGeom prst="rect">
            <a:avLst/>
          </a:prstGeom>
          <a:noFill/>
          <a:ln/>
        </p:spPr>
        <p:txBody>
          <a:bodyPr wrap="square" lIns="0" tIns="0" rIns="0" bIns="0" rtlCol="0" anchor="b"/>
          <a:lstStyle/>
          <a:p>
            <a:pPr marL="0" indent="0">
              <a:buNone/>
            </a:pPr>
            <a:r>
              <a:rPr lang="en-US" sz="2700" b="1" dirty="0">
                <a:solidFill>
                  <a:srgbClr val="7A2E2E"/>
                </a:solidFill>
                <a:latin typeface="Cambria" pitchFamily="34" charset="0"/>
                <a:ea typeface="Cambria" pitchFamily="34" charset="-122"/>
                <a:cs typeface="Cambria" pitchFamily="34" charset="-120"/>
              </a:rPr>
              <a:t>Sinhagad Fort</a:t>
            </a:r>
            <a:endParaRPr lang="en-US" sz="2700" dirty="0"/>
          </a:p>
        </p:txBody>
      </p:sp>
      <p:sp>
        <p:nvSpPr>
          <p:cNvPr id="5" name="Text 2"/>
          <p:cNvSpPr/>
          <p:nvPr/>
        </p:nvSpPr>
        <p:spPr>
          <a:xfrm>
            <a:off x="1188720" y="786384"/>
            <a:ext cx="8778240" cy="274320"/>
          </a:xfrm>
          <a:prstGeom prst="rect">
            <a:avLst/>
          </a:prstGeom>
          <a:noFill/>
          <a:ln/>
        </p:spPr>
        <p:txBody>
          <a:bodyPr wrap="square" lIns="0" tIns="0" rIns="0" bIns="0" rtlCol="0" anchor="ctr"/>
          <a:lstStyle/>
          <a:p>
            <a:pPr marL="0" indent="0">
              <a:buNone/>
            </a:pPr>
            <a:r>
              <a:rPr lang="en-US" sz="1250" i="1" dirty="0">
                <a:solidFill>
                  <a:srgbClr val="746E64"/>
                </a:solidFill>
                <a:latin typeface="Calibri" pitchFamily="34" charset="0"/>
                <a:ea typeface="Calibri" pitchFamily="34" charset="-122"/>
                <a:cs typeface="Calibri" pitchFamily="34" charset="-120"/>
              </a:rPr>
              <a:t>Architecture, Location &amp; Legacy</a:t>
            </a:r>
            <a:endParaRPr lang="en-US" sz="1250" dirty="0"/>
          </a:p>
        </p:txBody>
      </p:sp>
      <p:sp>
        <p:nvSpPr>
          <p:cNvPr id="6" name="Shape 3"/>
          <p:cNvSpPr/>
          <p:nvPr/>
        </p:nvSpPr>
        <p:spPr>
          <a:xfrm>
            <a:off x="9445752" y="438912"/>
            <a:ext cx="2286000" cy="384048"/>
          </a:xfrm>
          <a:prstGeom prst="roundRect">
            <a:avLst>
              <a:gd name="adj" fmla="val 19048"/>
            </a:avLst>
          </a:prstGeom>
          <a:solidFill>
            <a:srgbClr val="F3E4C6"/>
          </a:solidFill>
          <a:ln w="12700">
            <a:solidFill>
              <a:srgbClr val="C98A2B"/>
            </a:solidFill>
            <a:prstDash val="solid"/>
          </a:ln>
        </p:spPr>
      </p:sp>
      <p:sp>
        <p:nvSpPr>
          <p:cNvPr id="7" name="Text 4"/>
          <p:cNvSpPr/>
          <p:nvPr/>
        </p:nvSpPr>
        <p:spPr>
          <a:xfrm>
            <a:off x="9445752" y="438912"/>
            <a:ext cx="2286000" cy="384048"/>
          </a:xfrm>
          <a:prstGeom prst="rect">
            <a:avLst/>
          </a:prstGeom>
          <a:noFill/>
          <a:ln/>
        </p:spPr>
        <p:txBody>
          <a:bodyPr wrap="square" lIns="0" tIns="0" rIns="0" bIns="0" rtlCol="0" anchor="ctr"/>
          <a:lstStyle/>
          <a:p>
            <a:pPr marL="0" indent="0" algn="ctr">
              <a:buNone/>
            </a:pPr>
            <a:r>
              <a:rPr lang="en-US" sz="1100" b="1" dirty="0">
                <a:solidFill>
                  <a:srgbClr val="7A2E2E"/>
                </a:solidFill>
                <a:latin typeface="Calibri" pitchFamily="34" charset="0"/>
                <a:ea typeface="Calibri" pitchFamily="34" charset="-122"/>
                <a:cs typeface="Calibri" pitchFamily="34" charset="-120"/>
              </a:rPr>
              <a:t>Hill fort</a:t>
            </a:r>
            <a:endParaRPr lang="en-US" sz="1100" dirty="0"/>
          </a:p>
        </p:txBody>
      </p:sp>
      <p:sp>
        <p:nvSpPr>
          <p:cNvPr id="8" name="Text 5"/>
          <p:cNvSpPr/>
          <p:nvPr/>
        </p:nvSpPr>
        <p:spPr>
          <a:xfrm>
            <a:off x="457200" y="1325880"/>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ARCHITECTURAL FEATURES</a:t>
            </a:r>
            <a:endParaRPr lang="en-US" sz="1300" dirty="0"/>
          </a:p>
        </p:txBody>
      </p:sp>
      <p:sp>
        <p:nvSpPr>
          <p:cNvPr id="9" name="Text 6"/>
          <p:cNvSpPr/>
          <p:nvPr/>
        </p:nvSpPr>
        <p:spPr>
          <a:xfrm>
            <a:off x="457200" y="1627632"/>
            <a:ext cx="5760720" cy="4572000"/>
          </a:xfrm>
          <a:prstGeom prst="rect">
            <a:avLst/>
          </a:prstGeom>
          <a:noFill/>
          <a:ln/>
        </p:spPr>
        <p:txBody>
          <a:bodyPr wrap="square" lIns="0" tIns="0" rIns="0" bIns="0" rtlCol="0" anchor="t"/>
          <a:lstStyle/>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Kalyan Darwaza and Pune Darwaza — the fort’s two main gates</a:t>
            </a:r>
            <a:endParaRPr lang="en-US" sz="1200" dirty="0"/>
          </a:p>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Tanaji Malusare’s memorial near the point of assault</a:t>
            </a:r>
            <a:endParaRPr lang="en-US" sz="1200" dirty="0"/>
          </a:p>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Amruteshwar temple and Dev Tak water tank</a:t>
            </a:r>
            <a:endParaRPr lang="en-US" sz="1200" dirty="0"/>
          </a:p>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Zunjar Buruj bastion with sheer rock-face defences</a:t>
            </a:r>
            <a:endParaRPr lang="en-US" sz="1200" dirty="0"/>
          </a:p>
        </p:txBody>
      </p:sp>
      <p:sp>
        <p:nvSpPr>
          <p:cNvPr id="10" name="Text 7"/>
          <p:cNvSpPr/>
          <p:nvPr/>
        </p:nvSpPr>
        <p:spPr>
          <a:xfrm>
            <a:off x="457200" y="3776472"/>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SUGGESTED PHOTOGRAPHS</a:t>
            </a:r>
            <a:endParaRPr lang="en-US" sz="1300" dirty="0"/>
          </a:p>
        </p:txBody>
      </p:sp>
      <p:sp>
        <p:nvSpPr>
          <p:cNvPr id="11" name="Shape 8"/>
          <p:cNvSpPr/>
          <p:nvPr/>
        </p:nvSpPr>
        <p:spPr>
          <a:xfrm>
            <a:off x="457200" y="4096512"/>
            <a:ext cx="2798064" cy="868680"/>
          </a:xfrm>
          <a:prstGeom prst="roundRect">
            <a:avLst>
              <a:gd name="adj" fmla="val 6316"/>
            </a:avLst>
          </a:prstGeom>
          <a:solidFill>
            <a:srgbClr val="FFFFFF"/>
          </a:solidFill>
          <a:ln w="12700">
            <a:solidFill>
              <a:srgbClr val="DCD5C7"/>
            </a:solidFill>
            <a:prstDash val="dash"/>
          </a:ln>
        </p:spPr>
      </p:sp>
      <p:sp>
        <p:nvSpPr>
          <p:cNvPr id="12" name="Text 9"/>
          <p:cNvSpPr/>
          <p:nvPr/>
        </p:nvSpPr>
        <p:spPr>
          <a:xfrm>
            <a:off x="566928" y="4096512"/>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Kalyan Darwaza gate</a:t>
            </a:r>
            <a:endParaRPr lang="en-US" sz="1300" dirty="0"/>
          </a:p>
        </p:txBody>
      </p:sp>
      <p:sp>
        <p:nvSpPr>
          <p:cNvPr id="13" name="Shape 10"/>
          <p:cNvSpPr/>
          <p:nvPr/>
        </p:nvSpPr>
        <p:spPr>
          <a:xfrm>
            <a:off x="3419856" y="4096512"/>
            <a:ext cx="2798064" cy="868680"/>
          </a:xfrm>
          <a:prstGeom prst="roundRect">
            <a:avLst>
              <a:gd name="adj" fmla="val 6316"/>
            </a:avLst>
          </a:prstGeom>
          <a:solidFill>
            <a:srgbClr val="FFFFFF"/>
          </a:solidFill>
          <a:ln w="12700">
            <a:solidFill>
              <a:srgbClr val="DCD5C7"/>
            </a:solidFill>
            <a:prstDash val="dash"/>
          </a:ln>
        </p:spPr>
      </p:sp>
      <p:sp>
        <p:nvSpPr>
          <p:cNvPr id="14" name="Text 11"/>
          <p:cNvSpPr/>
          <p:nvPr/>
        </p:nvSpPr>
        <p:spPr>
          <a:xfrm>
            <a:off x="3529584" y="4096512"/>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Tanaji Malusare memorial</a:t>
            </a:r>
            <a:endParaRPr lang="en-US" sz="1300" dirty="0"/>
          </a:p>
        </p:txBody>
      </p:sp>
      <p:sp>
        <p:nvSpPr>
          <p:cNvPr id="15" name="Shape 12"/>
          <p:cNvSpPr/>
          <p:nvPr/>
        </p:nvSpPr>
        <p:spPr>
          <a:xfrm>
            <a:off x="457200" y="5129784"/>
            <a:ext cx="2798064" cy="868680"/>
          </a:xfrm>
          <a:prstGeom prst="roundRect">
            <a:avLst>
              <a:gd name="adj" fmla="val 6316"/>
            </a:avLst>
          </a:prstGeom>
          <a:solidFill>
            <a:srgbClr val="FFFFFF"/>
          </a:solidFill>
          <a:ln w="12700">
            <a:solidFill>
              <a:srgbClr val="DCD5C7"/>
            </a:solidFill>
            <a:prstDash val="dash"/>
          </a:ln>
        </p:spPr>
      </p:sp>
      <p:sp>
        <p:nvSpPr>
          <p:cNvPr id="16" name="Text 13"/>
          <p:cNvSpPr/>
          <p:nvPr/>
        </p:nvSpPr>
        <p:spPr>
          <a:xfrm>
            <a:off x="566928" y="5129784"/>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Zunjar Buruj cliff bastion</a:t>
            </a:r>
            <a:endParaRPr lang="en-US" sz="1300" dirty="0"/>
          </a:p>
        </p:txBody>
      </p:sp>
      <p:sp>
        <p:nvSpPr>
          <p:cNvPr id="17" name="Shape 14"/>
          <p:cNvSpPr/>
          <p:nvPr/>
        </p:nvSpPr>
        <p:spPr>
          <a:xfrm>
            <a:off x="3419856" y="5129784"/>
            <a:ext cx="2798064" cy="868680"/>
          </a:xfrm>
          <a:prstGeom prst="roundRect">
            <a:avLst>
              <a:gd name="adj" fmla="val 6316"/>
            </a:avLst>
          </a:prstGeom>
          <a:solidFill>
            <a:srgbClr val="FFFFFF"/>
          </a:solidFill>
          <a:ln w="12700">
            <a:solidFill>
              <a:srgbClr val="DCD5C7"/>
            </a:solidFill>
            <a:prstDash val="dash"/>
          </a:ln>
        </p:spPr>
      </p:sp>
      <p:sp>
        <p:nvSpPr>
          <p:cNvPr id="18" name="Text 15"/>
          <p:cNvSpPr/>
          <p:nvPr/>
        </p:nvSpPr>
        <p:spPr>
          <a:xfrm>
            <a:off x="3529584" y="5129784"/>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Panoramic view near Pune</a:t>
            </a:r>
            <a:endParaRPr lang="en-US" sz="1300" dirty="0"/>
          </a:p>
        </p:txBody>
      </p:sp>
      <p:sp>
        <p:nvSpPr>
          <p:cNvPr id="19" name="Shape 16"/>
          <p:cNvSpPr/>
          <p:nvPr/>
        </p:nvSpPr>
        <p:spPr>
          <a:xfrm>
            <a:off x="8659368" y="1344168"/>
            <a:ext cx="1648090" cy="2478024"/>
          </a:xfrm>
          <a:prstGeom prst="roundRect">
            <a:avLst>
              <a:gd name="adj" fmla="val 2774"/>
            </a:avLst>
          </a:prstGeom>
          <a:solidFill>
            <a:srgbClr val="FFFFFF"/>
          </a:solidFill>
          <a:ln w="12700">
            <a:solidFill>
              <a:srgbClr val="DCD5C7"/>
            </a:solidFill>
            <a:prstDash val="solid"/>
          </a:ln>
        </p:spPr>
      </p:sp>
      <p:pic>
        <p:nvPicPr>
          <p:cNvPr id="20" name="Image 1" descr="/home/claude/forts/assets/map_sinhagad.png"/>
          <p:cNvPicPr>
            <a:picLocks noChangeAspect="1"/>
          </p:cNvPicPr>
          <p:nvPr/>
        </p:nvPicPr>
        <p:blipFill>
          <a:blip r:embed="rId4"/>
          <a:stretch>
            <a:fillRect/>
          </a:stretch>
        </p:blipFill>
        <p:spPr>
          <a:xfrm>
            <a:off x="8732520" y="1417320"/>
            <a:ext cx="1501786" cy="2331720"/>
          </a:xfrm>
          <a:prstGeom prst="rect">
            <a:avLst/>
          </a:prstGeom>
        </p:spPr>
      </p:pic>
      <p:sp>
        <p:nvSpPr>
          <p:cNvPr id="21" name="Text 17"/>
          <p:cNvSpPr/>
          <p:nvPr/>
        </p:nvSpPr>
        <p:spPr>
          <a:xfrm>
            <a:off x="6583680" y="3858768"/>
            <a:ext cx="5120640" cy="274320"/>
          </a:xfrm>
          <a:prstGeom prst="rect">
            <a:avLst/>
          </a:prstGeom>
          <a:noFill/>
          <a:ln/>
        </p:spPr>
        <p:txBody>
          <a:bodyPr wrap="square" lIns="0" tIns="0" rIns="0" bIns="0" rtlCol="0" anchor="ctr"/>
          <a:lstStyle/>
          <a:p>
            <a:pPr marL="0" indent="0" algn="r">
              <a:buNone/>
            </a:pPr>
            <a:r>
              <a:rPr lang="en-US" sz="1000" i="1" dirty="0">
                <a:solidFill>
                  <a:srgbClr val="746E64"/>
                </a:solidFill>
                <a:latin typeface="Calibri" pitchFamily="34" charset="0"/>
                <a:ea typeface="Calibri" pitchFamily="34" charset="-122"/>
                <a:cs typeface="Calibri" pitchFamily="34" charset="-120"/>
              </a:rPr>
              <a:t>Location within Maharashtra</a:t>
            </a:r>
            <a:endParaRPr lang="en-US" sz="1000" dirty="0"/>
          </a:p>
        </p:txBody>
      </p:sp>
      <p:sp>
        <p:nvSpPr>
          <p:cNvPr id="22" name="Shape 18"/>
          <p:cNvSpPr/>
          <p:nvPr/>
        </p:nvSpPr>
        <p:spPr>
          <a:xfrm>
            <a:off x="7146758" y="4343400"/>
            <a:ext cx="4859314" cy="1746504"/>
          </a:xfrm>
          <a:prstGeom prst="roundRect">
            <a:avLst>
              <a:gd name="adj" fmla="val 4103"/>
            </a:avLst>
          </a:prstGeom>
          <a:solidFill>
            <a:srgbClr val="F3E4C6"/>
          </a:solidFill>
          <a:ln w="12700">
            <a:solidFill>
              <a:srgbClr val="C98A2B"/>
            </a:solidFill>
            <a:prstDash val="solid"/>
          </a:ln>
        </p:spPr>
      </p:sp>
      <p:sp>
        <p:nvSpPr>
          <p:cNvPr id="23" name="Text 19"/>
          <p:cNvSpPr/>
          <p:nvPr/>
        </p:nvSpPr>
        <p:spPr>
          <a:xfrm>
            <a:off x="7327392" y="4466164"/>
            <a:ext cx="4477511" cy="1495724"/>
          </a:xfrm>
          <a:prstGeom prst="rect">
            <a:avLst/>
          </a:prstGeom>
          <a:noFill/>
          <a:ln/>
        </p:spPr>
        <p:txBody>
          <a:bodyPr wrap="square" lIns="0" tIns="0" rIns="0" bIns="0" rtlCol="0" anchor="t"/>
          <a:lstStyle/>
          <a:p>
            <a:pPr marL="0" indent="0">
              <a:lnSpc>
                <a:spcPct val="115000"/>
              </a:lnSpc>
              <a:buNone/>
            </a:pPr>
            <a:r>
              <a:rPr lang="en-US" sz="1050" b="1" kern="0" spc="100" dirty="0">
                <a:solidFill>
                  <a:srgbClr val="7A2E2E"/>
                </a:solidFill>
                <a:latin typeface="Calibri" pitchFamily="34" charset="0"/>
                <a:ea typeface="Calibri" pitchFamily="34" charset="-122"/>
                <a:cs typeface="Calibri" pitchFamily="34" charset="-120"/>
              </a:rPr>
              <a:t>DID YOU KNOW?
</a:t>
            </a:r>
            <a:r>
              <a:rPr lang="en-US" sz="1150" i="1" dirty="0">
                <a:solidFill>
                  <a:srgbClr val="2A2622"/>
                </a:solidFill>
                <a:latin typeface="Calibri" pitchFamily="34" charset="0"/>
                <a:ea typeface="Calibri" pitchFamily="34" charset="-122"/>
                <a:cs typeface="Calibri" pitchFamily="34" charset="-120"/>
              </a:rPr>
              <a:t>Shivaji Maharaj is said to have remarked on hearing of Tanaji's death, "Gad ala pan Sinha gela" — "The fort is won, but the lion is lost."</a:t>
            </a:r>
            <a:endParaRPr lang="en-US" sz="1050" dirty="0"/>
          </a:p>
        </p:txBody>
      </p:sp>
      <p:sp>
        <p:nvSpPr>
          <p:cNvPr id="24" name="Text 20"/>
          <p:cNvSpPr/>
          <p:nvPr/>
        </p:nvSpPr>
        <p:spPr>
          <a:xfrm>
            <a:off x="457200" y="6473952"/>
            <a:ext cx="7315200" cy="274320"/>
          </a:xfrm>
          <a:prstGeom prst="rect">
            <a:avLst/>
          </a:prstGeom>
          <a:noFill/>
          <a:ln/>
        </p:spPr>
        <p:txBody>
          <a:bodyPr wrap="square" lIns="0" tIns="0" rIns="0" bIns="0" rtlCol="0" anchor="ctr"/>
          <a:lstStyle/>
          <a:p>
            <a:pPr marL="0" indent="0">
              <a:buNone/>
            </a:pPr>
            <a:r>
              <a:rPr lang="en-US" sz="900" i="1" dirty="0">
                <a:solidFill>
                  <a:srgbClr val="746E64"/>
                </a:solidFill>
                <a:latin typeface="Calibri" pitchFamily="34" charset="0"/>
                <a:ea typeface="Calibri" pitchFamily="34" charset="-122"/>
                <a:cs typeface="Calibri" pitchFamily="34" charset="-120"/>
              </a:rPr>
              <a:t>Sinhagad Fort (2/2)</a:t>
            </a:r>
            <a:endParaRPr lang="en-US" sz="900" dirty="0"/>
          </a:p>
        </p:txBody>
      </p:sp>
      <p:sp>
        <p:nvSpPr>
          <p:cNvPr id="25" name="Text 21"/>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746E64"/>
                </a:solidFill>
                <a:latin typeface="Calibri" pitchFamily="34" charset="0"/>
                <a:ea typeface="Calibri" pitchFamily="34" charset="-122"/>
                <a:cs typeface="Calibri" pitchFamily="34" charset="-120"/>
              </a:rPr>
              <a:t>14</a:t>
            </a:r>
            <a:endParaRPr lang="en-US" sz="900" dirty="0"/>
          </a:p>
        </p:txBody>
      </p:sp>
      <p:pic>
        <p:nvPicPr>
          <p:cNvPr id="26" name="Picture 25" descr="Pune Travel Guide: Find the Pune Tourist Guide Information at TimesTravel">
            <a:extLst>
              <a:ext uri="{FF2B5EF4-FFF2-40B4-BE49-F238E27FC236}">
                <a16:creationId xmlns:a16="http://schemas.microsoft.com/office/drawing/2014/main" id="{235233A6-F205-A7F8-75FA-F0EEDF952E93}"/>
              </a:ext>
            </a:extLst>
          </p:cNvPr>
          <p:cNvPicPr>
            <a:picLocks noChangeAspect="1"/>
          </p:cNvPicPr>
          <p:nvPr/>
        </p:nvPicPr>
        <p:blipFill>
          <a:blip r:embed="rId5"/>
          <a:stretch>
            <a:fillRect/>
          </a:stretch>
        </p:blipFill>
        <p:spPr>
          <a:xfrm>
            <a:off x="369403" y="2839453"/>
            <a:ext cx="6538889" cy="390881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3E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C98A2B"/>
          </a:solidFill>
          <a:ln/>
        </p:spPr>
      </p:sp>
      <p:pic>
        <p:nvPicPr>
          <p:cNvPr id="3" name="Image 0" descr="/home/claude/forts/assets/fort_icon_white.png"/>
          <p:cNvPicPr>
            <a:picLocks noChangeAspect="1"/>
          </p:cNvPicPr>
          <p:nvPr/>
        </p:nvPicPr>
        <p:blipFill>
          <a:blip r:embed="rId3"/>
          <a:stretch>
            <a:fillRect/>
          </a:stretch>
        </p:blipFill>
        <p:spPr>
          <a:xfrm>
            <a:off x="576072" y="502920"/>
            <a:ext cx="329184" cy="329184"/>
          </a:xfrm>
          <a:prstGeom prst="rect">
            <a:avLst/>
          </a:prstGeom>
        </p:spPr>
      </p:pic>
      <p:sp>
        <p:nvSpPr>
          <p:cNvPr id="4" name="Text 1"/>
          <p:cNvSpPr/>
          <p:nvPr/>
        </p:nvSpPr>
        <p:spPr>
          <a:xfrm>
            <a:off x="1170432" y="310896"/>
            <a:ext cx="8778240" cy="457200"/>
          </a:xfrm>
          <a:prstGeom prst="rect">
            <a:avLst/>
          </a:prstGeom>
          <a:noFill/>
          <a:ln/>
        </p:spPr>
        <p:txBody>
          <a:bodyPr wrap="square" lIns="0" tIns="0" rIns="0" bIns="0" rtlCol="0" anchor="b"/>
          <a:lstStyle/>
          <a:p>
            <a:pPr marL="0" indent="0">
              <a:buNone/>
            </a:pPr>
            <a:r>
              <a:rPr lang="en-US" sz="2700" b="1" dirty="0">
                <a:solidFill>
                  <a:srgbClr val="7A2E2E"/>
                </a:solidFill>
                <a:latin typeface="Cambria" pitchFamily="34" charset="0"/>
                <a:ea typeface="Cambria" pitchFamily="34" charset="-122"/>
                <a:cs typeface="Cambria" pitchFamily="34" charset="-120"/>
              </a:rPr>
              <a:t>Purandar Fort</a:t>
            </a:r>
            <a:endParaRPr lang="en-US" sz="2700" dirty="0"/>
          </a:p>
        </p:txBody>
      </p:sp>
      <p:sp>
        <p:nvSpPr>
          <p:cNvPr id="5" name="Text 2"/>
          <p:cNvSpPr/>
          <p:nvPr/>
        </p:nvSpPr>
        <p:spPr>
          <a:xfrm>
            <a:off x="1188720" y="786384"/>
            <a:ext cx="8778240" cy="274320"/>
          </a:xfrm>
          <a:prstGeom prst="rect">
            <a:avLst/>
          </a:prstGeom>
          <a:noFill/>
          <a:ln/>
        </p:spPr>
        <p:txBody>
          <a:bodyPr wrap="square" lIns="0" tIns="0" rIns="0" bIns="0" rtlCol="0" anchor="ctr"/>
          <a:lstStyle/>
          <a:p>
            <a:pPr marL="0" indent="0">
              <a:buNone/>
            </a:pPr>
            <a:r>
              <a:rPr lang="en-US" sz="1250" i="1" dirty="0">
                <a:solidFill>
                  <a:srgbClr val="746E64"/>
                </a:solidFill>
                <a:latin typeface="Calibri" pitchFamily="34" charset="0"/>
                <a:ea typeface="Calibri" pitchFamily="34" charset="-122"/>
                <a:cs typeface="Calibri" pitchFamily="34" charset="-120"/>
              </a:rPr>
              <a:t>Twin fort with Vajragad  •  Saswad, Purandar Taluka, Pune District, Maharashtra</a:t>
            </a:r>
            <a:endParaRPr lang="en-US" sz="1250" dirty="0"/>
          </a:p>
        </p:txBody>
      </p:sp>
      <p:sp>
        <p:nvSpPr>
          <p:cNvPr id="6" name="Shape 3"/>
          <p:cNvSpPr/>
          <p:nvPr/>
        </p:nvSpPr>
        <p:spPr>
          <a:xfrm>
            <a:off x="9445752" y="438912"/>
            <a:ext cx="2286000" cy="384048"/>
          </a:xfrm>
          <a:prstGeom prst="roundRect">
            <a:avLst>
              <a:gd name="adj" fmla="val 19048"/>
            </a:avLst>
          </a:prstGeom>
          <a:solidFill>
            <a:srgbClr val="F3E4C6"/>
          </a:solidFill>
          <a:ln w="12700">
            <a:solidFill>
              <a:srgbClr val="C98A2B"/>
            </a:solidFill>
            <a:prstDash val="solid"/>
          </a:ln>
        </p:spPr>
      </p:sp>
      <p:sp>
        <p:nvSpPr>
          <p:cNvPr id="7" name="Text 4"/>
          <p:cNvSpPr/>
          <p:nvPr/>
        </p:nvSpPr>
        <p:spPr>
          <a:xfrm>
            <a:off x="9445752" y="438912"/>
            <a:ext cx="2286000" cy="384048"/>
          </a:xfrm>
          <a:prstGeom prst="rect">
            <a:avLst/>
          </a:prstGeom>
          <a:noFill/>
          <a:ln/>
        </p:spPr>
        <p:txBody>
          <a:bodyPr wrap="square" lIns="0" tIns="0" rIns="0" bIns="0" rtlCol="0" anchor="ctr"/>
          <a:lstStyle/>
          <a:p>
            <a:pPr marL="0" indent="0" algn="ctr">
              <a:buNone/>
            </a:pPr>
            <a:r>
              <a:rPr lang="en-US" sz="1100" b="1" dirty="0">
                <a:solidFill>
                  <a:srgbClr val="7A2E2E"/>
                </a:solidFill>
                <a:latin typeface="Calibri" pitchFamily="34" charset="0"/>
                <a:ea typeface="Calibri" pitchFamily="34" charset="-122"/>
                <a:cs typeface="Calibri" pitchFamily="34" charset="-120"/>
              </a:rPr>
              <a:t>Hill fort</a:t>
            </a:r>
            <a:endParaRPr lang="en-US" sz="1100" dirty="0"/>
          </a:p>
        </p:txBody>
      </p:sp>
      <p:sp>
        <p:nvSpPr>
          <p:cNvPr id="8" name="Text 5"/>
          <p:cNvSpPr/>
          <p:nvPr/>
        </p:nvSpPr>
        <p:spPr>
          <a:xfrm>
            <a:off x="457200" y="1325880"/>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HISTORY</a:t>
            </a:r>
            <a:endParaRPr lang="en-US" sz="1300" dirty="0"/>
          </a:p>
        </p:txBody>
      </p:sp>
      <p:sp>
        <p:nvSpPr>
          <p:cNvPr id="9" name="Text 6"/>
          <p:cNvSpPr/>
          <p:nvPr/>
        </p:nvSpPr>
        <p:spPr>
          <a:xfrm>
            <a:off x="457200" y="1627632"/>
            <a:ext cx="5760720" cy="4572000"/>
          </a:xfrm>
          <a:prstGeom prst="rect">
            <a:avLst/>
          </a:prstGeom>
          <a:noFill/>
          <a:ln/>
        </p:spPr>
        <p:txBody>
          <a:bodyPr wrap="square" lIns="0" tIns="0" rIns="0" bIns="0" rtlCol="0" anchor="t"/>
          <a:lstStyle/>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An ancient fort with roots in Bahmani, Nizamshahi and Adilshahi rule before coming under Shivaji’s control in the late 1640s</a:t>
            </a:r>
            <a:endParaRPr lang="en-US" sz="1250" dirty="0"/>
          </a:p>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Twin-fortified with the adjoining Vajragad on the same ridge</a:t>
            </a:r>
            <a:endParaRPr lang="en-US" sz="1250" dirty="0"/>
          </a:p>
        </p:txBody>
      </p:sp>
      <p:sp>
        <p:nvSpPr>
          <p:cNvPr id="10" name="Text 7"/>
          <p:cNvSpPr/>
          <p:nvPr/>
        </p:nvSpPr>
        <p:spPr>
          <a:xfrm>
            <a:off x="457200" y="2990088"/>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ROLE IN SHIVAJI'S SWARAJYA</a:t>
            </a:r>
            <a:endParaRPr lang="en-US" sz="1300" dirty="0"/>
          </a:p>
        </p:txBody>
      </p:sp>
      <p:sp>
        <p:nvSpPr>
          <p:cNvPr id="11" name="Text 8"/>
          <p:cNvSpPr/>
          <p:nvPr/>
        </p:nvSpPr>
        <p:spPr>
          <a:xfrm>
            <a:off x="457200" y="3291840"/>
            <a:ext cx="5760720" cy="4572000"/>
          </a:xfrm>
          <a:prstGeom prst="rect">
            <a:avLst/>
          </a:prstGeom>
          <a:noFill/>
          <a:ln/>
        </p:spPr>
        <p:txBody>
          <a:bodyPr wrap="square" lIns="0" tIns="0" rIns="0" bIns="0" rtlCol="0" anchor="t"/>
          <a:lstStyle/>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Served as an important early military base and treasury for Swarajya</a:t>
            </a:r>
            <a:endParaRPr lang="en-US" sz="1250" dirty="0"/>
          </a:p>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Site of the fierce 1665 siege where commander Murarbaji Deshpande died defending the fort against Mirza Raja Jai Singh</a:t>
            </a:r>
            <a:endParaRPr lang="en-US" sz="1250" dirty="0"/>
          </a:p>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The resulting Treaty of Purandar (1665) forced Shivaji to cede 23 forts to the Mughals, but preserved the core of Swarajya</a:t>
            </a:r>
            <a:endParaRPr lang="en-US" sz="1250" dirty="0"/>
          </a:p>
        </p:txBody>
      </p:sp>
      <p:sp>
        <p:nvSpPr>
          <p:cNvPr id="12" name="Text 9"/>
          <p:cNvSpPr/>
          <p:nvPr/>
        </p:nvSpPr>
        <p:spPr>
          <a:xfrm>
            <a:off x="6537960" y="1325880"/>
            <a:ext cx="512064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KEY EVENTS</a:t>
            </a:r>
            <a:endParaRPr lang="en-US" sz="1300" dirty="0"/>
          </a:p>
        </p:txBody>
      </p:sp>
      <p:sp>
        <p:nvSpPr>
          <p:cNvPr id="13" name="Shape 10"/>
          <p:cNvSpPr/>
          <p:nvPr/>
        </p:nvSpPr>
        <p:spPr>
          <a:xfrm>
            <a:off x="6583680" y="1737360"/>
            <a:ext cx="109728" cy="109728"/>
          </a:xfrm>
          <a:prstGeom prst="ellipse">
            <a:avLst/>
          </a:prstGeom>
          <a:solidFill>
            <a:srgbClr val="7A2E2E"/>
          </a:solidFill>
          <a:ln/>
        </p:spPr>
      </p:sp>
      <p:sp>
        <p:nvSpPr>
          <p:cNvPr id="14" name="Text 11"/>
          <p:cNvSpPr/>
          <p:nvPr/>
        </p:nvSpPr>
        <p:spPr>
          <a:xfrm>
            <a:off x="6839712" y="1618488"/>
            <a:ext cx="4864608" cy="457200"/>
          </a:xfrm>
          <a:prstGeom prst="rect">
            <a:avLst/>
          </a:prstGeom>
          <a:noFill/>
          <a:ln/>
        </p:spPr>
        <p:txBody>
          <a:bodyPr wrap="square" lIns="0" tIns="0" rIns="0" bIns="0" rtlCol="0" anchor="t"/>
          <a:lstStyle/>
          <a:p>
            <a:pPr marL="0" indent="0">
              <a:lnSpc>
                <a:spcPct val="110000"/>
              </a:lnSpc>
              <a:buNone/>
            </a:pPr>
            <a:r>
              <a:rPr lang="en-US" sz="1200" b="1" dirty="0">
                <a:solidFill>
                  <a:srgbClr val="7A2E2E"/>
                </a:solidFill>
                <a:latin typeface="Calibri" pitchFamily="34" charset="0"/>
                <a:ea typeface="Calibri" pitchFamily="34" charset="-122"/>
                <a:cs typeface="Calibri" pitchFamily="34" charset="-120"/>
              </a:rPr>
              <a:t>1657  </a:t>
            </a:r>
            <a:r>
              <a:rPr lang="en-US" sz="1200" dirty="0">
                <a:solidFill>
                  <a:srgbClr val="2A2622"/>
                </a:solidFill>
                <a:latin typeface="Calibri" pitchFamily="34" charset="0"/>
                <a:ea typeface="Calibri" pitchFamily="34" charset="-122"/>
                <a:cs typeface="Calibri" pitchFamily="34" charset="-120"/>
              </a:rPr>
              <a:t>Birth of Sambhaji, Shivaji’s son and successor</a:t>
            </a:r>
            <a:endParaRPr lang="en-US" sz="1200" dirty="0"/>
          </a:p>
        </p:txBody>
      </p:sp>
      <p:sp>
        <p:nvSpPr>
          <p:cNvPr id="15" name="Shape 12"/>
          <p:cNvSpPr/>
          <p:nvPr/>
        </p:nvSpPr>
        <p:spPr>
          <a:xfrm>
            <a:off x="6583680" y="2304288"/>
            <a:ext cx="109728" cy="109728"/>
          </a:xfrm>
          <a:prstGeom prst="ellipse">
            <a:avLst/>
          </a:prstGeom>
          <a:solidFill>
            <a:srgbClr val="7A2E2E"/>
          </a:solidFill>
          <a:ln/>
        </p:spPr>
      </p:sp>
      <p:sp>
        <p:nvSpPr>
          <p:cNvPr id="16" name="Text 13"/>
          <p:cNvSpPr/>
          <p:nvPr/>
        </p:nvSpPr>
        <p:spPr>
          <a:xfrm>
            <a:off x="6839712" y="2185416"/>
            <a:ext cx="4864608" cy="457200"/>
          </a:xfrm>
          <a:prstGeom prst="rect">
            <a:avLst/>
          </a:prstGeom>
          <a:noFill/>
          <a:ln/>
        </p:spPr>
        <p:txBody>
          <a:bodyPr wrap="square" lIns="0" tIns="0" rIns="0" bIns="0" rtlCol="0" anchor="t"/>
          <a:lstStyle/>
          <a:p>
            <a:pPr marL="0" indent="0">
              <a:lnSpc>
                <a:spcPct val="110000"/>
              </a:lnSpc>
              <a:buNone/>
            </a:pPr>
            <a:r>
              <a:rPr lang="en-US" sz="1200" b="1" dirty="0">
                <a:solidFill>
                  <a:srgbClr val="7A2E2E"/>
                </a:solidFill>
                <a:latin typeface="Calibri" pitchFamily="34" charset="0"/>
                <a:ea typeface="Calibri" pitchFamily="34" charset="-122"/>
                <a:cs typeface="Calibri" pitchFamily="34" charset="-120"/>
              </a:rPr>
              <a:t>1665  </a:t>
            </a:r>
            <a:r>
              <a:rPr lang="en-US" sz="1200" dirty="0">
                <a:solidFill>
                  <a:srgbClr val="2A2622"/>
                </a:solidFill>
                <a:latin typeface="Calibri" pitchFamily="34" charset="0"/>
                <a:ea typeface="Calibri" pitchFamily="34" charset="-122"/>
                <a:cs typeface="Calibri" pitchFamily="34" charset="-120"/>
              </a:rPr>
              <a:t>Siege of Purandar and the Treaty of Purandar with Mirza Raja Jai Singh</a:t>
            </a:r>
            <a:endParaRPr lang="en-US" sz="1200" dirty="0"/>
          </a:p>
        </p:txBody>
      </p:sp>
      <p:sp>
        <p:nvSpPr>
          <p:cNvPr id="17" name="Shape 14"/>
          <p:cNvSpPr/>
          <p:nvPr/>
        </p:nvSpPr>
        <p:spPr>
          <a:xfrm>
            <a:off x="6583680" y="2871216"/>
            <a:ext cx="109728" cy="109728"/>
          </a:xfrm>
          <a:prstGeom prst="ellipse">
            <a:avLst/>
          </a:prstGeom>
          <a:solidFill>
            <a:srgbClr val="7A2E2E"/>
          </a:solidFill>
          <a:ln/>
        </p:spPr>
      </p:sp>
      <p:sp>
        <p:nvSpPr>
          <p:cNvPr id="18" name="Text 15"/>
          <p:cNvSpPr/>
          <p:nvPr/>
        </p:nvSpPr>
        <p:spPr>
          <a:xfrm>
            <a:off x="6839712" y="2752344"/>
            <a:ext cx="4864608" cy="457200"/>
          </a:xfrm>
          <a:prstGeom prst="rect">
            <a:avLst/>
          </a:prstGeom>
          <a:noFill/>
          <a:ln/>
        </p:spPr>
        <p:txBody>
          <a:bodyPr wrap="square" lIns="0" tIns="0" rIns="0" bIns="0" rtlCol="0" anchor="t"/>
          <a:lstStyle/>
          <a:p>
            <a:pPr marL="0" indent="0">
              <a:lnSpc>
                <a:spcPct val="110000"/>
              </a:lnSpc>
              <a:buNone/>
            </a:pPr>
            <a:r>
              <a:rPr lang="en-US" sz="1200" b="1" dirty="0">
                <a:solidFill>
                  <a:srgbClr val="7A2E2E"/>
                </a:solidFill>
                <a:latin typeface="Calibri" pitchFamily="34" charset="0"/>
                <a:ea typeface="Calibri" pitchFamily="34" charset="-122"/>
                <a:cs typeface="Calibri" pitchFamily="34" charset="-120"/>
              </a:rPr>
              <a:t>1670  </a:t>
            </a:r>
            <a:r>
              <a:rPr lang="en-US" sz="1200" dirty="0">
                <a:solidFill>
                  <a:srgbClr val="2A2622"/>
                </a:solidFill>
                <a:latin typeface="Calibri" pitchFamily="34" charset="0"/>
                <a:ea typeface="Calibri" pitchFamily="34" charset="-122"/>
                <a:cs typeface="Calibri" pitchFamily="34" charset="-120"/>
              </a:rPr>
              <a:t>Recaptured by the Marathas</a:t>
            </a:r>
            <a:endParaRPr lang="en-US" sz="1200" dirty="0"/>
          </a:p>
        </p:txBody>
      </p:sp>
      <p:sp>
        <p:nvSpPr>
          <p:cNvPr id="19" name="Shape 16"/>
          <p:cNvSpPr/>
          <p:nvPr/>
        </p:nvSpPr>
        <p:spPr>
          <a:xfrm>
            <a:off x="457200" y="5056632"/>
            <a:ext cx="5120640" cy="777240"/>
          </a:xfrm>
          <a:prstGeom prst="roundRect">
            <a:avLst>
              <a:gd name="adj" fmla="val 9412"/>
            </a:avLst>
          </a:prstGeom>
          <a:solidFill>
            <a:srgbClr val="F3E4C6"/>
          </a:solidFill>
          <a:ln w="12700">
            <a:solidFill>
              <a:srgbClr val="C98A2B"/>
            </a:solidFill>
            <a:prstDash val="solid"/>
          </a:ln>
        </p:spPr>
      </p:sp>
      <p:sp>
        <p:nvSpPr>
          <p:cNvPr id="20" name="Text 17"/>
          <p:cNvSpPr/>
          <p:nvPr/>
        </p:nvSpPr>
        <p:spPr>
          <a:xfrm>
            <a:off x="640080" y="5138928"/>
            <a:ext cx="4754880" cy="640080"/>
          </a:xfrm>
          <a:prstGeom prst="rect">
            <a:avLst/>
          </a:prstGeom>
          <a:noFill/>
          <a:ln/>
        </p:spPr>
        <p:txBody>
          <a:bodyPr wrap="square" lIns="0" tIns="0" rIns="0" bIns="0" rtlCol="0" anchor="t"/>
          <a:lstStyle/>
          <a:p>
            <a:pPr marL="0" indent="0">
              <a:lnSpc>
                <a:spcPct val="115000"/>
              </a:lnSpc>
              <a:buNone/>
            </a:pPr>
            <a:r>
              <a:rPr lang="en-US" sz="1000" b="1" kern="0" spc="100" dirty="0">
                <a:solidFill>
                  <a:srgbClr val="7A2E2E"/>
                </a:solidFill>
                <a:latin typeface="Calibri" pitchFamily="34" charset="0"/>
                <a:ea typeface="Calibri" pitchFamily="34" charset="-122"/>
                <a:cs typeface="Calibri" pitchFamily="34" charset="-120"/>
              </a:rPr>
              <a:t>SHIVAJI MAHARAJ'S ASSOCIATION
</a:t>
            </a:r>
            <a:r>
              <a:rPr lang="en-US" sz="1150" dirty="0">
                <a:solidFill>
                  <a:srgbClr val="2A2622"/>
                </a:solidFill>
                <a:latin typeface="Calibri" pitchFamily="34" charset="0"/>
                <a:ea typeface="Calibri" pitchFamily="34" charset="-122"/>
                <a:cs typeface="Calibri" pitchFamily="34" charset="-120"/>
              </a:rPr>
              <a:t>Under Maratha control from the late 1640s; briefly ceded in 1665, recovered in 1670</a:t>
            </a:r>
            <a:endParaRPr lang="en-US" sz="1000" dirty="0"/>
          </a:p>
        </p:txBody>
      </p:sp>
      <p:sp>
        <p:nvSpPr>
          <p:cNvPr id="21" name="Text 18"/>
          <p:cNvSpPr/>
          <p:nvPr/>
        </p:nvSpPr>
        <p:spPr>
          <a:xfrm>
            <a:off x="457200" y="6473952"/>
            <a:ext cx="7315200" cy="274320"/>
          </a:xfrm>
          <a:prstGeom prst="rect">
            <a:avLst/>
          </a:prstGeom>
          <a:noFill/>
          <a:ln/>
        </p:spPr>
        <p:txBody>
          <a:bodyPr wrap="square" lIns="0" tIns="0" rIns="0" bIns="0" rtlCol="0" anchor="ctr"/>
          <a:lstStyle/>
          <a:p>
            <a:pPr marL="0" indent="0">
              <a:buNone/>
            </a:pPr>
            <a:r>
              <a:rPr lang="en-US" sz="900" i="1" dirty="0">
                <a:solidFill>
                  <a:srgbClr val="746E64"/>
                </a:solidFill>
                <a:latin typeface="Calibri" pitchFamily="34" charset="0"/>
                <a:ea typeface="Calibri" pitchFamily="34" charset="-122"/>
                <a:cs typeface="Calibri" pitchFamily="34" charset="-120"/>
              </a:rPr>
              <a:t>Purandar Fort (1/2)</a:t>
            </a:r>
            <a:endParaRPr lang="en-US" sz="900" dirty="0"/>
          </a:p>
        </p:txBody>
      </p:sp>
      <p:sp>
        <p:nvSpPr>
          <p:cNvPr id="22" name="Text 19"/>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746E64"/>
                </a:solidFill>
                <a:latin typeface="Calibri" pitchFamily="34" charset="0"/>
                <a:ea typeface="Calibri" pitchFamily="34" charset="-122"/>
                <a:cs typeface="Calibri" pitchFamily="34" charset="-120"/>
              </a:rPr>
              <a:t>15</a:t>
            </a:r>
            <a:endParaRPr lang="en-US" sz="900" dirty="0"/>
          </a:p>
        </p:txBody>
      </p:sp>
      <p:pic>
        <p:nvPicPr>
          <p:cNvPr id="23" name="Picture 22" descr="किल्ला क्र. ७ पुरंदर ( Purandar )">
            <a:extLst>
              <a:ext uri="{FF2B5EF4-FFF2-40B4-BE49-F238E27FC236}">
                <a16:creationId xmlns:a16="http://schemas.microsoft.com/office/drawing/2014/main" id="{80496949-3FBA-4693-CAD8-F6333E302F8C}"/>
              </a:ext>
            </a:extLst>
          </p:cNvPr>
          <p:cNvPicPr>
            <a:picLocks noChangeAspect="1"/>
          </p:cNvPicPr>
          <p:nvPr/>
        </p:nvPicPr>
        <p:blipFill>
          <a:blip r:embed="rId4"/>
          <a:stretch>
            <a:fillRect/>
          </a:stretch>
        </p:blipFill>
        <p:spPr>
          <a:xfrm>
            <a:off x="6712765" y="3093760"/>
            <a:ext cx="4771029" cy="357827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3E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C98A2B"/>
          </a:solidFill>
          <a:ln/>
        </p:spPr>
      </p:sp>
      <p:pic>
        <p:nvPicPr>
          <p:cNvPr id="3" name="Image 0" descr="/home/claude/forts/assets/fort_icon_white.png"/>
          <p:cNvPicPr>
            <a:picLocks noChangeAspect="1"/>
          </p:cNvPicPr>
          <p:nvPr/>
        </p:nvPicPr>
        <p:blipFill>
          <a:blip r:embed="rId3"/>
          <a:stretch>
            <a:fillRect/>
          </a:stretch>
        </p:blipFill>
        <p:spPr>
          <a:xfrm>
            <a:off x="576072" y="502920"/>
            <a:ext cx="329184" cy="329184"/>
          </a:xfrm>
          <a:prstGeom prst="rect">
            <a:avLst/>
          </a:prstGeom>
        </p:spPr>
      </p:pic>
      <p:sp>
        <p:nvSpPr>
          <p:cNvPr id="4" name="Text 1"/>
          <p:cNvSpPr/>
          <p:nvPr/>
        </p:nvSpPr>
        <p:spPr>
          <a:xfrm>
            <a:off x="1170432" y="310896"/>
            <a:ext cx="8778240" cy="457200"/>
          </a:xfrm>
          <a:prstGeom prst="rect">
            <a:avLst/>
          </a:prstGeom>
          <a:noFill/>
          <a:ln/>
        </p:spPr>
        <p:txBody>
          <a:bodyPr wrap="square" lIns="0" tIns="0" rIns="0" bIns="0" rtlCol="0" anchor="b"/>
          <a:lstStyle/>
          <a:p>
            <a:pPr marL="0" indent="0">
              <a:buNone/>
            </a:pPr>
            <a:r>
              <a:rPr lang="en-US" sz="2700" b="1" dirty="0">
                <a:solidFill>
                  <a:srgbClr val="7A2E2E"/>
                </a:solidFill>
                <a:latin typeface="Cambria" pitchFamily="34" charset="0"/>
                <a:ea typeface="Cambria" pitchFamily="34" charset="-122"/>
                <a:cs typeface="Cambria" pitchFamily="34" charset="-120"/>
              </a:rPr>
              <a:t>Purandar Fort</a:t>
            </a:r>
            <a:endParaRPr lang="en-US" sz="2700" dirty="0"/>
          </a:p>
        </p:txBody>
      </p:sp>
      <p:sp>
        <p:nvSpPr>
          <p:cNvPr id="5" name="Text 2"/>
          <p:cNvSpPr/>
          <p:nvPr/>
        </p:nvSpPr>
        <p:spPr>
          <a:xfrm>
            <a:off x="1188720" y="786384"/>
            <a:ext cx="8778240" cy="274320"/>
          </a:xfrm>
          <a:prstGeom prst="rect">
            <a:avLst/>
          </a:prstGeom>
          <a:noFill/>
          <a:ln/>
        </p:spPr>
        <p:txBody>
          <a:bodyPr wrap="square" lIns="0" tIns="0" rIns="0" bIns="0" rtlCol="0" anchor="ctr"/>
          <a:lstStyle/>
          <a:p>
            <a:pPr marL="0" indent="0">
              <a:buNone/>
            </a:pPr>
            <a:r>
              <a:rPr lang="en-US" sz="1250" i="1" dirty="0">
                <a:solidFill>
                  <a:srgbClr val="746E64"/>
                </a:solidFill>
                <a:latin typeface="Calibri" pitchFamily="34" charset="0"/>
                <a:ea typeface="Calibri" pitchFamily="34" charset="-122"/>
                <a:cs typeface="Calibri" pitchFamily="34" charset="-120"/>
              </a:rPr>
              <a:t>Architecture, Location &amp; Legacy</a:t>
            </a:r>
            <a:endParaRPr lang="en-US" sz="1250" dirty="0"/>
          </a:p>
        </p:txBody>
      </p:sp>
      <p:sp>
        <p:nvSpPr>
          <p:cNvPr id="6" name="Shape 3"/>
          <p:cNvSpPr/>
          <p:nvPr/>
        </p:nvSpPr>
        <p:spPr>
          <a:xfrm>
            <a:off x="9445752" y="438912"/>
            <a:ext cx="2286000" cy="384048"/>
          </a:xfrm>
          <a:prstGeom prst="roundRect">
            <a:avLst>
              <a:gd name="adj" fmla="val 19048"/>
            </a:avLst>
          </a:prstGeom>
          <a:solidFill>
            <a:srgbClr val="F3E4C6"/>
          </a:solidFill>
          <a:ln w="12700">
            <a:solidFill>
              <a:srgbClr val="C98A2B"/>
            </a:solidFill>
            <a:prstDash val="solid"/>
          </a:ln>
        </p:spPr>
      </p:sp>
      <p:sp>
        <p:nvSpPr>
          <p:cNvPr id="7" name="Text 4"/>
          <p:cNvSpPr/>
          <p:nvPr/>
        </p:nvSpPr>
        <p:spPr>
          <a:xfrm>
            <a:off x="9445752" y="438912"/>
            <a:ext cx="2286000" cy="384048"/>
          </a:xfrm>
          <a:prstGeom prst="rect">
            <a:avLst/>
          </a:prstGeom>
          <a:noFill/>
          <a:ln/>
        </p:spPr>
        <p:txBody>
          <a:bodyPr wrap="square" lIns="0" tIns="0" rIns="0" bIns="0" rtlCol="0" anchor="ctr"/>
          <a:lstStyle/>
          <a:p>
            <a:pPr marL="0" indent="0" algn="ctr">
              <a:buNone/>
            </a:pPr>
            <a:r>
              <a:rPr lang="en-US" sz="1100" b="1" dirty="0">
                <a:solidFill>
                  <a:srgbClr val="7A2E2E"/>
                </a:solidFill>
                <a:latin typeface="Calibri" pitchFamily="34" charset="0"/>
                <a:ea typeface="Calibri" pitchFamily="34" charset="-122"/>
                <a:cs typeface="Calibri" pitchFamily="34" charset="-120"/>
              </a:rPr>
              <a:t>Hill fort</a:t>
            </a:r>
            <a:endParaRPr lang="en-US" sz="1100" dirty="0"/>
          </a:p>
        </p:txBody>
      </p:sp>
      <p:sp>
        <p:nvSpPr>
          <p:cNvPr id="8" name="Text 5"/>
          <p:cNvSpPr/>
          <p:nvPr/>
        </p:nvSpPr>
        <p:spPr>
          <a:xfrm>
            <a:off x="457200" y="1325880"/>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ARCHITECTURAL FEATURES</a:t>
            </a:r>
            <a:endParaRPr lang="en-US" sz="1300" dirty="0"/>
          </a:p>
        </p:txBody>
      </p:sp>
      <p:sp>
        <p:nvSpPr>
          <p:cNvPr id="9" name="Text 6"/>
          <p:cNvSpPr/>
          <p:nvPr/>
        </p:nvSpPr>
        <p:spPr>
          <a:xfrm>
            <a:off x="457200" y="1627632"/>
            <a:ext cx="5760720" cy="4572000"/>
          </a:xfrm>
          <a:prstGeom prst="rect">
            <a:avLst/>
          </a:prstGeom>
          <a:noFill/>
          <a:ln/>
        </p:spPr>
        <p:txBody>
          <a:bodyPr wrap="square" lIns="0" tIns="0" rIns="0" bIns="0" rtlCol="0" anchor="t"/>
          <a:lstStyle/>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Twin summits of Purandar and Vajragad linked by a fortified saddle</a:t>
            </a:r>
            <a:endParaRPr lang="en-US" sz="1200" dirty="0"/>
          </a:p>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Bini Darwaza and Delhi Darwaza gates with deep dry moats</a:t>
            </a:r>
            <a:endParaRPr lang="en-US" sz="1200" dirty="0"/>
          </a:p>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Kedareshwar temple on the upper plateau</a:t>
            </a:r>
            <a:endParaRPr lang="en-US" sz="1200" dirty="0"/>
          </a:p>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Ruins of administrative buildings and water cisterns</a:t>
            </a:r>
            <a:endParaRPr lang="en-US" sz="1200" dirty="0"/>
          </a:p>
        </p:txBody>
      </p:sp>
      <p:sp>
        <p:nvSpPr>
          <p:cNvPr id="10" name="Text 7"/>
          <p:cNvSpPr/>
          <p:nvPr/>
        </p:nvSpPr>
        <p:spPr>
          <a:xfrm>
            <a:off x="457200" y="3776472"/>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SUGGESTED PHOTOGRAPHS</a:t>
            </a:r>
            <a:endParaRPr lang="en-US" sz="1300" dirty="0"/>
          </a:p>
        </p:txBody>
      </p:sp>
      <p:sp>
        <p:nvSpPr>
          <p:cNvPr id="11" name="Shape 8"/>
          <p:cNvSpPr/>
          <p:nvPr/>
        </p:nvSpPr>
        <p:spPr>
          <a:xfrm>
            <a:off x="457200" y="4096512"/>
            <a:ext cx="2798064" cy="868680"/>
          </a:xfrm>
          <a:prstGeom prst="roundRect">
            <a:avLst>
              <a:gd name="adj" fmla="val 6316"/>
            </a:avLst>
          </a:prstGeom>
          <a:solidFill>
            <a:srgbClr val="FFFFFF"/>
          </a:solidFill>
          <a:ln w="12700">
            <a:solidFill>
              <a:srgbClr val="DCD5C7"/>
            </a:solidFill>
            <a:prstDash val="dash"/>
          </a:ln>
        </p:spPr>
      </p:sp>
      <p:sp>
        <p:nvSpPr>
          <p:cNvPr id="12" name="Text 9"/>
          <p:cNvSpPr/>
          <p:nvPr/>
        </p:nvSpPr>
        <p:spPr>
          <a:xfrm>
            <a:off x="566928" y="4096512"/>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Bini Darwaza gate</a:t>
            </a:r>
            <a:endParaRPr lang="en-US" sz="1300" dirty="0"/>
          </a:p>
        </p:txBody>
      </p:sp>
      <p:sp>
        <p:nvSpPr>
          <p:cNvPr id="13" name="Shape 10"/>
          <p:cNvSpPr/>
          <p:nvPr/>
        </p:nvSpPr>
        <p:spPr>
          <a:xfrm>
            <a:off x="3419856" y="4096512"/>
            <a:ext cx="2798064" cy="868680"/>
          </a:xfrm>
          <a:prstGeom prst="roundRect">
            <a:avLst>
              <a:gd name="adj" fmla="val 6316"/>
            </a:avLst>
          </a:prstGeom>
          <a:solidFill>
            <a:srgbClr val="FFFFFF"/>
          </a:solidFill>
          <a:ln w="12700">
            <a:solidFill>
              <a:srgbClr val="DCD5C7"/>
            </a:solidFill>
            <a:prstDash val="dash"/>
          </a:ln>
        </p:spPr>
      </p:sp>
      <p:sp>
        <p:nvSpPr>
          <p:cNvPr id="14" name="Text 11"/>
          <p:cNvSpPr/>
          <p:nvPr/>
        </p:nvSpPr>
        <p:spPr>
          <a:xfrm>
            <a:off x="3529584" y="4096512"/>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Kedareshwar temple</a:t>
            </a:r>
            <a:endParaRPr lang="en-US" sz="1300" dirty="0"/>
          </a:p>
        </p:txBody>
      </p:sp>
      <p:sp>
        <p:nvSpPr>
          <p:cNvPr id="15" name="Shape 12"/>
          <p:cNvSpPr/>
          <p:nvPr/>
        </p:nvSpPr>
        <p:spPr>
          <a:xfrm>
            <a:off x="457200" y="5129784"/>
            <a:ext cx="2798064" cy="868680"/>
          </a:xfrm>
          <a:prstGeom prst="roundRect">
            <a:avLst>
              <a:gd name="adj" fmla="val 6316"/>
            </a:avLst>
          </a:prstGeom>
          <a:solidFill>
            <a:srgbClr val="FFFFFF"/>
          </a:solidFill>
          <a:ln w="12700">
            <a:solidFill>
              <a:srgbClr val="DCD5C7"/>
            </a:solidFill>
            <a:prstDash val="dash"/>
          </a:ln>
        </p:spPr>
      </p:sp>
      <p:sp>
        <p:nvSpPr>
          <p:cNvPr id="16" name="Text 13"/>
          <p:cNvSpPr/>
          <p:nvPr/>
        </p:nvSpPr>
        <p:spPr>
          <a:xfrm>
            <a:off x="566928" y="5129784"/>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View of Vajragad from Purandar</a:t>
            </a:r>
            <a:endParaRPr lang="en-US" sz="1300" dirty="0"/>
          </a:p>
        </p:txBody>
      </p:sp>
      <p:sp>
        <p:nvSpPr>
          <p:cNvPr id="17" name="Shape 14"/>
          <p:cNvSpPr/>
          <p:nvPr/>
        </p:nvSpPr>
        <p:spPr>
          <a:xfrm>
            <a:off x="3419856" y="5129784"/>
            <a:ext cx="2798064" cy="868680"/>
          </a:xfrm>
          <a:prstGeom prst="roundRect">
            <a:avLst>
              <a:gd name="adj" fmla="val 6316"/>
            </a:avLst>
          </a:prstGeom>
          <a:solidFill>
            <a:srgbClr val="FFFFFF"/>
          </a:solidFill>
          <a:ln w="12700">
            <a:solidFill>
              <a:srgbClr val="DCD5C7"/>
            </a:solidFill>
            <a:prstDash val="dash"/>
          </a:ln>
        </p:spPr>
      </p:sp>
      <p:sp>
        <p:nvSpPr>
          <p:cNvPr id="18" name="Text 15"/>
          <p:cNvSpPr/>
          <p:nvPr/>
        </p:nvSpPr>
        <p:spPr>
          <a:xfrm>
            <a:off x="3529584" y="5129784"/>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Fortification walls &amp; moat</a:t>
            </a:r>
            <a:endParaRPr lang="en-US" sz="1300" dirty="0"/>
          </a:p>
        </p:txBody>
      </p:sp>
      <p:sp>
        <p:nvSpPr>
          <p:cNvPr id="19" name="Shape 16"/>
          <p:cNvSpPr/>
          <p:nvPr/>
        </p:nvSpPr>
        <p:spPr>
          <a:xfrm>
            <a:off x="8659368" y="1344168"/>
            <a:ext cx="1648090" cy="2478024"/>
          </a:xfrm>
          <a:prstGeom prst="roundRect">
            <a:avLst>
              <a:gd name="adj" fmla="val 2774"/>
            </a:avLst>
          </a:prstGeom>
          <a:solidFill>
            <a:srgbClr val="FFFFFF"/>
          </a:solidFill>
          <a:ln w="12700">
            <a:solidFill>
              <a:srgbClr val="DCD5C7"/>
            </a:solidFill>
            <a:prstDash val="solid"/>
          </a:ln>
        </p:spPr>
      </p:sp>
      <p:pic>
        <p:nvPicPr>
          <p:cNvPr id="20" name="Image 1" descr="/home/claude/forts/assets/map_purandar.png"/>
          <p:cNvPicPr>
            <a:picLocks noChangeAspect="1"/>
          </p:cNvPicPr>
          <p:nvPr/>
        </p:nvPicPr>
        <p:blipFill>
          <a:blip r:embed="rId4"/>
          <a:stretch>
            <a:fillRect/>
          </a:stretch>
        </p:blipFill>
        <p:spPr>
          <a:xfrm>
            <a:off x="8732520" y="1417320"/>
            <a:ext cx="1501786" cy="2331720"/>
          </a:xfrm>
          <a:prstGeom prst="rect">
            <a:avLst/>
          </a:prstGeom>
        </p:spPr>
      </p:pic>
      <p:sp>
        <p:nvSpPr>
          <p:cNvPr id="21" name="Text 17"/>
          <p:cNvSpPr/>
          <p:nvPr/>
        </p:nvSpPr>
        <p:spPr>
          <a:xfrm>
            <a:off x="6583680" y="3858768"/>
            <a:ext cx="5120640" cy="274320"/>
          </a:xfrm>
          <a:prstGeom prst="rect">
            <a:avLst/>
          </a:prstGeom>
          <a:noFill/>
          <a:ln/>
        </p:spPr>
        <p:txBody>
          <a:bodyPr wrap="square" lIns="0" tIns="0" rIns="0" bIns="0" rtlCol="0" anchor="ctr"/>
          <a:lstStyle/>
          <a:p>
            <a:pPr marL="0" indent="0" algn="r">
              <a:buNone/>
            </a:pPr>
            <a:r>
              <a:rPr lang="en-US" sz="1000" i="1" dirty="0">
                <a:solidFill>
                  <a:srgbClr val="746E64"/>
                </a:solidFill>
                <a:latin typeface="Calibri" pitchFamily="34" charset="0"/>
                <a:ea typeface="Calibri" pitchFamily="34" charset="-122"/>
                <a:cs typeface="Calibri" pitchFamily="34" charset="-120"/>
              </a:rPr>
              <a:t>Location within Maharashtra</a:t>
            </a:r>
            <a:endParaRPr lang="en-US" sz="1000" dirty="0"/>
          </a:p>
        </p:txBody>
      </p:sp>
      <p:sp>
        <p:nvSpPr>
          <p:cNvPr id="22" name="Shape 18"/>
          <p:cNvSpPr/>
          <p:nvPr/>
        </p:nvSpPr>
        <p:spPr>
          <a:xfrm>
            <a:off x="6537960" y="4160520"/>
            <a:ext cx="5120640" cy="1783080"/>
          </a:xfrm>
          <a:prstGeom prst="roundRect">
            <a:avLst>
              <a:gd name="adj" fmla="val 4103"/>
            </a:avLst>
          </a:prstGeom>
          <a:solidFill>
            <a:srgbClr val="F3E4C6"/>
          </a:solidFill>
          <a:ln w="12700">
            <a:solidFill>
              <a:srgbClr val="C98A2B"/>
            </a:solidFill>
            <a:prstDash val="solid"/>
          </a:ln>
        </p:spPr>
      </p:sp>
      <p:sp>
        <p:nvSpPr>
          <p:cNvPr id="23" name="Text 19"/>
          <p:cNvSpPr/>
          <p:nvPr/>
        </p:nvSpPr>
        <p:spPr>
          <a:xfrm>
            <a:off x="6739128" y="4288536"/>
            <a:ext cx="4718304" cy="1527048"/>
          </a:xfrm>
          <a:prstGeom prst="rect">
            <a:avLst/>
          </a:prstGeom>
          <a:noFill/>
          <a:ln/>
        </p:spPr>
        <p:txBody>
          <a:bodyPr wrap="square" lIns="0" tIns="0" rIns="0" bIns="0" rtlCol="0" anchor="t"/>
          <a:lstStyle/>
          <a:p>
            <a:pPr marL="0" indent="0">
              <a:lnSpc>
                <a:spcPct val="115000"/>
              </a:lnSpc>
              <a:buNone/>
            </a:pPr>
            <a:r>
              <a:rPr lang="en-US" sz="1050" b="1" kern="0" spc="100" dirty="0">
                <a:solidFill>
                  <a:srgbClr val="7A2E2E"/>
                </a:solidFill>
                <a:latin typeface="Calibri" pitchFamily="34" charset="0"/>
                <a:ea typeface="Calibri" pitchFamily="34" charset="-122"/>
                <a:cs typeface="Calibri" pitchFamily="34" charset="-120"/>
              </a:rPr>
              <a:t>DID YOU KNOW?
</a:t>
            </a:r>
            <a:r>
              <a:rPr lang="en-US" sz="1150" i="1" dirty="0">
                <a:solidFill>
                  <a:srgbClr val="2A2622"/>
                </a:solidFill>
                <a:latin typeface="Calibri" pitchFamily="34" charset="0"/>
                <a:ea typeface="Calibri" pitchFamily="34" charset="-122"/>
                <a:cs typeface="Calibri" pitchFamily="34" charset="-120"/>
              </a:rPr>
              <a:t>The 1665 Treaty of Purandar was the only formal treaty Shivaji ever signed with the Mughals — and he began reversing its terms within five years.</a:t>
            </a:r>
            <a:endParaRPr lang="en-US" sz="1050" dirty="0"/>
          </a:p>
        </p:txBody>
      </p:sp>
      <p:sp>
        <p:nvSpPr>
          <p:cNvPr id="24" name="Text 20"/>
          <p:cNvSpPr/>
          <p:nvPr/>
        </p:nvSpPr>
        <p:spPr>
          <a:xfrm>
            <a:off x="457200" y="6473952"/>
            <a:ext cx="7315200" cy="274320"/>
          </a:xfrm>
          <a:prstGeom prst="rect">
            <a:avLst/>
          </a:prstGeom>
          <a:noFill/>
          <a:ln/>
        </p:spPr>
        <p:txBody>
          <a:bodyPr wrap="square" lIns="0" tIns="0" rIns="0" bIns="0" rtlCol="0" anchor="ctr"/>
          <a:lstStyle/>
          <a:p>
            <a:pPr marL="0" indent="0">
              <a:buNone/>
            </a:pPr>
            <a:r>
              <a:rPr lang="en-US" sz="900" i="1" dirty="0">
                <a:solidFill>
                  <a:srgbClr val="746E64"/>
                </a:solidFill>
                <a:latin typeface="Calibri" pitchFamily="34" charset="0"/>
                <a:ea typeface="Calibri" pitchFamily="34" charset="-122"/>
                <a:cs typeface="Calibri" pitchFamily="34" charset="-120"/>
              </a:rPr>
              <a:t>Purandar Fort (2/2)</a:t>
            </a:r>
            <a:endParaRPr lang="en-US" sz="900" dirty="0"/>
          </a:p>
        </p:txBody>
      </p:sp>
      <p:sp>
        <p:nvSpPr>
          <p:cNvPr id="25" name="Text 21"/>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746E64"/>
                </a:solidFill>
                <a:latin typeface="Calibri" pitchFamily="34" charset="0"/>
                <a:ea typeface="Calibri" pitchFamily="34" charset="-122"/>
                <a:cs typeface="Calibri" pitchFamily="34" charset="-120"/>
              </a:rPr>
              <a:t>16</a:t>
            </a:r>
            <a:endParaRPr lang="en-US" sz="900" dirty="0"/>
          </a:p>
        </p:txBody>
      </p:sp>
      <p:pic>
        <p:nvPicPr>
          <p:cNvPr id="26" name="Picture 25" descr="Treks in Sahyadri: Purandar Fort Trek">
            <a:extLst>
              <a:ext uri="{FF2B5EF4-FFF2-40B4-BE49-F238E27FC236}">
                <a16:creationId xmlns:a16="http://schemas.microsoft.com/office/drawing/2014/main" id="{70A7D8E8-E93D-D86B-2D4A-ED50F317C91A}"/>
              </a:ext>
            </a:extLst>
          </p:cNvPr>
          <p:cNvPicPr>
            <a:picLocks noChangeAspect="1"/>
          </p:cNvPicPr>
          <p:nvPr/>
        </p:nvPicPr>
        <p:blipFill>
          <a:blip r:embed="rId5"/>
          <a:stretch>
            <a:fillRect/>
          </a:stretch>
        </p:blipFill>
        <p:spPr>
          <a:xfrm>
            <a:off x="104273" y="3200400"/>
            <a:ext cx="6361941" cy="357859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3E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C98A2B"/>
          </a:solidFill>
          <a:ln/>
        </p:spPr>
      </p:sp>
      <p:pic>
        <p:nvPicPr>
          <p:cNvPr id="3" name="Image 0" descr="/home/claude/forts/assets/fort_icon_white.png"/>
          <p:cNvPicPr>
            <a:picLocks noChangeAspect="1"/>
          </p:cNvPicPr>
          <p:nvPr/>
        </p:nvPicPr>
        <p:blipFill>
          <a:blip r:embed="rId3"/>
          <a:stretch>
            <a:fillRect/>
          </a:stretch>
        </p:blipFill>
        <p:spPr>
          <a:xfrm>
            <a:off x="576072" y="502920"/>
            <a:ext cx="329184" cy="329184"/>
          </a:xfrm>
          <a:prstGeom prst="rect">
            <a:avLst/>
          </a:prstGeom>
        </p:spPr>
      </p:pic>
      <p:sp>
        <p:nvSpPr>
          <p:cNvPr id="4" name="Text 1"/>
          <p:cNvSpPr/>
          <p:nvPr/>
        </p:nvSpPr>
        <p:spPr>
          <a:xfrm>
            <a:off x="1170432" y="310896"/>
            <a:ext cx="8778240" cy="457200"/>
          </a:xfrm>
          <a:prstGeom prst="rect">
            <a:avLst/>
          </a:prstGeom>
          <a:noFill/>
          <a:ln/>
        </p:spPr>
        <p:txBody>
          <a:bodyPr wrap="square" lIns="0" tIns="0" rIns="0" bIns="0" rtlCol="0" anchor="b"/>
          <a:lstStyle/>
          <a:p>
            <a:pPr marL="0" indent="0">
              <a:buNone/>
            </a:pPr>
            <a:r>
              <a:rPr lang="en-US" sz="2700" b="1" dirty="0">
                <a:solidFill>
                  <a:srgbClr val="7A2E2E"/>
                </a:solidFill>
                <a:latin typeface="Cambria" pitchFamily="34" charset="0"/>
                <a:ea typeface="Cambria" pitchFamily="34" charset="-122"/>
                <a:cs typeface="Cambria" pitchFamily="34" charset="-120"/>
              </a:rPr>
              <a:t>Panhala Fort</a:t>
            </a:r>
            <a:endParaRPr lang="en-US" sz="2700" dirty="0"/>
          </a:p>
        </p:txBody>
      </p:sp>
      <p:sp>
        <p:nvSpPr>
          <p:cNvPr id="5" name="Text 2"/>
          <p:cNvSpPr/>
          <p:nvPr/>
        </p:nvSpPr>
        <p:spPr>
          <a:xfrm>
            <a:off x="1188720" y="786384"/>
            <a:ext cx="8778240" cy="274320"/>
          </a:xfrm>
          <a:prstGeom prst="rect">
            <a:avLst/>
          </a:prstGeom>
          <a:noFill/>
          <a:ln/>
        </p:spPr>
        <p:txBody>
          <a:bodyPr wrap="square" lIns="0" tIns="0" rIns="0" bIns="0" rtlCol="0" anchor="ctr"/>
          <a:lstStyle/>
          <a:p>
            <a:pPr marL="0" indent="0">
              <a:buNone/>
            </a:pPr>
            <a:r>
              <a:rPr lang="en-US" sz="1250" i="1" dirty="0">
                <a:solidFill>
                  <a:srgbClr val="746E64"/>
                </a:solidFill>
                <a:latin typeface="Calibri" pitchFamily="34" charset="0"/>
                <a:ea typeface="Calibri" pitchFamily="34" charset="-122"/>
                <a:cs typeface="Calibri" pitchFamily="34" charset="-120"/>
              </a:rPr>
              <a:t>Panhalgad  •  Near Kolhapur city, Maharashtra</a:t>
            </a:r>
            <a:endParaRPr lang="en-US" sz="1250" dirty="0"/>
          </a:p>
        </p:txBody>
      </p:sp>
      <p:sp>
        <p:nvSpPr>
          <p:cNvPr id="6" name="Shape 3"/>
          <p:cNvSpPr/>
          <p:nvPr/>
        </p:nvSpPr>
        <p:spPr>
          <a:xfrm>
            <a:off x="9445752" y="438912"/>
            <a:ext cx="2286000" cy="384048"/>
          </a:xfrm>
          <a:prstGeom prst="roundRect">
            <a:avLst>
              <a:gd name="adj" fmla="val 19048"/>
            </a:avLst>
          </a:prstGeom>
          <a:solidFill>
            <a:srgbClr val="F3E4C6"/>
          </a:solidFill>
          <a:ln w="12700">
            <a:solidFill>
              <a:srgbClr val="C98A2B"/>
            </a:solidFill>
            <a:prstDash val="solid"/>
          </a:ln>
        </p:spPr>
      </p:sp>
      <p:sp>
        <p:nvSpPr>
          <p:cNvPr id="7" name="Text 4"/>
          <p:cNvSpPr/>
          <p:nvPr/>
        </p:nvSpPr>
        <p:spPr>
          <a:xfrm>
            <a:off x="9445752" y="438912"/>
            <a:ext cx="2286000" cy="384048"/>
          </a:xfrm>
          <a:prstGeom prst="rect">
            <a:avLst/>
          </a:prstGeom>
          <a:noFill/>
          <a:ln/>
        </p:spPr>
        <p:txBody>
          <a:bodyPr wrap="square" lIns="0" tIns="0" rIns="0" bIns="0" rtlCol="0" anchor="ctr"/>
          <a:lstStyle/>
          <a:p>
            <a:pPr marL="0" indent="0" algn="ctr">
              <a:buNone/>
            </a:pPr>
            <a:r>
              <a:rPr lang="en-US" sz="1100" b="1" dirty="0">
                <a:solidFill>
                  <a:srgbClr val="7A2E2E"/>
                </a:solidFill>
                <a:latin typeface="Calibri" pitchFamily="34" charset="0"/>
                <a:ea typeface="Calibri" pitchFamily="34" charset="-122"/>
                <a:cs typeface="Calibri" pitchFamily="34" charset="-120"/>
              </a:rPr>
              <a:t>Hill fort</a:t>
            </a:r>
            <a:endParaRPr lang="en-US" sz="1100" dirty="0"/>
          </a:p>
        </p:txBody>
      </p:sp>
      <p:sp>
        <p:nvSpPr>
          <p:cNvPr id="8" name="Text 5"/>
          <p:cNvSpPr/>
          <p:nvPr/>
        </p:nvSpPr>
        <p:spPr>
          <a:xfrm>
            <a:off x="457200" y="1325880"/>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HISTORY</a:t>
            </a:r>
            <a:endParaRPr lang="en-US" sz="1300" dirty="0"/>
          </a:p>
        </p:txBody>
      </p:sp>
      <p:sp>
        <p:nvSpPr>
          <p:cNvPr id="9" name="Text 6"/>
          <p:cNvSpPr/>
          <p:nvPr/>
        </p:nvSpPr>
        <p:spPr>
          <a:xfrm>
            <a:off x="457200" y="1627632"/>
            <a:ext cx="5760720" cy="4572000"/>
          </a:xfrm>
          <a:prstGeom prst="rect">
            <a:avLst/>
          </a:prstGeom>
          <a:noFill/>
          <a:ln/>
        </p:spPr>
        <p:txBody>
          <a:bodyPr wrap="square" lIns="0" tIns="0" rIns="0" bIns="0" rtlCol="0" anchor="t"/>
          <a:lstStyle/>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Built by the Shilahara king Bhoja II in the 12th century</a:t>
            </a:r>
            <a:endParaRPr lang="en-US" sz="1250" dirty="0"/>
          </a:p>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Later held by the Bahmani Sultanate and then the Adilshahi (Bijapur) kingdom</a:t>
            </a:r>
            <a:endParaRPr lang="en-US" sz="1250" dirty="0"/>
          </a:p>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One of the largest hill forts in the Deccan by area</a:t>
            </a:r>
            <a:endParaRPr lang="en-US" sz="1250" dirty="0"/>
          </a:p>
        </p:txBody>
      </p:sp>
      <p:sp>
        <p:nvSpPr>
          <p:cNvPr id="10" name="Text 7"/>
          <p:cNvSpPr/>
          <p:nvPr/>
        </p:nvSpPr>
        <p:spPr>
          <a:xfrm>
            <a:off x="457200" y="2839453"/>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ROLE IN SHIVAJI'S SWARAJYA</a:t>
            </a:r>
            <a:endParaRPr lang="en-US" sz="1300" dirty="0"/>
          </a:p>
        </p:txBody>
      </p:sp>
      <p:sp>
        <p:nvSpPr>
          <p:cNvPr id="11" name="Text 8"/>
          <p:cNvSpPr/>
          <p:nvPr/>
        </p:nvSpPr>
        <p:spPr>
          <a:xfrm>
            <a:off x="457200" y="3313337"/>
            <a:ext cx="5760720" cy="4572000"/>
          </a:xfrm>
          <a:prstGeom prst="rect">
            <a:avLst/>
          </a:prstGeom>
          <a:noFill/>
          <a:ln/>
        </p:spPr>
        <p:txBody>
          <a:bodyPr wrap="square" lIns="0" tIns="0" rIns="0" bIns="0" rtlCol="0" anchor="t"/>
          <a:lstStyle/>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Captured by Shivaji Maharaj in 1659, extending Swarajya into the Kolhapur region</a:t>
            </a:r>
            <a:endParaRPr lang="en-US" sz="1250" dirty="0"/>
          </a:p>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Besieged by the Bijapur general Siddi Jauhar in 1660, trapping Shivaji inside for months</a:t>
            </a:r>
            <a:endParaRPr lang="en-US" sz="1250" dirty="0"/>
          </a:p>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Scene of Shivaji’s celebrated night escape to Vishalgad, covered by Baji Prabhu Deshpande’s rearguard stand</a:t>
            </a:r>
            <a:endParaRPr lang="en-US" sz="1250" dirty="0"/>
          </a:p>
        </p:txBody>
      </p:sp>
      <p:sp>
        <p:nvSpPr>
          <p:cNvPr id="12" name="Text 9"/>
          <p:cNvSpPr/>
          <p:nvPr/>
        </p:nvSpPr>
        <p:spPr>
          <a:xfrm>
            <a:off x="519122" y="4895488"/>
            <a:ext cx="512064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KEY EVENTS</a:t>
            </a:r>
            <a:endParaRPr lang="en-US" sz="1300" dirty="0"/>
          </a:p>
        </p:txBody>
      </p:sp>
      <p:sp>
        <p:nvSpPr>
          <p:cNvPr id="14" name="Text 11"/>
          <p:cNvSpPr/>
          <p:nvPr/>
        </p:nvSpPr>
        <p:spPr>
          <a:xfrm>
            <a:off x="576072" y="5370737"/>
            <a:ext cx="4864608" cy="457200"/>
          </a:xfrm>
          <a:prstGeom prst="rect">
            <a:avLst/>
          </a:prstGeom>
          <a:noFill/>
          <a:ln/>
        </p:spPr>
        <p:txBody>
          <a:bodyPr wrap="square" lIns="0" tIns="0" rIns="0" bIns="0" rtlCol="0" anchor="t"/>
          <a:lstStyle/>
          <a:p>
            <a:pPr marL="0" indent="0">
              <a:lnSpc>
                <a:spcPct val="110000"/>
              </a:lnSpc>
              <a:buNone/>
            </a:pPr>
            <a:r>
              <a:rPr lang="en-US" sz="1200" b="1" dirty="0">
                <a:solidFill>
                  <a:srgbClr val="7A2E2E"/>
                </a:solidFill>
                <a:latin typeface="Calibri" pitchFamily="34" charset="0"/>
                <a:ea typeface="Calibri" pitchFamily="34" charset="-122"/>
                <a:cs typeface="Calibri" pitchFamily="34" charset="-120"/>
              </a:rPr>
              <a:t>1659  </a:t>
            </a:r>
            <a:r>
              <a:rPr lang="en-US" sz="1200" dirty="0">
                <a:solidFill>
                  <a:srgbClr val="2A2622"/>
                </a:solidFill>
                <a:latin typeface="Calibri" pitchFamily="34" charset="0"/>
                <a:ea typeface="Calibri" pitchFamily="34" charset="-122"/>
                <a:cs typeface="Calibri" pitchFamily="34" charset="-120"/>
              </a:rPr>
              <a:t>Captured by Shivaji Maharaj</a:t>
            </a:r>
            <a:endParaRPr lang="en-US" sz="1200" dirty="0"/>
          </a:p>
        </p:txBody>
      </p:sp>
      <p:sp>
        <p:nvSpPr>
          <p:cNvPr id="16" name="Text 13"/>
          <p:cNvSpPr/>
          <p:nvPr/>
        </p:nvSpPr>
        <p:spPr>
          <a:xfrm>
            <a:off x="585216" y="5817188"/>
            <a:ext cx="4864608" cy="457200"/>
          </a:xfrm>
          <a:prstGeom prst="rect">
            <a:avLst/>
          </a:prstGeom>
          <a:noFill/>
          <a:ln/>
        </p:spPr>
        <p:txBody>
          <a:bodyPr wrap="square" lIns="0" tIns="0" rIns="0" bIns="0" rtlCol="0" anchor="t"/>
          <a:lstStyle/>
          <a:p>
            <a:pPr marL="0" indent="0">
              <a:lnSpc>
                <a:spcPct val="110000"/>
              </a:lnSpc>
              <a:buNone/>
            </a:pPr>
            <a:r>
              <a:rPr lang="en-US" sz="1200" b="1" dirty="0">
                <a:solidFill>
                  <a:srgbClr val="7A2E2E"/>
                </a:solidFill>
                <a:latin typeface="Calibri" pitchFamily="34" charset="0"/>
                <a:ea typeface="Calibri" pitchFamily="34" charset="-122"/>
                <a:cs typeface="Calibri" pitchFamily="34" charset="-120"/>
              </a:rPr>
              <a:t>1660  </a:t>
            </a:r>
            <a:r>
              <a:rPr lang="en-US" sz="1200" dirty="0">
                <a:solidFill>
                  <a:srgbClr val="2A2622"/>
                </a:solidFill>
                <a:latin typeface="Calibri" pitchFamily="34" charset="0"/>
                <a:ea typeface="Calibri" pitchFamily="34" charset="-122"/>
                <a:cs typeface="Calibri" pitchFamily="34" charset="-120"/>
              </a:rPr>
              <a:t>Siege of Panhala by Siddi Jauhar; Shivaji’s escape to Vishalgad</a:t>
            </a:r>
            <a:endParaRPr lang="en-US" sz="1200" dirty="0"/>
          </a:p>
        </p:txBody>
      </p:sp>
      <p:sp>
        <p:nvSpPr>
          <p:cNvPr id="18" name="Text 15"/>
          <p:cNvSpPr/>
          <p:nvPr/>
        </p:nvSpPr>
        <p:spPr>
          <a:xfrm>
            <a:off x="519122" y="6306873"/>
            <a:ext cx="4864608" cy="457200"/>
          </a:xfrm>
          <a:prstGeom prst="rect">
            <a:avLst/>
          </a:prstGeom>
          <a:noFill/>
          <a:ln/>
        </p:spPr>
        <p:txBody>
          <a:bodyPr wrap="square" lIns="0" tIns="0" rIns="0" bIns="0" rtlCol="0" anchor="t"/>
          <a:lstStyle/>
          <a:p>
            <a:pPr marL="0" indent="0">
              <a:lnSpc>
                <a:spcPct val="110000"/>
              </a:lnSpc>
              <a:buNone/>
            </a:pPr>
            <a:r>
              <a:rPr lang="en-US" sz="1200" b="1" dirty="0">
                <a:solidFill>
                  <a:srgbClr val="7A2E2E"/>
                </a:solidFill>
                <a:latin typeface="Calibri" pitchFamily="34" charset="0"/>
                <a:ea typeface="Calibri" pitchFamily="34" charset="-122"/>
                <a:cs typeface="Calibri" pitchFamily="34" charset="-120"/>
              </a:rPr>
              <a:t>1673  </a:t>
            </a:r>
            <a:r>
              <a:rPr lang="en-US" sz="1200" dirty="0">
                <a:solidFill>
                  <a:srgbClr val="2A2622"/>
                </a:solidFill>
                <a:latin typeface="Calibri" pitchFamily="34" charset="0"/>
                <a:ea typeface="Calibri" pitchFamily="34" charset="-122"/>
                <a:cs typeface="Calibri" pitchFamily="34" charset="-120"/>
              </a:rPr>
              <a:t>Recaptured by the Marathas after a period of Bijapur control</a:t>
            </a:r>
            <a:endParaRPr lang="en-US" sz="1200" dirty="0"/>
          </a:p>
        </p:txBody>
      </p:sp>
      <p:sp>
        <p:nvSpPr>
          <p:cNvPr id="19" name="Shape 16"/>
          <p:cNvSpPr/>
          <p:nvPr/>
        </p:nvSpPr>
        <p:spPr>
          <a:xfrm>
            <a:off x="6611112" y="1560656"/>
            <a:ext cx="5120640" cy="777240"/>
          </a:xfrm>
          <a:prstGeom prst="roundRect">
            <a:avLst>
              <a:gd name="adj" fmla="val 9412"/>
            </a:avLst>
          </a:prstGeom>
          <a:solidFill>
            <a:srgbClr val="F3E4C6"/>
          </a:solidFill>
          <a:ln w="12700">
            <a:solidFill>
              <a:srgbClr val="C98A2B"/>
            </a:solidFill>
            <a:prstDash val="solid"/>
          </a:ln>
        </p:spPr>
      </p:sp>
      <p:sp>
        <p:nvSpPr>
          <p:cNvPr id="20" name="Text 17"/>
          <p:cNvSpPr/>
          <p:nvPr/>
        </p:nvSpPr>
        <p:spPr>
          <a:xfrm>
            <a:off x="6793992" y="1642952"/>
            <a:ext cx="4754880" cy="640080"/>
          </a:xfrm>
          <a:prstGeom prst="rect">
            <a:avLst/>
          </a:prstGeom>
          <a:noFill/>
          <a:ln/>
        </p:spPr>
        <p:txBody>
          <a:bodyPr wrap="square" lIns="0" tIns="0" rIns="0" bIns="0" rtlCol="0" anchor="t"/>
          <a:lstStyle/>
          <a:p>
            <a:pPr marL="0" indent="0">
              <a:lnSpc>
                <a:spcPct val="115000"/>
              </a:lnSpc>
              <a:buNone/>
            </a:pPr>
            <a:r>
              <a:rPr lang="en-US" sz="1000" b="1" kern="0" spc="100" dirty="0">
                <a:solidFill>
                  <a:srgbClr val="7A2E2E"/>
                </a:solidFill>
                <a:latin typeface="Calibri" pitchFamily="34" charset="0"/>
                <a:ea typeface="Calibri" pitchFamily="34" charset="-122"/>
                <a:cs typeface="Calibri" pitchFamily="34" charset="-120"/>
              </a:rPr>
              <a:t>SHIVAJI MAHARAJ'S ASSOCIATION
</a:t>
            </a:r>
            <a:r>
              <a:rPr lang="en-US" sz="1150" dirty="0">
                <a:solidFill>
                  <a:srgbClr val="2A2622"/>
                </a:solidFill>
                <a:latin typeface="Calibri" pitchFamily="34" charset="0"/>
                <a:ea typeface="Calibri" pitchFamily="34" charset="-122"/>
                <a:cs typeface="Calibri" pitchFamily="34" charset="-120"/>
              </a:rPr>
              <a:t>1659 capture; contested through 1660s, secured firmly by 1673</a:t>
            </a:r>
            <a:endParaRPr lang="en-US" sz="1000" dirty="0"/>
          </a:p>
        </p:txBody>
      </p:sp>
      <p:sp>
        <p:nvSpPr>
          <p:cNvPr id="21" name="Text 18"/>
          <p:cNvSpPr/>
          <p:nvPr/>
        </p:nvSpPr>
        <p:spPr>
          <a:xfrm>
            <a:off x="457200" y="6473952"/>
            <a:ext cx="7315200" cy="274320"/>
          </a:xfrm>
          <a:prstGeom prst="rect">
            <a:avLst/>
          </a:prstGeom>
          <a:noFill/>
          <a:ln/>
        </p:spPr>
        <p:txBody>
          <a:bodyPr wrap="square" lIns="0" tIns="0" rIns="0" bIns="0" rtlCol="0" anchor="ctr"/>
          <a:lstStyle/>
          <a:p>
            <a:pPr marL="0" indent="0">
              <a:buNone/>
            </a:pPr>
            <a:r>
              <a:rPr lang="en-US" sz="900" i="1" dirty="0">
                <a:solidFill>
                  <a:srgbClr val="746E64"/>
                </a:solidFill>
                <a:latin typeface="Calibri" pitchFamily="34" charset="0"/>
                <a:ea typeface="Calibri" pitchFamily="34" charset="-122"/>
                <a:cs typeface="Calibri" pitchFamily="34" charset="-120"/>
              </a:rPr>
              <a:t>Panhala Fort (1/2)</a:t>
            </a:r>
            <a:endParaRPr lang="en-US" sz="900" dirty="0"/>
          </a:p>
        </p:txBody>
      </p:sp>
      <p:sp>
        <p:nvSpPr>
          <p:cNvPr id="22" name="Text 19"/>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746E64"/>
                </a:solidFill>
                <a:latin typeface="Calibri" pitchFamily="34" charset="0"/>
                <a:ea typeface="Calibri" pitchFamily="34" charset="-122"/>
                <a:cs typeface="Calibri" pitchFamily="34" charset="-120"/>
              </a:rPr>
              <a:t>17</a:t>
            </a:r>
            <a:endParaRPr lang="en-US" sz="900" dirty="0"/>
          </a:p>
        </p:txBody>
      </p:sp>
      <p:pic>
        <p:nvPicPr>
          <p:cNvPr id="27" name="Picture 26" descr="Royal Kasari Resort | Luxury Hospitality &amp; Events">
            <a:extLst>
              <a:ext uri="{FF2B5EF4-FFF2-40B4-BE49-F238E27FC236}">
                <a16:creationId xmlns:a16="http://schemas.microsoft.com/office/drawing/2014/main" id="{CF1A2A2C-D040-C821-141B-61F5899874D9}"/>
              </a:ext>
            </a:extLst>
          </p:cNvPr>
          <p:cNvPicPr>
            <a:picLocks noChangeAspect="1"/>
          </p:cNvPicPr>
          <p:nvPr/>
        </p:nvPicPr>
        <p:blipFill>
          <a:blip r:embed="rId4"/>
          <a:stretch>
            <a:fillRect/>
          </a:stretch>
        </p:blipFill>
        <p:spPr>
          <a:xfrm>
            <a:off x="5943599" y="2446661"/>
            <a:ext cx="6124833" cy="431741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3E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C98A2B"/>
          </a:solidFill>
          <a:ln/>
        </p:spPr>
      </p:sp>
      <p:pic>
        <p:nvPicPr>
          <p:cNvPr id="3" name="Image 0" descr="/home/claude/forts/assets/fort_icon_white.png"/>
          <p:cNvPicPr>
            <a:picLocks noChangeAspect="1"/>
          </p:cNvPicPr>
          <p:nvPr/>
        </p:nvPicPr>
        <p:blipFill>
          <a:blip r:embed="rId3"/>
          <a:stretch>
            <a:fillRect/>
          </a:stretch>
        </p:blipFill>
        <p:spPr>
          <a:xfrm>
            <a:off x="576072" y="502920"/>
            <a:ext cx="329184" cy="329184"/>
          </a:xfrm>
          <a:prstGeom prst="rect">
            <a:avLst/>
          </a:prstGeom>
        </p:spPr>
      </p:pic>
      <p:sp>
        <p:nvSpPr>
          <p:cNvPr id="4" name="Text 1"/>
          <p:cNvSpPr/>
          <p:nvPr/>
        </p:nvSpPr>
        <p:spPr>
          <a:xfrm>
            <a:off x="1170432" y="310896"/>
            <a:ext cx="8778240" cy="457200"/>
          </a:xfrm>
          <a:prstGeom prst="rect">
            <a:avLst/>
          </a:prstGeom>
          <a:noFill/>
          <a:ln/>
        </p:spPr>
        <p:txBody>
          <a:bodyPr wrap="square" lIns="0" tIns="0" rIns="0" bIns="0" rtlCol="0" anchor="b"/>
          <a:lstStyle/>
          <a:p>
            <a:pPr marL="0" indent="0">
              <a:buNone/>
            </a:pPr>
            <a:r>
              <a:rPr lang="en-US" sz="2700" b="1" dirty="0">
                <a:solidFill>
                  <a:srgbClr val="7A2E2E"/>
                </a:solidFill>
                <a:latin typeface="Cambria" pitchFamily="34" charset="0"/>
                <a:ea typeface="Cambria" pitchFamily="34" charset="-122"/>
                <a:cs typeface="Cambria" pitchFamily="34" charset="-120"/>
              </a:rPr>
              <a:t>Panhala Fort</a:t>
            </a:r>
            <a:endParaRPr lang="en-US" sz="2700" dirty="0"/>
          </a:p>
        </p:txBody>
      </p:sp>
      <p:sp>
        <p:nvSpPr>
          <p:cNvPr id="5" name="Text 2"/>
          <p:cNvSpPr/>
          <p:nvPr/>
        </p:nvSpPr>
        <p:spPr>
          <a:xfrm>
            <a:off x="1188720" y="786384"/>
            <a:ext cx="8778240" cy="274320"/>
          </a:xfrm>
          <a:prstGeom prst="rect">
            <a:avLst/>
          </a:prstGeom>
          <a:noFill/>
          <a:ln/>
        </p:spPr>
        <p:txBody>
          <a:bodyPr wrap="square" lIns="0" tIns="0" rIns="0" bIns="0" rtlCol="0" anchor="ctr"/>
          <a:lstStyle/>
          <a:p>
            <a:pPr marL="0" indent="0">
              <a:buNone/>
            </a:pPr>
            <a:r>
              <a:rPr lang="en-US" sz="1250" i="1" dirty="0">
                <a:solidFill>
                  <a:srgbClr val="746E64"/>
                </a:solidFill>
                <a:latin typeface="Calibri" pitchFamily="34" charset="0"/>
                <a:ea typeface="Calibri" pitchFamily="34" charset="-122"/>
                <a:cs typeface="Calibri" pitchFamily="34" charset="-120"/>
              </a:rPr>
              <a:t>Architecture, Location &amp; Legacy</a:t>
            </a:r>
            <a:endParaRPr lang="en-US" sz="1250" dirty="0"/>
          </a:p>
        </p:txBody>
      </p:sp>
      <p:sp>
        <p:nvSpPr>
          <p:cNvPr id="6" name="Shape 3"/>
          <p:cNvSpPr/>
          <p:nvPr/>
        </p:nvSpPr>
        <p:spPr>
          <a:xfrm>
            <a:off x="9445752" y="438912"/>
            <a:ext cx="2286000" cy="384048"/>
          </a:xfrm>
          <a:prstGeom prst="roundRect">
            <a:avLst>
              <a:gd name="adj" fmla="val 19048"/>
            </a:avLst>
          </a:prstGeom>
          <a:solidFill>
            <a:srgbClr val="F3E4C6"/>
          </a:solidFill>
          <a:ln w="12700">
            <a:solidFill>
              <a:srgbClr val="C98A2B"/>
            </a:solidFill>
            <a:prstDash val="solid"/>
          </a:ln>
        </p:spPr>
      </p:sp>
      <p:sp>
        <p:nvSpPr>
          <p:cNvPr id="7" name="Text 4"/>
          <p:cNvSpPr/>
          <p:nvPr/>
        </p:nvSpPr>
        <p:spPr>
          <a:xfrm>
            <a:off x="9445752" y="438912"/>
            <a:ext cx="2286000" cy="384048"/>
          </a:xfrm>
          <a:prstGeom prst="rect">
            <a:avLst/>
          </a:prstGeom>
          <a:noFill/>
          <a:ln/>
        </p:spPr>
        <p:txBody>
          <a:bodyPr wrap="square" lIns="0" tIns="0" rIns="0" bIns="0" rtlCol="0" anchor="ctr"/>
          <a:lstStyle/>
          <a:p>
            <a:pPr marL="0" indent="0" algn="ctr">
              <a:buNone/>
            </a:pPr>
            <a:r>
              <a:rPr lang="en-US" sz="1100" b="1" dirty="0">
                <a:solidFill>
                  <a:srgbClr val="7A2E2E"/>
                </a:solidFill>
                <a:latin typeface="Calibri" pitchFamily="34" charset="0"/>
                <a:ea typeface="Calibri" pitchFamily="34" charset="-122"/>
                <a:cs typeface="Calibri" pitchFamily="34" charset="-120"/>
              </a:rPr>
              <a:t>Hill fort</a:t>
            </a:r>
            <a:endParaRPr lang="en-US" sz="1100" dirty="0"/>
          </a:p>
        </p:txBody>
      </p:sp>
      <p:sp>
        <p:nvSpPr>
          <p:cNvPr id="8" name="Text 5"/>
          <p:cNvSpPr/>
          <p:nvPr/>
        </p:nvSpPr>
        <p:spPr>
          <a:xfrm>
            <a:off x="457200" y="1325880"/>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ARCHITECTURAL FEATURES</a:t>
            </a:r>
            <a:endParaRPr lang="en-US" sz="1300" dirty="0"/>
          </a:p>
        </p:txBody>
      </p:sp>
      <p:sp>
        <p:nvSpPr>
          <p:cNvPr id="9" name="Text 6"/>
          <p:cNvSpPr/>
          <p:nvPr/>
        </p:nvSpPr>
        <p:spPr>
          <a:xfrm>
            <a:off x="457200" y="1627632"/>
            <a:ext cx="5760720" cy="4572000"/>
          </a:xfrm>
          <a:prstGeom prst="rect">
            <a:avLst/>
          </a:prstGeom>
          <a:noFill/>
          <a:ln/>
        </p:spPr>
        <p:txBody>
          <a:bodyPr wrap="square" lIns="0" tIns="0" rIns="0" bIns="0" rtlCol="0" anchor="t"/>
          <a:lstStyle/>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Teen Darwaza — an imposing triple-gated entrance</a:t>
            </a:r>
            <a:endParaRPr lang="en-US" sz="1200" dirty="0"/>
          </a:p>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Ambarkhana — three linked granary structures (Ganga, Jamuna, Saraswati)</a:t>
            </a:r>
            <a:endParaRPr lang="en-US" sz="1200" dirty="0"/>
          </a:p>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Sajja Kothi, traditionally linked to Sambhaji’s later imprisonment</a:t>
            </a:r>
            <a:endParaRPr lang="en-US" sz="1200" dirty="0"/>
          </a:p>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Andhar Bavडी — a concealed stepped well</a:t>
            </a:r>
            <a:endParaRPr lang="en-US" sz="1200" dirty="0"/>
          </a:p>
        </p:txBody>
      </p:sp>
      <p:sp>
        <p:nvSpPr>
          <p:cNvPr id="10" name="Text 7"/>
          <p:cNvSpPr/>
          <p:nvPr/>
        </p:nvSpPr>
        <p:spPr>
          <a:xfrm>
            <a:off x="457200" y="3776472"/>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SUGGESTED PHOTOGRAPHS</a:t>
            </a:r>
            <a:endParaRPr lang="en-US" sz="1300" dirty="0"/>
          </a:p>
        </p:txBody>
      </p:sp>
      <p:sp>
        <p:nvSpPr>
          <p:cNvPr id="11" name="Shape 8"/>
          <p:cNvSpPr/>
          <p:nvPr/>
        </p:nvSpPr>
        <p:spPr>
          <a:xfrm>
            <a:off x="457200" y="4096512"/>
            <a:ext cx="2798064" cy="868680"/>
          </a:xfrm>
          <a:prstGeom prst="roundRect">
            <a:avLst>
              <a:gd name="adj" fmla="val 6316"/>
            </a:avLst>
          </a:prstGeom>
          <a:solidFill>
            <a:srgbClr val="FFFFFF"/>
          </a:solidFill>
          <a:ln w="12700">
            <a:solidFill>
              <a:srgbClr val="DCD5C7"/>
            </a:solidFill>
            <a:prstDash val="dash"/>
          </a:ln>
        </p:spPr>
      </p:sp>
      <p:sp>
        <p:nvSpPr>
          <p:cNvPr id="12" name="Text 9"/>
          <p:cNvSpPr/>
          <p:nvPr/>
        </p:nvSpPr>
        <p:spPr>
          <a:xfrm>
            <a:off x="566928" y="4096512"/>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Teen Darwaza triple gate</a:t>
            </a:r>
            <a:endParaRPr lang="en-US" sz="1300" dirty="0"/>
          </a:p>
        </p:txBody>
      </p:sp>
      <p:sp>
        <p:nvSpPr>
          <p:cNvPr id="13" name="Shape 10"/>
          <p:cNvSpPr/>
          <p:nvPr/>
        </p:nvSpPr>
        <p:spPr>
          <a:xfrm>
            <a:off x="3419856" y="4096512"/>
            <a:ext cx="2798064" cy="868680"/>
          </a:xfrm>
          <a:prstGeom prst="roundRect">
            <a:avLst>
              <a:gd name="adj" fmla="val 6316"/>
            </a:avLst>
          </a:prstGeom>
          <a:solidFill>
            <a:srgbClr val="FFFFFF"/>
          </a:solidFill>
          <a:ln w="12700">
            <a:solidFill>
              <a:srgbClr val="DCD5C7"/>
            </a:solidFill>
            <a:prstDash val="dash"/>
          </a:ln>
        </p:spPr>
      </p:sp>
      <p:sp>
        <p:nvSpPr>
          <p:cNvPr id="14" name="Text 11"/>
          <p:cNvSpPr/>
          <p:nvPr/>
        </p:nvSpPr>
        <p:spPr>
          <a:xfrm>
            <a:off x="3529584" y="4096512"/>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Ambarkhana granaries</a:t>
            </a:r>
            <a:endParaRPr lang="en-US" sz="1300" dirty="0"/>
          </a:p>
        </p:txBody>
      </p:sp>
      <p:sp>
        <p:nvSpPr>
          <p:cNvPr id="15" name="Shape 12"/>
          <p:cNvSpPr/>
          <p:nvPr/>
        </p:nvSpPr>
        <p:spPr>
          <a:xfrm>
            <a:off x="457200" y="5129784"/>
            <a:ext cx="2798064" cy="868680"/>
          </a:xfrm>
          <a:prstGeom prst="roundRect">
            <a:avLst>
              <a:gd name="adj" fmla="val 6316"/>
            </a:avLst>
          </a:prstGeom>
          <a:solidFill>
            <a:srgbClr val="FFFFFF"/>
          </a:solidFill>
          <a:ln w="12700">
            <a:solidFill>
              <a:srgbClr val="DCD5C7"/>
            </a:solidFill>
            <a:prstDash val="dash"/>
          </a:ln>
        </p:spPr>
      </p:sp>
      <p:sp>
        <p:nvSpPr>
          <p:cNvPr id="16" name="Text 13"/>
          <p:cNvSpPr/>
          <p:nvPr/>
        </p:nvSpPr>
        <p:spPr>
          <a:xfrm>
            <a:off x="566928" y="5129784"/>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Sajja Kothi</a:t>
            </a:r>
            <a:endParaRPr lang="en-US" sz="1300" dirty="0"/>
          </a:p>
        </p:txBody>
      </p:sp>
      <p:sp>
        <p:nvSpPr>
          <p:cNvPr id="17" name="Shape 14"/>
          <p:cNvSpPr/>
          <p:nvPr/>
        </p:nvSpPr>
        <p:spPr>
          <a:xfrm>
            <a:off x="3419856" y="5129784"/>
            <a:ext cx="2798064" cy="868680"/>
          </a:xfrm>
          <a:prstGeom prst="roundRect">
            <a:avLst>
              <a:gd name="adj" fmla="val 6316"/>
            </a:avLst>
          </a:prstGeom>
          <a:solidFill>
            <a:srgbClr val="FFFFFF"/>
          </a:solidFill>
          <a:ln w="12700">
            <a:solidFill>
              <a:srgbClr val="DCD5C7"/>
            </a:solidFill>
            <a:prstDash val="dash"/>
          </a:ln>
        </p:spPr>
      </p:sp>
      <p:sp>
        <p:nvSpPr>
          <p:cNvPr id="18" name="Text 15"/>
          <p:cNvSpPr/>
          <p:nvPr/>
        </p:nvSpPr>
        <p:spPr>
          <a:xfrm>
            <a:off x="3529584" y="5129784"/>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Panoramic view over Kolhapur plateau</a:t>
            </a:r>
            <a:endParaRPr lang="en-US" sz="1300" dirty="0"/>
          </a:p>
        </p:txBody>
      </p:sp>
      <p:sp>
        <p:nvSpPr>
          <p:cNvPr id="19" name="Shape 16"/>
          <p:cNvSpPr/>
          <p:nvPr/>
        </p:nvSpPr>
        <p:spPr>
          <a:xfrm>
            <a:off x="8659368" y="1344168"/>
            <a:ext cx="1648090" cy="2478024"/>
          </a:xfrm>
          <a:prstGeom prst="roundRect">
            <a:avLst>
              <a:gd name="adj" fmla="val 2774"/>
            </a:avLst>
          </a:prstGeom>
          <a:solidFill>
            <a:srgbClr val="FFFFFF"/>
          </a:solidFill>
          <a:ln w="12700">
            <a:solidFill>
              <a:srgbClr val="DCD5C7"/>
            </a:solidFill>
            <a:prstDash val="solid"/>
          </a:ln>
        </p:spPr>
      </p:sp>
      <p:pic>
        <p:nvPicPr>
          <p:cNvPr id="20" name="Image 1" descr="/home/claude/forts/assets/map_panhala.png"/>
          <p:cNvPicPr>
            <a:picLocks noChangeAspect="1"/>
          </p:cNvPicPr>
          <p:nvPr/>
        </p:nvPicPr>
        <p:blipFill>
          <a:blip r:embed="rId4"/>
          <a:stretch>
            <a:fillRect/>
          </a:stretch>
        </p:blipFill>
        <p:spPr>
          <a:xfrm>
            <a:off x="8732520" y="1417320"/>
            <a:ext cx="1501786" cy="2331720"/>
          </a:xfrm>
          <a:prstGeom prst="rect">
            <a:avLst/>
          </a:prstGeom>
        </p:spPr>
      </p:pic>
      <p:sp>
        <p:nvSpPr>
          <p:cNvPr id="21" name="Text 17"/>
          <p:cNvSpPr/>
          <p:nvPr/>
        </p:nvSpPr>
        <p:spPr>
          <a:xfrm>
            <a:off x="6583680" y="3858768"/>
            <a:ext cx="5120640" cy="274320"/>
          </a:xfrm>
          <a:prstGeom prst="rect">
            <a:avLst/>
          </a:prstGeom>
          <a:noFill/>
          <a:ln/>
        </p:spPr>
        <p:txBody>
          <a:bodyPr wrap="square" lIns="0" tIns="0" rIns="0" bIns="0" rtlCol="0" anchor="ctr"/>
          <a:lstStyle/>
          <a:p>
            <a:pPr marL="0" indent="0" algn="r">
              <a:buNone/>
            </a:pPr>
            <a:r>
              <a:rPr lang="en-US" sz="1000" i="1" dirty="0">
                <a:solidFill>
                  <a:srgbClr val="746E64"/>
                </a:solidFill>
                <a:latin typeface="Calibri" pitchFamily="34" charset="0"/>
                <a:ea typeface="Calibri" pitchFamily="34" charset="-122"/>
                <a:cs typeface="Calibri" pitchFamily="34" charset="-120"/>
              </a:rPr>
              <a:t>Location within Maharashtra</a:t>
            </a:r>
            <a:endParaRPr lang="en-US" sz="1000" dirty="0"/>
          </a:p>
        </p:txBody>
      </p:sp>
      <p:sp>
        <p:nvSpPr>
          <p:cNvPr id="22" name="Shape 18"/>
          <p:cNvSpPr/>
          <p:nvPr/>
        </p:nvSpPr>
        <p:spPr>
          <a:xfrm>
            <a:off x="6537960" y="4160520"/>
            <a:ext cx="5120640" cy="1783080"/>
          </a:xfrm>
          <a:prstGeom prst="roundRect">
            <a:avLst>
              <a:gd name="adj" fmla="val 4103"/>
            </a:avLst>
          </a:prstGeom>
          <a:solidFill>
            <a:srgbClr val="F3E4C6"/>
          </a:solidFill>
          <a:ln w="12700">
            <a:solidFill>
              <a:srgbClr val="C98A2B"/>
            </a:solidFill>
            <a:prstDash val="solid"/>
          </a:ln>
        </p:spPr>
      </p:sp>
      <p:sp>
        <p:nvSpPr>
          <p:cNvPr id="23" name="Text 19"/>
          <p:cNvSpPr/>
          <p:nvPr/>
        </p:nvSpPr>
        <p:spPr>
          <a:xfrm>
            <a:off x="6739128" y="4288536"/>
            <a:ext cx="4718304" cy="1527048"/>
          </a:xfrm>
          <a:prstGeom prst="rect">
            <a:avLst/>
          </a:prstGeom>
          <a:noFill/>
          <a:ln/>
        </p:spPr>
        <p:txBody>
          <a:bodyPr wrap="square" lIns="0" tIns="0" rIns="0" bIns="0" rtlCol="0" anchor="t"/>
          <a:lstStyle/>
          <a:p>
            <a:pPr marL="0" indent="0">
              <a:lnSpc>
                <a:spcPct val="115000"/>
              </a:lnSpc>
              <a:buNone/>
            </a:pPr>
            <a:r>
              <a:rPr lang="en-US" sz="1050" b="1" kern="0" spc="100" dirty="0">
                <a:solidFill>
                  <a:srgbClr val="7A2E2E"/>
                </a:solidFill>
                <a:latin typeface="Calibri" pitchFamily="34" charset="0"/>
                <a:ea typeface="Calibri" pitchFamily="34" charset="-122"/>
                <a:cs typeface="Calibri" pitchFamily="34" charset="-120"/>
              </a:rPr>
              <a:t>DID YOU KNOW?
</a:t>
            </a:r>
            <a:r>
              <a:rPr lang="en-US" sz="1150" i="1" dirty="0">
                <a:solidFill>
                  <a:srgbClr val="2A2622"/>
                </a:solidFill>
                <a:latin typeface="Calibri" pitchFamily="34" charset="0"/>
                <a:ea typeface="Calibri" pitchFamily="34" charset="-122"/>
                <a:cs typeface="Calibri" pitchFamily="34" charset="-120"/>
              </a:rPr>
              <a:t>Panhala changed hands so often in the 17th century that Maratha chronicles describe it as being "won thrice" by Shivaji and his successors.</a:t>
            </a:r>
            <a:endParaRPr lang="en-US" sz="1050" dirty="0"/>
          </a:p>
        </p:txBody>
      </p:sp>
      <p:sp>
        <p:nvSpPr>
          <p:cNvPr id="24" name="Text 20"/>
          <p:cNvSpPr/>
          <p:nvPr/>
        </p:nvSpPr>
        <p:spPr>
          <a:xfrm>
            <a:off x="457200" y="6473952"/>
            <a:ext cx="7315200" cy="274320"/>
          </a:xfrm>
          <a:prstGeom prst="rect">
            <a:avLst/>
          </a:prstGeom>
          <a:noFill/>
          <a:ln/>
        </p:spPr>
        <p:txBody>
          <a:bodyPr wrap="square" lIns="0" tIns="0" rIns="0" bIns="0" rtlCol="0" anchor="ctr"/>
          <a:lstStyle/>
          <a:p>
            <a:pPr marL="0" indent="0">
              <a:buNone/>
            </a:pPr>
            <a:r>
              <a:rPr lang="en-US" sz="900" i="1" dirty="0">
                <a:solidFill>
                  <a:srgbClr val="746E64"/>
                </a:solidFill>
                <a:latin typeface="Calibri" pitchFamily="34" charset="0"/>
                <a:ea typeface="Calibri" pitchFamily="34" charset="-122"/>
                <a:cs typeface="Calibri" pitchFamily="34" charset="-120"/>
              </a:rPr>
              <a:t>Panhala Fort (2/2)</a:t>
            </a:r>
            <a:endParaRPr lang="en-US" sz="900" dirty="0"/>
          </a:p>
        </p:txBody>
      </p:sp>
      <p:sp>
        <p:nvSpPr>
          <p:cNvPr id="25" name="Text 21"/>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746E64"/>
                </a:solidFill>
                <a:latin typeface="Calibri" pitchFamily="34" charset="0"/>
                <a:ea typeface="Calibri" pitchFamily="34" charset="-122"/>
                <a:cs typeface="Calibri" pitchFamily="34" charset="-120"/>
              </a:rPr>
              <a:t>18</a:t>
            </a:r>
            <a:endParaRPr lang="en-US" sz="900" dirty="0"/>
          </a:p>
        </p:txBody>
      </p:sp>
      <p:pic>
        <p:nvPicPr>
          <p:cNvPr id="26" name="Picture 25" descr="Bot Verification">
            <a:extLst>
              <a:ext uri="{FF2B5EF4-FFF2-40B4-BE49-F238E27FC236}">
                <a16:creationId xmlns:a16="http://schemas.microsoft.com/office/drawing/2014/main" id="{8AB787F0-FF83-13CD-19AE-73F03983DFD9}"/>
              </a:ext>
            </a:extLst>
          </p:cNvPr>
          <p:cNvPicPr>
            <a:picLocks noChangeAspect="1"/>
          </p:cNvPicPr>
          <p:nvPr/>
        </p:nvPicPr>
        <p:blipFill>
          <a:blip r:embed="rId5"/>
          <a:stretch>
            <a:fillRect/>
          </a:stretch>
        </p:blipFill>
        <p:spPr>
          <a:xfrm>
            <a:off x="91440" y="2807368"/>
            <a:ext cx="6103620" cy="395919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3E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C98A2B"/>
          </a:solidFill>
          <a:ln/>
        </p:spPr>
      </p:sp>
      <p:pic>
        <p:nvPicPr>
          <p:cNvPr id="3" name="Image 0" descr="/home/claude/forts/assets/fort_icon_white.png"/>
          <p:cNvPicPr>
            <a:picLocks noChangeAspect="1"/>
          </p:cNvPicPr>
          <p:nvPr/>
        </p:nvPicPr>
        <p:blipFill>
          <a:blip r:embed="rId3"/>
          <a:stretch>
            <a:fillRect/>
          </a:stretch>
        </p:blipFill>
        <p:spPr>
          <a:xfrm>
            <a:off x="576072" y="502920"/>
            <a:ext cx="329184" cy="329184"/>
          </a:xfrm>
          <a:prstGeom prst="rect">
            <a:avLst/>
          </a:prstGeom>
        </p:spPr>
      </p:pic>
      <p:sp>
        <p:nvSpPr>
          <p:cNvPr id="4" name="Text 1"/>
          <p:cNvSpPr/>
          <p:nvPr/>
        </p:nvSpPr>
        <p:spPr>
          <a:xfrm>
            <a:off x="1170432" y="310896"/>
            <a:ext cx="8778240" cy="457200"/>
          </a:xfrm>
          <a:prstGeom prst="rect">
            <a:avLst/>
          </a:prstGeom>
          <a:noFill/>
          <a:ln/>
        </p:spPr>
        <p:txBody>
          <a:bodyPr wrap="square" lIns="0" tIns="0" rIns="0" bIns="0" rtlCol="0" anchor="b"/>
          <a:lstStyle/>
          <a:p>
            <a:pPr marL="0" indent="0">
              <a:buNone/>
            </a:pPr>
            <a:r>
              <a:rPr lang="en-US" sz="2700" b="1" dirty="0">
                <a:solidFill>
                  <a:srgbClr val="7A2E2E"/>
                </a:solidFill>
                <a:latin typeface="Cambria" pitchFamily="34" charset="0"/>
                <a:ea typeface="Cambria" pitchFamily="34" charset="-122"/>
                <a:cs typeface="Cambria" pitchFamily="34" charset="-120"/>
              </a:rPr>
              <a:t>Vishalgad Fort</a:t>
            </a:r>
            <a:endParaRPr lang="en-US" sz="2700" dirty="0"/>
          </a:p>
        </p:txBody>
      </p:sp>
      <p:sp>
        <p:nvSpPr>
          <p:cNvPr id="5" name="Text 2"/>
          <p:cNvSpPr/>
          <p:nvPr/>
        </p:nvSpPr>
        <p:spPr>
          <a:xfrm>
            <a:off x="1188720" y="786384"/>
            <a:ext cx="8778240" cy="274320"/>
          </a:xfrm>
          <a:prstGeom prst="rect">
            <a:avLst/>
          </a:prstGeom>
          <a:noFill/>
          <a:ln/>
        </p:spPr>
        <p:txBody>
          <a:bodyPr wrap="square" lIns="0" tIns="0" rIns="0" bIns="0" rtlCol="0" anchor="ctr"/>
          <a:lstStyle/>
          <a:p>
            <a:pPr marL="0" indent="0">
              <a:buNone/>
            </a:pPr>
            <a:r>
              <a:rPr lang="en-US" sz="1250" i="1" dirty="0">
                <a:solidFill>
                  <a:srgbClr val="746E64"/>
                </a:solidFill>
                <a:latin typeface="Calibri" pitchFamily="34" charset="0"/>
                <a:ea typeface="Calibri" pitchFamily="34" charset="-122"/>
                <a:cs typeface="Calibri" pitchFamily="34" charset="-120"/>
              </a:rPr>
              <a:t>Khelna (earlier name)  •  Shahuwadi Taluka, Kolhapur District, Maharashtra</a:t>
            </a:r>
            <a:endParaRPr lang="en-US" sz="1250" dirty="0"/>
          </a:p>
        </p:txBody>
      </p:sp>
      <p:sp>
        <p:nvSpPr>
          <p:cNvPr id="6" name="Shape 3"/>
          <p:cNvSpPr/>
          <p:nvPr/>
        </p:nvSpPr>
        <p:spPr>
          <a:xfrm>
            <a:off x="9445752" y="438912"/>
            <a:ext cx="2286000" cy="384048"/>
          </a:xfrm>
          <a:prstGeom prst="roundRect">
            <a:avLst>
              <a:gd name="adj" fmla="val 19048"/>
            </a:avLst>
          </a:prstGeom>
          <a:solidFill>
            <a:srgbClr val="F3E4C6"/>
          </a:solidFill>
          <a:ln w="12700">
            <a:solidFill>
              <a:srgbClr val="C98A2B"/>
            </a:solidFill>
            <a:prstDash val="solid"/>
          </a:ln>
        </p:spPr>
      </p:sp>
      <p:sp>
        <p:nvSpPr>
          <p:cNvPr id="7" name="Text 4"/>
          <p:cNvSpPr/>
          <p:nvPr/>
        </p:nvSpPr>
        <p:spPr>
          <a:xfrm>
            <a:off x="9445752" y="438912"/>
            <a:ext cx="2286000" cy="384048"/>
          </a:xfrm>
          <a:prstGeom prst="rect">
            <a:avLst/>
          </a:prstGeom>
          <a:noFill/>
          <a:ln/>
        </p:spPr>
        <p:txBody>
          <a:bodyPr wrap="square" lIns="0" tIns="0" rIns="0" bIns="0" rtlCol="0" anchor="ctr"/>
          <a:lstStyle/>
          <a:p>
            <a:pPr marL="0" indent="0" algn="ctr">
              <a:buNone/>
            </a:pPr>
            <a:r>
              <a:rPr lang="en-US" sz="1100" b="1" dirty="0">
                <a:solidFill>
                  <a:srgbClr val="7A2E2E"/>
                </a:solidFill>
                <a:latin typeface="Calibri" pitchFamily="34" charset="0"/>
                <a:ea typeface="Calibri" pitchFamily="34" charset="-122"/>
                <a:cs typeface="Calibri" pitchFamily="34" charset="-120"/>
              </a:rPr>
              <a:t>Hill fort</a:t>
            </a:r>
            <a:endParaRPr lang="en-US" sz="1100" dirty="0"/>
          </a:p>
        </p:txBody>
      </p:sp>
      <p:sp>
        <p:nvSpPr>
          <p:cNvPr id="8" name="Text 5"/>
          <p:cNvSpPr/>
          <p:nvPr/>
        </p:nvSpPr>
        <p:spPr>
          <a:xfrm>
            <a:off x="457200" y="1325880"/>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HISTORY</a:t>
            </a:r>
            <a:endParaRPr lang="en-US" sz="1300" dirty="0"/>
          </a:p>
        </p:txBody>
      </p:sp>
      <p:sp>
        <p:nvSpPr>
          <p:cNvPr id="9" name="Text 6"/>
          <p:cNvSpPr/>
          <p:nvPr/>
        </p:nvSpPr>
        <p:spPr>
          <a:xfrm>
            <a:off x="457200" y="1627632"/>
            <a:ext cx="5760720" cy="4572000"/>
          </a:xfrm>
          <a:prstGeom prst="rect">
            <a:avLst/>
          </a:prstGeom>
          <a:noFill/>
          <a:ln/>
        </p:spPr>
        <p:txBody>
          <a:bodyPr wrap="square" lIns="0" tIns="0" rIns="0" bIns="0" rtlCol="0" anchor="t"/>
          <a:lstStyle/>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An old fort of Shilahara-Yadava origin, later held by the Adilshahi (Bijapur) kingdom</a:t>
            </a:r>
            <a:endParaRPr lang="en-US" sz="1250" dirty="0"/>
          </a:p>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Came under Maratha control around 1659 as Shivaji expanded through the Kolhapur region</a:t>
            </a:r>
            <a:endParaRPr lang="en-US" sz="1250" dirty="0"/>
          </a:p>
        </p:txBody>
      </p:sp>
      <p:sp>
        <p:nvSpPr>
          <p:cNvPr id="10" name="Text 7"/>
          <p:cNvSpPr/>
          <p:nvPr/>
        </p:nvSpPr>
        <p:spPr>
          <a:xfrm>
            <a:off x="457200" y="2990088"/>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ROLE IN SHIVAJI'S SWARAJYA</a:t>
            </a:r>
            <a:endParaRPr lang="en-US" sz="1300" dirty="0"/>
          </a:p>
        </p:txBody>
      </p:sp>
      <p:sp>
        <p:nvSpPr>
          <p:cNvPr id="11" name="Text 8"/>
          <p:cNvSpPr/>
          <p:nvPr/>
        </p:nvSpPr>
        <p:spPr>
          <a:xfrm>
            <a:off x="457200" y="3291840"/>
            <a:ext cx="5760720" cy="4572000"/>
          </a:xfrm>
          <a:prstGeom prst="rect">
            <a:avLst/>
          </a:prstGeom>
          <a:noFill/>
          <a:ln/>
        </p:spPr>
        <p:txBody>
          <a:bodyPr wrap="square" lIns="0" tIns="0" rIns="0" bIns="0" rtlCol="0" anchor="t"/>
          <a:lstStyle/>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Destination of Shivaji Maharaj’s escape from the siege of Panhala in 1660</a:t>
            </a:r>
            <a:endParaRPr lang="en-US" sz="1250" dirty="0"/>
          </a:p>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Reached safely only because of the rearguard stand of Baji Prabhu Deshpande and Fuloji at Ghod Khind</a:t>
            </a:r>
            <a:endParaRPr lang="en-US" sz="1250" dirty="0"/>
          </a:p>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The pass was renamed Pavan Khind ("sacred pass") in honour of their sacrifice</a:t>
            </a:r>
            <a:endParaRPr lang="en-US" sz="1250" dirty="0"/>
          </a:p>
        </p:txBody>
      </p:sp>
      <p:sp>
        <p:nvSpPr>
          <p:cNvPr id="12" name="Text 9"/>
          <p:cNvSpPr/>
          <p:nvPr/>
        </p:nvSpPr>
        <p:spPr>
          <a:xfrm>
            <a:off x="457200" y="4615314"/>
            <a:ext cx="512064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KEY EVENTS</a:t>
            </a:r>
            <a:endParaRPr lang="en-US" sz="1300" dirty="0"/>
          </a:p>
        </p:txBody>
      </p:sp>
      <p:sp>
        <p:nvSpPr>
          <p:cNvPr id="14" name="Text 11"/>
          <p:cNvSpPr/>
          <p:nvPr/>
        </p:nvSpPr>
        <p:spPr>
          <a:xfrm>
            <a:off x="619145" y="5074920"/>
            <a:ext cx="4864608" cy="457200"/>
          </a:xfrm>
          <a:prstGeom prst="rect">
            <a:avLst/>
          </a:prstGeom>
          <a:noFill/>
          <a:ln/>
        </p:spPr>
        <p:txBody>
          <a:bodyPr wrap="square" lIns="0" tIns="0" rIns="0" bIns="0" rtlCol="0" anchor="t"/>
          <a:lstStyle/>
          <a:p>
            <a:pPr marL="0" indent="0">
              <a:lnSpc>
                <a:spcPct val="110000"/>
              </a:lnSpc>
              <a:buNone/>
            </a:pPr>
            <a:r>
              <a:rPr lang="en-US" sz="1200" b="1" dirty="0">
                <a:solidFill>
                  <a:srgbClr val="7A2E2E"/>
                </a:solidFill>
                <a:latin typeface="Calibri" pitchFamily="34" charset="0"/>
                <a:ea typeface="Calibri" pitchFamily="34" charset="-122"/>
                <a:cs typeface="Calibri" pitchFamily="34" charset="-120"/>
              </a:rPr>
              <a:t>c.1659  </a:t>
            </a:r>
            <a:r>
              <a:rPr lang="en-US" sz="1200" dirty="0">
                <a:solidFill>
                  <a:srgbClr val="2A2622"/>
                </a:solidFill>
                <a:latin typeface="Calibri" pitchFamily="34" charset="0"/>
                <a:ea typeface="Calibri" pitchFamily="34" charset="-122"/>
                <a:cs typeface="Calibri" pitchFamily="34" charset="-120"/>
              </a:rPr>
              <a:t>Comes under Maratha control</a:t>
            </a:r>
            <a:endParaRPr lang="en-US" sz="1200" dirty="0"/>
          </a:p>
        </p:txBody>
      </p:sp>
      <p:sp>
        <p:nvSpPr>
          <p:cNvPr id="16" name="Text 13"/>
          <p:cNvSpPr/>
          <p:nvPr/>
        </p:nvSpPr>
        <p:spPr>
          <a:xfrm>
            <a:off x="576072" y="5443567"/>
            <a:ext cx="4864608" cy="457200"/>
          </a:xfrm>
          <a:prstGeom prst="rect">
            <a:avLst/>
          </a:prstGeom>
          <a:noFill/>
          <a:ln/>
        </p:spPr>
        <p:txBody>
          <a:bodyPr wrap="square" lIns="0" tIns="0" rIns="0" bIns="0" rtlCol="0" anchor="t"/>
          <a:lstStyle/>
          <a:p>
            <a:pPr marL="0" indent="0">
              <a:lnSpc>
                <a:spcPct val="110000"/>
              </a:lnSpc>
              <a:buNone/>
            </a:pPr>
            <a:r>
              <a:rPr lang="en-US" sz="1200" b="1" dirty="0">
                <a:solidFill>
                  <a:srgbClr val="7A2E2E"/>
                </a:solidFill>
                <a:latin typeface="Calibri" pitchFamily="34" charset="0"/>
                <a:ea typeface="Calibri" pitchFamily="34" charset="-122"/>
                <a:cs typeface="Calibri" pitchFamily="34" charset="-120"/>
              </a:rPr>
              <a:t>13 Jul 1660  </a:t>
            </a:r>
            <a:r>
              <a:rPr lang="en-US" sz="1200" dirty="0">
                <a:solidFill>
                  <a:srgbClr val="2A2622"/>
                </a:solidFill>
                <a:latin typeface="Calibri" pitchFamily="34" charset="0"/>
                <a:ea typeface="Calibri" pitchFamily="34" charset="-122"/>
                <a:cs typeface="Calibri" pitchFamily="34" charset="-120"/>
              </a:rPr>
              <a:t>Battle of Pavan Khind; Shivaji reaches Vishalgad safely</a:t>
            </a:r>
            <a:endParaRPr lang="en-US" sz="1200" dirty="0"/>
          </a:p>
        </p:txBody>
      </p:sp>
      <p:sp>
        <p:nvSpPr>
          <p:cNvPr id="17" name="Shape 14"/>
          <p:cNvSpPr/>
          <p:nvPr/>
        </p:nvSpPr>
        <p:spPr>
          <a:xfrm>
            <a:off x="6611112" y="1177731"/>
            <a:ext cx="5120640" cy="777240"/>
          </a:xfrm>
          <a:prstGeom prst="roundRect">
            <a:avLst>
              <a:gd name="adj" fmla="val 9412"/>
            </a:avLst>
          </a:prstGeom>
          <a:solidFill>
            <a:srgbClr val="F3E4C6"/>
          </a:solidFill>
          <a:ln w="12700">
            <a:solidFill>
              <a:srgbClr val="C98A2B"/>
            </a:solidFill>
            <a:prstDash val="solid"/>
          </a:ln>
        </p:spPr>
      </p:sp>
      <p:sp>
        <p:nvSpPr>
          <p:cNvPr id="18" name="Text 15"/>
          <p:cNvSpPr/>
          <p:nvPr/>
        </p:nvSpPr>
        <p:spPr>
          <a:xfrm>
            <a:off x="6793992" y="1260027"/>
            <a:ext cx="4754880" cy="640080"/>
          </a:xfrm>
          <a:prstGeom prst="rect">
            <a:avLst/>
          </a:prstGeom>
          <a:noFill/>
          <a:ln/>
        </p:spPr>
        <p:txBody>
          <a:bodyPr wrap="square" lIns="0" tIns="0" rIns="0" bIns="0" rtlCol="0" anchor="t"/>
          <a:lstStyle/>
          <a:p>
            <a:pPr marL="0" indent="0">
              <a:lnSpc>
                <a:spcPct val="115000"/>
              </a:lnSpc>
              <a:buNone/>
            </a:pPr>
            <a:r>
              <a:rPr lang="en-US" sz="1000" b="1" kern="0" spc="100" dirty="0">
                <a:solidFill>
                  <a:srgbClr val="7A2E2E"/>
                </a:solidFill>
                <a:latin typeface="Calibri" pitchFamily="34" charset="0"/>
                <a:ea typeface="Calibri" pitchFamily="34" charset="-122"/>
                <a:cs typeface="Calibri" pitchFamily="34" charset="-120"/>
              </a:rPr>
              <a:t>SHIVAJI MAHARAJ'S ASSOCIATION
</a:t>
            </a:r>
            <a:r>
              <a:rPr lang="en-US" sz="1150" dirty="0">
                <a:solidFill>
                  <a:srgbClr val="2A2622"/>
                </a:solidFill>
                <a:latin typeface="Calibri" pitchFamily="34" charset="0"/>
                <a:ea typeface="Calibri" pitchFamily="34" charset="-122"/>
                <a:cs typeface="Calibri" pitchFamily="34" charset="-120"/>
              </a:rPr>
              <a:t>c.1659–60 — closely tied to the Panhala escape</a:t>
            </a:r>
            <a:endParaRPr lang="en-US" sz="1000" dirty="0"/>
          </a:p>
        </p:txBody>
      </p:sp>
      <p:sp>
        <p:nvSpPr>
          <p:cNvPr id="19" name="Text 16"/>
          <p:cNvSpPr/>
          <p:nvPr/>
        </p:nvSpPr>
        <p:spPr>
          <a:xfrm>
            <a:off x="457200" y="6473952"/>
            <a:ext cx="7315200" cy="274320"/>
          </a:xfrm>
          <a:prstGeom prst="rect">
            <a:avLst/>
          </a:prstGeom>
          <a:noFill/>
          <a:ln/>
        </p:spPr>
        <p:txBody>
          <a:bodyPr wrap="square" lIns="0" tIns="0" rIns="0" bIns="0" rtlCol="0" anchor="ctr"/>
          <a:lstStyle/>
          <a:p>
            <a:pPr marL="0" indent="0">
              <a:buNone/>
            </a:pPr>
            <a:r>
              <a:rPr lang="en-US" sz="900" i="1" dirty="0">
                <a:solidFill>
                  <a:srgbClr val="746E64"/>
                </a:solidFill>
                <a:latin typeface="Calibri" pitchFamily="34" charset="0"/>
                <a:ea typeface="Calibri" pitchFamily="34" charset="-122"/>
                <a:cs typeface="Calibri" pitchFamily="34" charset="-120"/>
              </a:rPr>
              <a:t>Vishalgad Fort (1/2)</a:t>
            </a:r>
            <a:endParaRPr lang="en-US" sz="900" dirty="0"/>
          </a:p>
        </p:txBody>
      </p:sp>
      <p:sp>
        <p:nvSpPr>
          <p:cNvPr id="20" name="Text 1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746E64"/>
                </a:solidFill>
                <a:latin typeface="Calibri" pitchFamily="34" charset="0"/>
                <a:ea typeface="Calibri" pitchFamily="34" charset="-122"/>
                <a:cs typeface="Calibri" pitchFamily="34" charset="-120"/>
              </a:rPr>
              <a:t>19</a:t>
            </a:r>
            <a:endParaRPr lang="en-US" sz="900" dirty="0"/>
          </a:p>
        </p:txBody>
      </p:sp>
      <p:pic>
        <p:nvPicPr>
          <p:cNvPr id="23" name="Picture 22" descr="Vishalgad Travel Guide: Best of Vishalgad, Shahuwadi Travel 2026 | Expedia.co.in">
            <a:extLst>
              <a:ext uri="{FF2B5EF4-FFF2-40B4-BE49-F238E27FC236}">
                <a16:creationId xmlns:a16="http://schemas.microsoft.com/office/drawing/2014/main" id="{D897DACE-63B2-2878-7759-AEFEDCA8B624}"/>
              </a:ext>
            </a:extLst>
          </p:cNvPr>
          <p:cNvPicPr>
            <a:picLocks noChangeAspect="1"/>
          </p:cNvPicPr>
          <p:nvPr/>
        </p:nvPicPr>
        <p:blipFill>
          <a:blip r:embed="rId4"/>
          <a:stretch>
            <a:fillRect/>
          </a:stretch>
        </p:blipFill>
        <p:spPr>
          <a:xfrm>
            <a:off x="6094412" y="2174427"/>
            <a:ext cx="6001335" cy="4572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3E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C98A2B"/>
          </a:solidFill>
          <a:ln/>
        </p:spPr>
      </p:sp>
      <p:pic>
        <p:nvPicPr>
          <p:cNvPr id="3" name="Image 0" descr="/home/claude/forts/assets/fort_icon_white.png"/>
          <p:cNvPicPr>
            <a:picLocks noChangeAspect="1"/>
          </p:cNvPicPr>
          <p:nvPr/>
        </p:nvPicPr>
        <p:blipFill>
          <a:blip r:embed="rId3"/>
          <a:stretch>
            <a:fillRect/>
          </a:stretch>
        </p:blipFill>
        <p:spPr>
          <a:xfrm>
            <a:off x="576072" y="502920"/>
            <a:ext cx="329184" cy="329184"/>
          </a:xfrm>
          <a:prstGeom prst="rect">
            <a:avLst/>
          </a:prstGeom>
        </p:spPr>
      </p:pic>
      <p:sp>
        <p:nvSpPr>
          <p:cNvPr id="4" name="Text 1"/>
          <p:cNvSpPr/>
          <p:nvPr/>
        </p:nvSpPr>
        <p:spPr>
          <a:xfrm>
            <a:off x="1170432" y="310896"/>
            <a:ext cx="8778240" cy="457200"/>
          </a:xfrm>
          <a:prstGeom prst="rect">
            <a:avLst/>
          </a:prstGeom>
          <a:noFill/>
          <a:ln/>
        </p:spPr>
        <p:txBody>
          <a:bodyPr wrap="square" lIns="0" tIns="0" rIns="0" bIns="0" rtlCol="0" anchor="b"/>
          <a:lstStyle/>
          <a:p>
            <a:pPr marL="0" indent="0">
              <a:buNone/>
            </a:pPr>
            <a:r>
              <a:rPr lang="en-US" sz="2700" b="1" dirty="0">
                <a:solidFill>
                  <a:srgbClr val="7A2E2E"/>
                </a:solidFill>
                <a:latin typeface="Cambria" pitchFamily="34" charset="0"/>
                <a:ea typeface="Cambria" pitchFamily="34" charset="-122"/>
                <a:cs typeface="Cambria" pitchFamily="34" charset="-120"/>
              </a:rPr>
              <a:t>Vishalgad Fort</a:t>
            </a:r>
            <a:endParaRPr lang="en-US" sz="2700" dirty="0"/>
          </a:p>
        </p:txBody>
      </p:sp>
      <p:sp>
        <p:nvSpPr>
          <p:cNvPr id="5" name="Text 2"/>
          <p:cNvSpPr/>
          <p:nvPr/>
        </p:nvSpPr>
        <p:spPr>
          <a:xfrm>
            <a:off x="1188720" y="786384"/>
            <a:ext cx="8778240" cy="274320"/>
          </a:xfrm>
          <a:prstGeom prst="rect">
            <a:avLst/>
          </a:prstGeom>
          <a:noFill/>
          <a:ln/>
        </p:spPr>
        <p:txBody>
          <a:bodyPr wrap="square" lIns="0" tIns="0" rIns="0" bIns="0" rtlCol="0" anchor="ctr"/>
          <a:lstStyle/>
          <a:p>
            <a:pPr marL="0" indent="0">
              <a:buNone/>
            </a:pPr>
            <a:r>
              <a:rPr lang="en-US" sz="1250" i="1" dirty="0">
                <a:solidFill>
                  <a:srgbClr val="746E64"/>
                </a:solidFill>
                <a:latin typeface="Calibri" pitchFamily="34" charset="0"/>
                <a:ea typeface="Calibri" pitchFamily="34" charset="-122"/>
                <a:cs typeface="Calibri" pitchFamily="34" charset="-120"/>
              </a:rPr>
              <a:t>Architecture, Location &amp; Legacy</a:t>
            </a:r>
            <a:endParaRPr lang="en-US" sz="1250" dirty="0"/>
          </a:p>
        </p:txBody>
      </p:sp>
      <p:sp>
        <p:nvSpPr>
          <p:cNvPr id="6" name="Shape 3"/>
          <p:cNvSpPr/>
          <p:nvPr/>
        </p:nvSpPr>
        <p:spPr>
          <a:xfrm>
            <a:off x="9445752" y="438912"/>
            <a:ext cx="2286000" cy="384048"/>
          </a:xfrm>
          <a:prstGeom prst="roundRect">
            <a:avLst>
              <a:gd name="adj" fmla="val 19048"/>
            </a:avLst>
          </a:prstGeom>
          <a:solidFill>
            <a:srgbClr val="F3E4C6"/>
          </a:solidFill>
          <a:ln w="12700">
            <a:solidFill>
              <a:srgbClr val="C98A2B"/>
            </a:solidFill>
            <a:prstDash val="solid"/>
          </a:ln>
        </p:spPr>
      </p:sp>
      <p:sp>
        <p:nvSpPr>
          <p:cNvPr id="7" name="Text 4"/>
          <p:cNvSpPr/>
          <p:nvPr/>
        </p:nvSpPr>
        <p:spPr>
          <a:xfrm>
            <a:off x="9445752" y="438912"/>
            <a:ext cx="2286000" cy="384048"/>
          </a:xfrm>
          <a:prstGeom prst="rect">
            <a:avLst/>
          </a:prstGeom>
          <a:noFill/>
          <a:ln/>
        </p:spPr>
        <p:txBody>
          <a:bodyPr wrap="square" lIns="0" tIns="0" rIns="0" bIns="0" rtlCol="0" anchor="ctr"/>
          <a:lstStyle/>
          <a:p>
            <a:pPr marL="0" indent="0" algn="ctr">
              <a:buNone/>
            </a:pPr>
            <a:r>
              <a:rPr lang="en-US" sz="1100" b="1" dirty="0">
                <a:solidFill>
                  <a:srgbClr val="7A2E2E"/>
                </a:solidFill>
                <a:latin typeface="Calibri" pitchFamily="34" charset="0"/>
                <a:ea typeface="Calibri" pitchFamily="34" charset="-122"/>
                <a:cs typeface="Calibri" pitchFamily="34" charset="-120"/>
              </a:rPr>
              <a:t>Hill fort</a:t>
            </a:r>
            <a:endParaRPr lang="en-US" sz="1100" dirty="0"/>
          </a:p>
        </p:txBody>
      </p:sp>
      <p:sp>
        <p:nvSpPr>
          <p:cNvPr id="8" name="Text 5"/>
          <p:cNvSpPr/>
          <p:nvPr/>
        </p:nvSpPr>
        <p:spPr>
          <a:xfrm>
            <a:off x="457200" y="1325880"/>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ARCHITECTURAL FEATURES</a:t>
            </a:r>
            <a:endParaRPr lang="en-US" sz="1300" dirty="0"/>
          </a:p>
        </p:txBody>
      </p:sp>
      <p:sp>
        <p:nvSpPr>
          <p:cNvPr id="9" name="Text 6"/>
          <p:cNvSpPr/>
          <p:nvPr/>
        </p:nvSpPr>
        <p:spPr>
          <a:xfrm>
            <a:off x="457200" y="1627632"/>
            <a:ext cx="5760720" cy="4572000"/>
          </a:xfrm>
          <a:prstGeom prst="rect">
            <a:avLst/>
          </a:prstGeom>
          <a:noFill/>
          <a:ln/>
        </p:spPr>
        <p:txBody>
          <a:bodyPr wrap="square" lIns="0" tIns="0" rIns="0" bIns="0" rtlCol="0" anchor="t"/>
          <a:lstStyle/>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Three concentric tiers of fortification following the hill’s contours</a:t>
            </a:r>
            <a:endParaRPr lang="en-US" sz="1200" dirty="0"/>
          </a:p>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Samadhis (memorials) of Baji Prabhu and Fuloji Deshpande near Pavan Khind</a:t>
            </a:r>
            <a:endParaRPr lang="en-US" sz="1200" dirty="0"/>
          </a:p>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Amruteshwar temple on the plateau</a:t>
            </a:r>
            <a:endParaRPr lang="en-US" sz="1200" dirty="0"/>
          </a:p>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Remnants of watchtowers along the ridge</a:t>
            </a:r>
            <a:endParaRPr lang="en-US" sz="1200" dirty="0"/>
          </a:p>
        </p:txBody>
      </p:sp>
      <p:sp>
        <p:nvSpPr>
          <p:cNvPr id="10" name="Text 7"/>
          <p:cNvSpPr/>
          <p:nvPr/>
        </p:nvSpPr>
        <p:spPr>
          <a:xfrm>
            <a:off x="457200" y="3776472"/>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SUGGESTED PHOTOGRAPHS</a:t>
            </a:r>
            <a:endParaRPr lang="en-US" sz="1300" dirty="0"/>
          </a:p>
        </p:txBody>
      </p:sp>
      <p:sp>
        <p:nvSpPr>
          <p:cNvPr id="11" name="Shape 8"/>
          <p:cNvSpPr/>
          <p:nvPr/>
        </p:nvSpPr>
        <p:spPr>
          <a:xfrm>
            <a:off x="457200" y="4096512"/>
            <a:ext cx="2798064" cy="868680"/>
          </a:xfrm>
          <a:prstGeom prst="roundRect">
            <a:avLst>
              <a:gd name="adj" fmla="val 6316"/>
            </a:avLst>
          </a:prstGeom>
          <a:solidFill>
            <a:srgbClr val="FFFFFF"/>
          </a:solidFill>
          <a:ln w="12700">
            <a:solidFill>
              <a:srgbClr val="DCD5C7"/>
            </a:solidFill>
            <a:prstDash val="dash"/>
          </a:ln>
        </p:spPr>
      </p:sp>
      <p:sp>
        <p:nvSpPr>
          <p:cNvPr id="12" name="Text 9"/>
          <p:cNvSpPr/>
          <p:nvPr/>
        </p:nvSpPr>
        <p:spPr>
          <a:xfrm>
            <a:off x="566928" y="4096512"/>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Fortification tiers</a:t>
            </a:r>
            <a:endParaRPr lang="en-US" sz="1300" dirty="0"/>
          </a:p>
        </p:txBody>
      </p:sp>
      <p:sp>
        <p:nvSpPr>
          <p:cNvPr id="13" name="Shape 10"/>
          <p:cNvSpPr/>
          <p:nvPr/>
        </p:nvSpPr>
        <p:spPr>
          <a:xfrm>
            <a:off x="3419856" y="4096512"/>
            <a:ext cx="2798064" cy="868680"/>
          </a:xfrm>
          <a:prstGeom prst="roundRect">
            <a:avLst>
              <a:gd name="adj" fmla="val 6316"/>
            </a:avLst>
          </a:prstGeom>
          <a:solidFill>
            <a:srgbClr val="FFFFFF"/>
          </a:solidFill>
          <a:ln w="12700">
            <a:solidFill>
              <a:srgbClr val="DCD5C7"/>
            </a:solidFill>
            <a:prstDash val="dash"/>
          </a:ln>
        </p:spPr>
      </p:sp>
      <p:sp>
        <p:nvSpPr>
          <p:cNvPr id="14" name="Text 11"/>
          <p:cNvSpPr/>
          <p:nvPr/>
        </p:nvSpPr>
        <p:spPr>
          <a:xfrm>
            <a:off x="3529584" y="4096512"/>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Pavan Khind pass nearby</a:t>
            </a:r>
            <a:endParaRPr lang="en-US" sz="1300" dirty="0"/>
          </a:p>
        </p:txBody>
      </p:sp>
      <p:sp>
        <p:nvSpPr>
          <p:cNvPr id="15" name="Shape 12"/>
          <p:cNvSpPr/>
          <p:nvPr/>
        </p:nvSpPr>
        <p:spPr>
          <a:xfrm>
            <a:off x="457200" y="5129784"/>
            <a:ext cx="2798064" cy="868680"/>
          </a:xfrm>
          <a:prstGeom prst="roundRect">
            <a:avLst>
              <a:gd name="adj" fmla="val 6316"/>
            </a:avLst>
          </a:prstGeom>
          <a:solidFill>
            <a:srgbClr val="FFFFFF"/>
          </a:solidFill>
          <a:ln w="12700">
            <a:solidFill>
              <a:srgbClr val="DCD5C7"/>
            </a:solidFill>
            <a:prstDash val="dash"/>
          </a:ln>
        </p:spPr>
      </p:sp>
      <p:sp>
        <p:nvSpPr>
          <p:cNvPr id="16" name="Text 13"/>
          <p:cNvSpPr/>
          <p:nvPr/>
        </p:nvSpPr>
        <p:spPr>
          <a:xfrm>
            <a:off x="566928" y="5129784"/>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Baji Prabhu Deshpande memorial</a:t>
            </a:r>
            <a:endParaRPr lang="en-US" sz="1300" dirty="0"/>
          </a:p>
        </p:txBody>
      </p:sp>
      <p:sp>
        <p:nvSpPr>
          <p:cNvPr id="17" name="Shape 14"/>
          <p:cNvSpPr/>
          <p:nvPr/>
        </p:nvSpPr>
        <p:spPr>
          <a:xfrm>
            <a:off x="3419856" y="5129784"/>
            <a:ext cx="2798064" cy="868680"/>
          </a:xfrm>
          <a:prstGeom prst="roundRect">
            <a:avLst>
              <a:gd name="adj" fmla="val 6316"/>
            </a:avLst>
          </a:prstGeom>
          <a:solidFill>
            <a:srgbClr val="FFFFFF"/>
          </a:solidFill>
          <a:ln w="12700">
            <a:solidFill>
              <a:srgbClr val="DCD5C7"/>
            </a:solidFill>
            <a:prstDash val="dash"/>
          </a:ln>
        </p:spPr>
      </p:sp>
      <p:sp>
        <p:nvSpPr>
          <p:cNvPr id="18" name="Text 15"/>
          <p:cNvSpPr/>
          <p:nvPr/>
        </p:nvSpPr>
        <p:spPr>
          <a:xfrm>
            <a:off x="3529584" y="5129784"/>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View across the Sahyadri ridge</a:t>
            </a:r>
            <a:endParaRPr lang="en-US" sz="1300" dirty="0"/>
          </a:p>
        </p:txBody>
      </p:sp>
      <p:sp>
        <p:nvSpPr>
          <p:cNvPr id="19" name="Shape 16"/>
          <p:cNvSpPr/>
          <p:nvPr/>
        </p:nvSpPr>
        <p:spPr>
          <a:xfrm>
            <a:off x="8659368" y="1344168"/>
            <a:ext cx="1648090" cy="2478024"/>
          </a:xfrm>
          <a:prstGeom prst="roundRect">
            <a:avLst>
              <a:gd name="adj" fmla="val 2774"/>
            </a:avLst>
          </a:prstGeom>
          <a:solidFill>
            <a:srgbClr val="FFFFFF"/>
          </a:solidFill>
          <a:ln w="12700">
            <a:solidFill>
              <a:srgbClr val="DCD5C7"/>
            </a:solidFill>
            <a:prstDash val="solid"/>
          </a:ln>
        </p:spPr>
      </p:sp>
      <p:pic>
        <p:nvPicPr>
          <p:cNvPr id="20" name="Image 1" descr="/home/claude/forts/assets/map_vishalgad.png"/>
          <p:cNvPicPr>
            <a:picLocks noChangeAspect="1"/>
          </p:cNvPicPr>
          <p:nvPr/>
        </p:nvPicPr>
        <p:blipFill>
          <a:blip r:embed="rId4"/>
          <a:stretch>
            <a:fillRect/>
          </a:stretch>
        </p:blipFill>
        <p:spPr>
          <a:xfrm>
            <a:off x="8732520" y="1417320"/>
            <a:ext cx="1501786" cy="2331720"/>
          </a:xfrm>
          <a:prstGeom prst="rect">
            <a:avLst/>
          </a:prstGeom>
        </p:spPr>
      </p:pic>
      <p:sp>
        <p:nvSpPr>
          <p:cNvPr id="21" name="Text 17"/>
          <p:cNvSpPr/>
          <p:nvPr/>
        </p:nvSpPr>
        <p:spPr>
          <a:xfrm>
            <a:off x="6583680" y="3858768"/>
            <a:ext cx="5120640" cy="274320"/>
          </a:xfrm>
          <a:prstGeom prst="rect">
            <a:avLst/>
          </a:prstGeom>
          <a:noFill/>
          <a:ln/>
        </p:spPr>
        <p:txBody>
          <a:bodyPr wrap="square" lIns="0" tIns="0" rIns="0" bIns="0" rtlCol="0" anchor="ctr"/>
          <a:lstStyle/>
          <a:p>
            <a:pPr marL="0" indent="0" algn="r">
              <a:buNone/>
            </a:pPr>
            <a:r>
              <a:rPr lang="en-US" sz="1000" i="1" dirty="0">
                <a:solidFill>
                  <a:srgbClr val="746E64"/>
                </a:solidFill>
                <a:latin typeface="Calibri" pitchFamily="34" charset="0"/>
                <a:ea typeface="Calibri" pitchFamily="34" charset="-122"/>
                <a:cs typeface="Calibri" pitchFamily="34" charset="-120"/>
              </a:rPr>
              <a:t>Location within Maharashtra</a:t>
            </a:r>
            <a:endParaRPr lang="en-US" sz="1000" dirty="0"/>
          </a:p>
        </p:txBody>
      </p:sp>
      <p:sp>
        <p:nvSpPr>
          <p:cNvPr id="22" name="Shape 18"/>
          <p:cNvSpPr/>
          <p:nvPr/>
        </p:nvSpPr>
        <p:spPr>
          <a:xfrm>
            <a:off x="6537960" y="4160520"/>
            <a:ext cx="5120640" cy="1783080"/>
          </a:xfrm>
          <a:prstGeom prst="roundRect">
            <a:avLst>
              <a:gd name="adj" fmla="val 4103"/>
            </a:avLst>
          </a:prstGeom>
          <a:solidFill>
            <a:srgbClr val="F3E4C6"/>
          </a:solidFill>
          <a:ln w="12700">
            <a:solidFill>
              <a:srgbClr val="C98A2B"/>
            </a:solidFill>
            <a:prstDash val="solid"/>
          </a:ln>
        </p:spPr>
      </p:sp>
      <p:sp>
        <p:nvSpPr>
          <p:cNvPr id="23" name="Text 19"/>
          <p:cNvSpPr/>
          <p:nvPr/>
        </p:nvSpPr>
        <p:spPr>
          <a:xfrm>
            <a:off x="6739128" y="4288536"/>
            <a:ext cx="4718304" cy="1527048"/>
          </a:xfrm>
          <a:prstGeom prst="rect">
            <a:avLst/>
          </a:prstGeom>
          <a:noFill/>
          <a:ln/>
        </p:spPr>
        <p:txBody>
          <a:bodyPr wrap="square" lIns="0" tIns="0" rIns="0" bIns="0" rtlCol="0" anchor="t"/>
          <a:lstStyle/>
          <a:p>
            <a:pPr marL="0" indent="0">
              <a:lnSpc>
                <a:spcPct val="115000"/>
              </a:lnSpc>
              <a:buNone/>
            </a:pPr>
            <a:r>
              <a:rPr lang="en-US" sz="1050" b="1" kern="0" spc="100" dirty="0">
                <a:solidFill>
                  <a:srgbClr val="7A2E2E"/>
                </a:solidFill>
                <a:latin typeface="Calibri" pitchFamily="34" charset="0"/>
                <a:ea typeface="Calibri" pitchFamily="34" charset="-122"/>
                <a:cs typeface="Calibri" pitchFamily="34" charset="-120"/>
              </a:rPr>
              <a:t>DID YOU KNOW?
</a:t>
            </a:r>
            <a:r>
              <a:rPr lang="en-US" sz="1150" i="1" dirty="0">
                <a:solidFill>
                  <a:srgbClr val="2A2622"/>
                </a:solidFill>
                <a:latin typeface="Calibri" pitchFamily="34" charset="0"/>
                <a:ea typeface="Calibri" pitchFamily="34" charset="-122"/>
                <a:cs typeface="Calibri" pitchFamily="34" charset="-120"/>
              </a:rPr>
              <a:t>Baji Prabhu Deshpande reportedly held the narrow pass with a small band of men just long enough to hear the sound of cannon fire confirming Shivaji had reached Vishalgad safely.</a:t>
            </a:r>
            <a:endParaRPr lang="en-US" sz="1050" dirty="0"/>
          </a:p>
        </p:txBody>
      </p:sp>
      <p:sp>
        <p:nvSpPr>
          <p:cNvPr id="24" name="Text 20"/>
          <p:cNvSpPr/>
          <p:nvPr/>
        </p:nvSpPr>
        <p:spPr>
          <a:xfrm>
            <a:off x="457200" y="6473952"/>
            <a:ext cx="7315200" cy="274320"/>
          </a:xfrm>
          <a:prstGeom prst="rect">
            <a:avLst/>
          </a:prstGeom>
          <a:noFill/>
          <a:ln/>
        </p:spPr>
        <p:txBody>
          <a:bodyPr wrap="square" lIns="0" tIns="0" rIns="0" bIns="0" rtlCol="0" anchor="ctr"/>
          <a:lstStyle/>
          <a:p>
            <a:pPr marL="0" indent="0">
              <a:buNone/>
            </a:pPr>
            <a:r>
              <a:rPr lang="en-US" sz="900" i="1" dirty="0">
                <a:solidFill>
                  <a:srgbClr val="746E64"/>
                </a:solidFill>
                <a:latin typeface="Calibri" pitchFamily="34" charset="0"/>
                <a:ea typeface="Calibri" pitchFamily="34" charset="-122"/>
                <a:cs typeface="Calibri" pitchFamily="34" charset="-120"/>
              </a:rPr>
              <a:t>Vishalgad Fort (2/2)</a:t>
            </a:r>
            <a:endParaRPr lang="en-US" sz="900" dirty="0"/>
          </a:p>
        </p:txBody>
      </p:sp>
      <p:sp>
        <p:nvSpPr>
          <p:cNvPr id="25" name="Text 21"/>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746E64"/>
                </a:solidFill>
                <a:latin typeface="Calibri" pitchFamily="34" charset="0"/>
                <a:ea typeface="Calibri" pitchFamily="34" charset="-122"/>
                <a:cs typeface="Calibri" pitchFamily="34" charset="-120"/>
              </a:rPr>
              <a:t>20</a:t>
            </a:r>
            <a:endParaRPr lang="en-US" sz="900" dirty="0"/>
          </a:p>
        </p:txBody>
      </p:sp>
      <p:pic>
        <p:nvPicPr>
          <p:cNvPr id="27" name="Picture 26" descr="Bombay High Court Stays Notices For Demolition Within Precincts of Vishalgad Fort, Petitioners Allege Religious Discrimination">
            <a:extLst>
              <a:ext uri="{FF2B5EF4-FFF2-40B4-BE49-F238E27FC236}">
                <a16:creationId xmlns:a16="http://schemas.microsoft.com/office/drawing/2014/main" id="{15FCE115-0170-BE8D-BD67-0A21E1ACE7D4}"/>
              </a:ext>
            </a:extLst>
          </p:cNvPr>
          <p:cNvPicPr>
            <a:picLocks noChangeAspect="1"/>
          </p:cNvPicPr>
          <p:nvPr/>
        </p:nvPicPr>
        <p:blipFill>
          <a:blip r:embed="rId5"/>
          <a:stretch>
            <a:fillRect/>
          </a:stretch>
        </p:blipFill>
        <p:spPr>
          <a:xfrm>
            <a:off x="88232" y="2855523"/>
            <a:ext cx="6294280" cy="391103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3E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C98A2B"/>
          </a:solidFill>
          <a:ln/>
        </p:spPr>
      </p:sp>
      <p:pic>
        <p:nvPicPr>
          <p:cNvPr id="3" name="Image 0" descr="/home/claude/forts/assets/fort_icon_white.png"/>
          <p:cNvPicPr>
            <a:picLocks noChangeAspect="1"/>
          </p:cNvPicPr>
          <p:nvPr/>
        </p:nvPicPr>
        <p:blipFill>
          <a:blip r:embed="rId3"/>
          <a:stretch>
            <a:fillRect/>
          </a:stretch>
        </p:blipFill>
        <p:spPr>
          <a:xfrm>
            <a:off x="576072" y="502920"/>
            <a:ext cx="329184" cy="329184"/>
          </a:xfrm>
          <a:prstGeom prst="rect">
            <a:avLst/>
          </a:prstGeom>
        </p:spPr>
      </p:pic>
      <p:sp>
        <p:nvSpPr>
          <p:cNvPr id="4" name="Text 1"/>
          <p:cNvSpPr/>
          <p:nvPr/>
        </p:nvSpPr>
        <p:spPr>
          <a:xfrm>
            <a:off x="1170432" y="310896"/>
            <a:ext cx="8778240" cy="457200"/>
          </a:xfrm>
          <a:prstGeom prst="rect">
            <a:avLst/>
          </a:prstGeom>
          <a:noFill/>
          <a:ln/>
        </p:spPr>
        <p:txBody>
          <a:bodyPr wrap="square" lIns="0" tIns="0" rIns="0" bIns="0" rtlCol="0" anchor="b"/>
          <a:lstStyle/>
          <a:p>
            <a:pPr marL="0" indent="0">
              <a:buNone/>
            </a:pPr>
            <a:r>
              <a:rPr lang="en-US" sz="2700" b="1" dirty="0">
                <a:solidFill>
                  <a:srgbClr val="7A2E2E"/>
                </a:solidFill>
                <a:latin typeface="Cambria" pitchFamily="34" charset="0"/>
                <a:ea typeface="Cambria" pitchFamily="34" charset="-122"/>
                <a:cs typeface="Cambria" pitchFamily="34" charset="-120"/>
              </a:rPr>
              <a:t>Sindhudurg Fort</a:t>
            </a:r>
            <a:endParaRPr lang="en-US" sz="2700" dirty="0"/>
          </a:p>
        </p:txBody>
      </p:sp>
      <p:sp>
        <p:nvSpPr>
          <p:cNvPr id="5" name="Text 2"/>
          <p:cNvSpPr/>
          <p:nvPr/>
        </p:nvSpPr>
        <p:spPr>
          <a:xfrm>
            <a:off x="1188720" y="786384"/>
            <a:ext cx="8778240" cy="274320"/>
          </a:xfrm>
          <a:prstGeom prst="rect">
            <a:avLst/>
          </a:prstGeom>
          <a:noFill/>
          <a:ln/>
        </p:spPr>
        <p:txBody>
          <a:bodyPr wrap="square" lIns="0" tIns="0" rIns="0" bIns="0" rtlCol="0" anchor="ctr"/>
          <a:lstStyle/>
          <a:p>
            <a:pPr marL="0" indent="0">
              <a:buNone/>
            </a:pPr>
            <a:r>
              <a:rPr lang="en-US" sz="1250" i="1" dirty="0">
                <a:solidFill>
                  <a:srgbClr val="746E64"/>
                </a:solidFill>
                <a:latin typeface="Calibri" pitchFamily="34" charset="0"/>
                <a:ea typeface="Calibri" pitchFamily="34" charset="-122"/>
                <a:cs typeface="Calibri" pitchFamily="34" charset="-120"/>
              </a:rPr>
              <a:t>Malvan, Sindhudurg District, Maharashtra</a:t>
            </a:r>
            <a:endParaRPr lang="en-US" sz="1250" dirty="0"/>
          </a:p>
        </p:txBody>
      </p:sp>
      <p:sp>
        <p:nvSpPr>
          <p:cNvPr id="6" name="Shape 3"/>
          <p:cNvSpPr/>
          <p:nvPr/>
        </p:nvSpPr>
        <p:spPr>
          <a:xfrm>
            <a:off x="9445752" y="438912"/>
            <a:ext cx="2286000" cy="384048"/>
          </a:xfrm>
          <a:prstGeom prst="roundRect">
            <a:avLst>
              <a:gd name="adj" fmla="val 19048"/>
            </a:avLst>
          </a:prstGeom>
          <a:solidFill>
            <a:srgbClr val="F3E4C6"/>
          </a:solidFill>
          <a:ln w="12700">
            <a:solidFill>
              <a:srgbClr val="C98A2B"/>
            </a:solidFill>
            <a:prstDash val="solid"/>
          </a:ln>
        </p:spPr>
      </p:sp>
      <p:sp>
        <p:nvSpPr>
          <p:cNvPr id="7" name="Text 4"/>
          <p:cNvSpPr/>
          <p:nvPr/>
        </p:nvSpPr>
        <p:spPr>
          <a:xfrm>
            <a:off x="9445752" y="438912"/>
            <a:ext cx="2286000" cy="384048"/>
          </a:xfrm>
          <a:prstGeom prst="rect">
            <a:avLst/>
          </a:prstGeom>
          <a:noFill/>
          <a:ln/>
        </p:spPr>
        <p:txBody>
          <a:bodyPr wrap="square" lIns="0" tIns="0" rIns="0" bIns="0" rtlCol="0" anchor="ctr"/>
          <a:lstStyle/>
          <a:p>
            <a:pPr marL="0" indent="0" algn="ctr">
              <a:buNone/>
            </a:pPr>
            <a:r>
              <a:rPr lang="en-US" sz="1100" b="1" dirty="0">
                <a:solidFill>
                  <a:srgbClr val="7A2E2E"/>
                </a:solidFill>
                <a:latin typeface="Calibri" pitchFamily="34" charset="0"/>
                <a:ea typeface="Calibri" pitchFamily="34" charset="-122"/>
                <a:cs typeface="Calibri" pitchFamily="34" charset="-120"/>
              </a:rPr>
              <a:t>Coastal / sea fort</a:t>
            </a:r>
            <a:endParaRPr lang="en-US" sz="1100" dirty="0"/>
          </a:p>
        </p:txBody>
      </p:sp>
      <p:sp>
        <p:nvSpPr>
          <p:cNvPr id="8" name="Text 5"/>
          <p:cNvSpPr/>
          <p:nvPr/>
        </p:nvSpPr>
        <p:spPr>
          <a:xfrm>
            <a:off x="457200" y="1325880"/>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HISTORY</a:t>
            </a:r>
            <a:endParaRPr lang="en-US" sz="1300" dirty="0"/>
          </a:p>
        </p:txBody>
      </p:sp>
      <p:sp>
        <p:nvSpPr>
          <p:cNvPr id="9" name="Text 6"/>
          <p:cNvSpPr/>
          <p:nvPr/>
        </p:nvSpPr>
        <p:spPr>
          <a:xfrm>
            <a:off x="457200" y="1627632"/>
            <a:ext cx="5760720" cy="4572000"/>
          </a:xfrm>
          <a:prstGeom prst="rect">
            <a:avLst/>
          </a:prstGeom>
          <a:noFill/>
          <a:ln/>
        </p:spPr>
        <p:txBody>
          <a:bodyPr wrap="square" lIns="0" tIns="0" rIns="0" bIns="0" rtlCol="0" anchor="t"/>
          <a:lstStyle/>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Built entirely new on Kurte island by Shivaji Maharaj, with no earlier ruler occupying the site</a:t>
            </a:r>
            <a:endParaRPr lang="en-US" sz="1250" dirty="0"/>
          </a:p>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Construction began around 1664–65, reportedly guided by the architect Hiroji Indulkar</a:t>
            </a:r>
            <a:endParaRPr lang="en-US" sz="1250" dirty="0"/>
          </a:p>
        </p:txBody>
      </p:sp>
      <p:sp>
        <p:nvSpPr>
          <p:cNvPr id="10" name="Text 7"/>
          <p:cNvSpPr/>
          <p:nvPr/>
        </p:nvSpPr>
        <p:spPr>
          <a:xfrm>
            <a:off x="457200" y="2990088"/>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ROLE IN SHIVAJI'S SWARAJYA</a:t>
            </a:r>
            <a:endParaRPr lang="en-US" sz="1300" dirty="0"/>
          </a:p>
        </p:txBody>
      </p:sp>
      <p:sp>
        <p:nvSpPr>
          <p:cNvPr id="11" name="Text 8"/>
          <p:cNvSpPr/>
          <p:nvPr/>
        </p:nvSpPr>
        <p:spPr>
          <a:xfrm>
            <a:off x="457200" y="3291840"/>
            <a:ext cx="5760720" cy="4572000"/>
          </a:xfrm>
          <a:prstGeom prst="rect">
            <a:avLst/>
          </a:prstGeom>
          <a:noFill/>
          <a:ln/>
        </p:spPr>
        <p:txBody>
          <a:bodyPr wrap="square" lIns="0" tIns="0" rIns="0" bIns="0" rtlCol="0" anchor="t"/>
          <a:lstStyle/>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Anchored Shivaji’s growing naval power along the Konkan coast</a:t>
            </a:r>
            <a:endParaRPr lang="en-US" sz="1250" dirty="0"/>
          </a:p>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Countered the Siddis of Janjira as well as Portuguese and English trading interests</a:t>
            </a:r>
            <a:endParaRPr lang="en-US" sz="1250" dirty="0"/>
          </a:p>
          <a:p>
            <a:pPr marL="177800" indent="-177800">
              <a:lnSpc>
                <a:spcPct val="112000"/>
              </a:lnSpc>
              <a:spcAft>
                <a:spcPts val="432"/>
              </a:spcAft>
              <a:buSzPct val="100000"/>
              <a:buChar char="■"/>
            </a:pPr>
            <a:r>
              <a:rPr lang="en-US" sz="1250" dirty="0">
                <a:solidFill>
                  <a:srgbClr val="2A2622"/>
                </a:solidFill>
                <a:latin typeface="Calibri" pitchFamily="34" charset="0"/>
                <a:ea typeface="Calibri" pitchFamily="34" charset="-122"/>
                <a:cs typeface="Calibri" pitchFamily="34" charset="-120"/>
              </a:rPr>
              <a:t>Served as the principal headquarters of the early Maratha navy (Aarmar)</a:t>
            </a:r>
            <a:endParaRPr lang="en-US" sz="1250" dirty="0"/>
          </a:p>
        </p:txBody>
      </p:sp>
      <p:sp>
        <p:nvSpPr>
          <p:cNvPr id="12" name="Text 9"/>
          <p:cNvSpPr/>
          <p:nvPr/>
        </p:nvSpPr>
        <p:spPr>
          <a:xfrm>
            <a:off x="457200" y="4352544"/>
            <a:ext cx="512064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KEY EVENTS</a:t>
            </a:r>
            <a:endParaRPr lang="en-US" sz="1300" dirty="0"/>
          </a:p>
        </p:txBody>
      </p:sp>
      <p:sp>
        <p:nvSpPr>
          <p:cNvPr id="14" name="Text 11"/>
          <p:cNvSpPr/>
          <p:nvPr/>
        </p:nvSpPr>
        <p:spPr>
          <a:xfrm>
            <a:off x="576072" y="4773168"/>
            <a:ext cx="4864608" cy="457200"/>
          </a:xfrm>
          <a:prstGeom prst="rect">
            <a:avLst/>
          </a:prstGeom>
          <a:noFill/>
          <a:ln/>
        </p:spPr>
        <p:txBody>
          <a:bodyPr wrap="square" lIns="0" tIns="0" rIns="0" bIns="0" rtlCol="0" anchor="t"/>
          <a:lstStyle/>
          <a:p>
            <a:pPr marL="0" indent="0">
              <a:lnSpc>
                <a:spcPct val="110000"/>
              </a:lnSpc>
              <a:buNone/>
            </a:pPr>
            <a:r>
              <a:rPr lang="en-US" sz="1200" b="1" dirty="0">
                <a:solidFill>
                  <a:srgbClr val="7A2E2E"/>
                </a:solidFill>
                <a:latin typeface="Calibri" pitchFamily="34" charset="0"/>
                <a:ea typeface="Calibri" pitchFamily="34" charset="-122"/>
                <a:cs typeface="Calibri" pitchFamily="34" charset="-120"/>
              </a:rPr>
              <a:t>1664–67  </a:t>
            </a:r>
            <a:r>
              <a:rPr lang="en-US" sz="1200" dirty="0">
                <a:solidFill>
                  <a:srgbClr val="2A2622"/>
                </a:solidFill>
                <a:latin typeface="Calibri" pitchFamily="34" charset="0"/>
                <a:ea typeface="Calibri" pitchFamily="34" charset="-122"/>
                <a:cs typeface="Calibri" pitchFamily="34" charset="-120"/>
              </a:rPr>
              <a:t>Fort constructed on Shivaji’s orders</a:t>
            </a:r>
            <a:endParaRPr lang="en-US" sz="1200" dirty="0"/>
          </a:p>
        </p:txBody>
      </p:sp>
      <p:sp>
        <p:nvSpPr>
          <p:cNvPr id="16" name="Text 13"/>
          <p:cNvSpPr/>
          <p:nvPr/>
        </p:nvSpPr>
        <p:spPr>
          <a:xfrm>
            <a:off x="576072" y="5101693"/>
            <a:ext cx="4864608" cy="457200"/>
          </a:xfrm>
          <a:prstGeom prst="rect">
            <a:avLst/>
          </a:prstGeom>
          <a:noFill/>
          <a:ln/>
        </p:spPr>
        <p:txBody>
          <a:bodyPr wrap="square" lIns="0" tIns="0" rIns="0" bIns="0" rtlCol="0" anchor="t"/>
          <a:lstStyle/>
          <a:p>
            <a:pPr marL="0" indent="0">
              <a:lnSpc>
                <a:spcPct val="110000"/>
              </a:lnSpc>
              <a:buNone/>
            </a:pPr>
            <a:r>
              <a:rPr lang="en-US" sz="1200" b="1" dirty="0">
                <a:solidFill>
                  <a:srgbClr val="7A2E2E"/>
                </a:solidFill>
                <a:latin typeface="Calibri" pitchFamily="34" charset="0"/>
                <a:ea typeface="Calibri" pitchFamily="34" charset="-122"/>
                <a:cs typeface="Calibri" pitchFamily="34" charset="-120"/>
              </a:rPr>
              <a:t>Late 1600s  </a:t>
            </a:r>
            <a:r>
              <a:rPr lang="en-US" sz="1200" dirty="0">
                <a:solidFill>
                  <a:srgbClr val="2A2622"/>
                </a:solidFill>
                <a:latin typeface="Calibri" pitchFamily="34" charset="0"/>
                <a:ea typeface="Calibri" pitchFamily="34" charset="-122"/>
                <a:cs typeface="Calibri" pitchFamily="34" charset="-120"/>
              </a:rPr>
              <a:t>Established as the main base of the Maratha navy</a:t>
            </a:r>
            <a:endParaRPr lang="en-US" sz="1200" dirty="0"/>
          </a:p>
        </p:txBody>
      </p:sp>
      <p:sp>
        <p:nvSpPr>
          <p:cNvPr id="17" name="Shape 14"/>
          <p:cNvSpPr/>
          <p:nvPr/>
        </p:nvSpPr>
        <p:spPr>
          <a:xfrm>
            <a:off x="6720840" y="1018526"/>
            <a:ext cx="5120640" cy="777240"/>
          </a:xfrm>
          <a:prstGeom prst="roundRect">
            <a:avLst>
              <a:gd name="adj" fmla="val 9412"/>
            </a:avLst>
          </a:prstGeom>
          <a:solidFill>
            <a:srgbClr val="F3E4C6"/>
          </a:solidFill>
          <a:ln w="12700">
            <a:solidFill>
              <a:srgbClr val="C98A2B"/>
            </a:solidFill>
            <a:prstDash val="solid"/>
          </a:ln>
        </p:spPr>
      </p:sp>
      <p:sp>
        <p:nvSpPr>
          <p:cNvPr id="18" name="Text 15"/>
          <p:cNvSpPr/>
          <p:nvPr/>
        </p:nvSpPr>
        <p:spPr>
          <a:xfrm>
            <a:off x="6830568" y="1228838"/>
            <a:ext cx="4754880" cy="640080"/>
          </a:xfrm>
          <a:prstGeom prst="rect">
            <a:avLst/>
          </a:prstGeom>
          <a:noFill/>
          <a:ln/>
        </p:spPr>
        <p:txBody>
          <a:bodyPr wrap="square" lIns="0" tIns="0" rIns="0" bIns="0" rtlCol="0" anchor="t"/>
          <a:lstStyle/>
          <a:p>
            <a:pPr marL="0" indent="0">
              <a:lnSpc>
                <a:spcPct val="115000"/>
              </a:lnSpc>
              <a:buNone/>
            </a:pPr>
            <a:r>
              <a:rPr lang="en-US" sz="1000" b="1" kern="0" spc="100" dirty="0">
                <a:solidFill>
                  <a:srgbClr val="7A2E2E"/>
                </a:solidFill>
                <a:latin typeface="Calibri" pitchFamily="34" charset="0"/>
                <a:ea typeface="Calibri" pitchFamily="34" charset="-122"/>
                <a:cs typeface="Calibri" pitchFamily="34" charset="-120"/>
              </a:rPr>
              <a:t>SHIVAJI MAHARAJ'S ASSOCIATION
</a:t>
            </a:r>
            <a:r>
              <a:rPr lang="en-US" sz="1150" dirty="0">
                <a:solidFill>
                  <a:srgbClr val="2A2622"/>
                </a:solidFill>
                <a:latin typeface="Calibri" pitchFamily="34" charset="0"/>
                <a:ea typeface="Calibri" pitchFamily="34" charset="-122"/>
                <a:cs typeface="Calibri" pitchFamily="34" charset="-120"/>
              </a:rPr>
              <a:t>1664–67 — purpose-built as a naval stronghold</a:t>
            </a:r>
            <a:endParaRPr lang="en-US" sz="1000" dirty="0"/>
          </a:p>
        </p:txBody>
      </p:sp>
      <p:sp>
        <p:nvSpPr>
          <p:cNvPr id="19" name="Text 16"/>
          <p:cNvSpPr/>
          <p:nvPr/>
        </p:nvSpPr>
        <p:spPr>
          <a:xfrm>
            <a:off x="457200" y="6473952"/>
            <a:ext cx="7315200" cy="274320"/>
          </a:xfrm>
          <a:prstGeom prst="rect">
            <a:avLst/>
          </a:prstGeom>
          <a:noFill/>
          <a:ln/>
        </p:spPr>
        <p:txBody>
          <a:bodyPr wrap="square" lIns="0" tIns="0" rIns="0" bIns="0" rtlCol="0" anchor="ctr"/>
          <a:lstStyle/>
          <a:p>
            <a:pPr marL="0" indent="0">
              <a:buNone/>
            </a:pPr>
            <a:r>
              <a:rPr lang="en-US" sz="900" i="1" dirty="0">
                <a:solidFill>
                  <a:srgbClr val="746E64"/>
                </a:solidFill>
                <a:latin typeface="Calibri" pitchFamily="34" charset="0"/>
                <a:ea typeface="Calibri" pitchFamily="34" charset="-122"/>
                <a:cs typeface="Calibri" pitchFamily="34" charset="-120"/>
              </a:rPr>
              <a:t>Sindhudurg Fort (1/2)</a:t>
            </a:r>
            <a:endParaRPr lang="en-US" sz="900" dirty="0"/>
          </a:p>
        </p:txBody>
      </p:sp>
      <p:sp>
        <p:nvSpPr>
          <p:cNvPr id="20" name="Text 1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746E64"/>
                </a:solidFill>
                <a:latin typeface="Calibri" pitchFamily="34" charset="0"/>
                <a:ea typeface="Calibri" pitchFamily="34" charset="-122"/>
                <a:cs typeface="Calibri" pitchFamily="34" charset="-120"/>
              </a:rPr>
              <a:t>21</a:t>
            </a:r>
            <a:endParaRPr lang="en-US" sz="900" dirty="0"/>
          </a:p>
        </p:txBody>
      </p:sp>
      <p:pic>
        <p:nvPicPr>
          <p:cNvPr id="24" name="Picture 23" descr="Sindhudurg Fort Malvan - Timings, Information">
            <a:extLst>
              <a:ext uri="{FF2B5EF4-FFF2-40B4-BE49-F238E27FC236}">
                <a16:creationId xmlns:a16="http://schemas.microsoft.com/office/drawing/2014/main" id="{B926ED26-E376-D478-585D-54766026094E}"/>
              </a:ext>
            </a:extLst>
          </p:cNvPr>
          <p:cNvPicPr>
            <a:picLocks noChangeAspect="1"/>
          </p:cNvPicPr>
          <p:nvPr/>
        </p:nvPicPr>
        <p:blipFill>
          <a:blip r:embed="rId4"/>
          <a:stretch>
            <a:fillRect/>
          </a:stretch>
        </p:blipFill>
        <p:spPr>
          <a:xfrm>
            <a:off x="5943600" y="1975104"/>
            <a:ext cx="6184232" cy="479145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3E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C98A2B"/>
          </a:solidFill>
          <a:ln/>
        </p:spPr>
      </p:sp>
      <p:pic>
        <p:nvPicPr>
          <p:cNvPr id="3" name="Image 0" descr="/home/claude/forts/assets/fort_icon_white.png"/>
          <p:cNvPicPr>
            <a:picLocks noChangeAspect="1"/>
          </p:cNvPicPr>
          <p:nvPr/>
        </p:nvPicPr>
        <p:blipFill>
          <a:blip r:embed="rId3"/>
          <a:stretch>
            <a:fillRect/>
          </a:stretch>
        </p:blipFill>
        <p:spPr>
          <a:xfrm>
            <a:off x="576072" y="502920"/>
            <a:ext cx="329184" cy="329184"/>
          </a:xfrm>
          <a:prstGeom prst="rect">
            <a:avLst/>
          </a:prstGeom>
        </p:spPr>
      </p:pic>
      <p:sp>
        <p:nvSpPr>
          <p:cNvPr id="4" name="Text 1"/>
          <p:cNvSpPr/>
          <p:nvPr/>
        </p:nvSpPr>
        <p:spPr>
          <a:xfrm>
            <a:off x="1170432" y="310896"/>
            <a:ext cx="8778240" cy="457200"/>
          </a:xfrm>
          <a:prstGeom prst="rect">
            <a:avLst/>
          </a:prstGeom>
          <a:noFill/>
          <a:ln/>
        </p:spPr>
        <p:txBody>
          <a:bodyPr wrap="square" lIns="0" tIns="0" rIns="0" bIns="0" rtlCol="0" anchor="b"/>
          <a:lstStyle/>
          <a:p>
            <a:pPr marL="0" indent="0">
              <a:buNone/>
            </a:pPr>
            <a:r>
              <a:rPr lang="en-US" sz="2700" b="1" dirty="0">
                <a:solidFill>
                  <a:srgbClr val="7A2E2E"/>
                </a:solidFill>
                <a:latin typeface="Cambria" pitchFamily="34" charset="0"/>
                <a:ea typeface="Cambria" pitchFamily="34" charset="-122"/>
                <a:cs typeface="Cambria" pitchFamily="34" charset="-120"/>
              </a:rPr>
              <a:t>Sindhudurg Fort</a:t>
            </a:r>
            <a:endParaRPr lang="en-US" sz="2700" dirty="0"/>
          </a:p>
        </p:txBody>
      </p:sp>
      <p:sp>
        <p:nvSpPr>
          <p:cNvPr id="5" name="Text 2"/>
          <p:cNvSpPr/>
          <p:nvPr/>
        </p:nvSpPr>
        <p:spPr>
          <a:xfrm>
            <a:off x="1188720" y="786384"/>
            <a:ext cx="8778240" cy="274320"/>
          </a:xfrm>
          <a:prstGeom prst="rect">
            <a:avLst/>
          </a:prstGeom>
          <a:noFill/>
          <a:ln/>
        </p:spPr>
        <p:txBody>
          <a:bodyPr wrap="square" lIns="0" tIns="0" rIns="0" bIns="0" rtlCol="0" anchor="ctr"/>
          <a:lstStyle/>
          <a:p>
            <a:pPr marL="0" indent="0">
              <a:buNone/>
            </a:pPr>
            <a:r>
              <a:rPr lang="en-US" sz="1250" i="1" dirty="0">
                <a:solidFill>
                  <a:srgbClr val="746E64"/>
                </a:solidFill>
                <a:latin typeface="Calibri" pitchFamily="34" charset="0"/>
                <a:ea typeface="Calibri" pitchFamily="34" charset="-122"/>
                <a:cs typeface="Calibri" pitchFamily="34" charset="-120"/>
              </a:rPr>
              <a:t>Architecture, Location &amp; Legacy</a:t>
            </a:r>
            <a:endParaRPr lang="en-US" sz="1250" dirty="0"/>
          </a:p>
        </p:txBody>
      </p:sp>
      <p:sp>
        <p:nvSpPr>
          <p:cNvPr id="6" name="Shape 3"/>
          <p:cNvSpPr/>
          <p:nvPr/>
        </p:nvSpPr>
        <p:spPr>
          <a:xfrm>
            <a:off x="9445752" y="438912"/>
            <a:ext cx="2286000" cy="384048"/>
          </a:xfrm>
          <a:prstGeom prst="roundRect">
            <a:avLst>
              <a:gd name="adj" fmla="val 19048"/>
            </a:avLst>
          </a:prstGeom>
          <a:solidFill>
            <a:srgbClr val="F3E4C6"/>
          </a:solidFill>
          <a:ln w="12700">
            <a:solidFill>
              <a:srgbClr val="C98A2B"/>
            </a:solidFill>
            <a:prstDash val="solid"/>
          </a:ln>
        </p:spPr>
      </p:sp>
      <p:sp>
        <p:nvSpPr>
          <p:cNvPr id="7" name="Text 4"/>
          <p:cNvSpPr/>
          <p:nvPr/>
        </p:nvSpPr>
        <p:spPr>
          <a:xfrm>
            <a:off x="9445752" y="438912"/>
            <a:ext cx="2286000" cy="384048"/>
          </a:xfrm>
          <a:prstGeom prst="rect">
            <a:avLst/>
          </a:prstGeom>
          <a:noFill/>
          <a:ln/>
        </p:spPr>
        <p:txBody>
          <a:bodyPr wrap="square" lIns="0" tIns="0" rIns="0" bIns="0" rtlCol="0" anchor="ctr"/>
          <a:lstStyle/>
          <a:p>
            <a:pPr marL="0" indent="0" algn="ctr">
              <a:buNone/>
            </a:pPr>
            <a:r>
              <a:rPr lang="en-US" sz="1100" b="1" dirty="0">
                <a:solidFill>
                  <a:srgbClr val="7A2E2E"/>
                </a:solidFill>
                <a:latin typeface="Calibri" pitchFamily="34" charset="0"/>
                <a:ea typeface="Calibri" pitchFamily="34" charset="-122"/>
                <a:cs typeface="Calibri" pitchFamily="34" charset="-120"/>
              </a:rPr>
              <a:t>Coastal / sea fort</a:t>
            </a:r>
            <a:endParaRPr lang="en-US" sz="1100" dirty="0"/>
          </a:p>
        </p:txBody>
      </p:sp>
      <p:sp>
        <p:nvSpPr>
          <p:cNvPr id="8" name="Text 5"/>
          <p:cNvSpPr/>
          <p:nvPr/>
        </p:nvSpPr>
        <p:spPr>
          <a:xfrm>
            <a:off x="457200" y="1325880"/>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ARCHITECTURAL FEATURES</a:t>
            </a:r>
            <a:endParaRPr lang="en-US" sz="1300" dirty="0"/>
          </a:p>
        </p:txBody>
      </p:sp>
      <p:sp>
        <p:nvSpPr>
          <p:cNvPr id="9" name="Text 6"/>
          <p:cNvSpPr/>
          <p:nvPr/>
        </p:nvSpPr>
        <p:spPr>
          <a:xfrm>
            <a:off x="457200" y="1627632"/>
            <a:ext cx="5760720" cy="4572000"/>
          </a:xfrm>
          <a:prstGeom prst="rect">
            <a:avLst/>
          </a:prstGeom>
          <a:noFill/>
          <a:ln/>
        </p:spPr>
        <p:txBody>
          <a:bodyPr wrap="square" lIns="0" tIns="0" rIns="0" bIns="0" rtlCol="0" anchor="t"/>
          <a:lstStyle/>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Roughly 3 km of massive basalt walls, up to 9 m high, with iron-clamped foundations</a:t>
            </a:r>
            <a:endParaRPr lang="en-US" sz="1200" dirty="0"/>
          </a:p>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42 bastions positioned to command the surrounding sea approaches</a:t>
            </a:r>
            <a:endParaRPr lang="en-US" sz="1200" dirty="0"/>
          </a:p>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Freshwater wells that remain sweet despite the surrounding seawater</a:t>
            </a:r>
            <a:endParaRPr lang="en-US" sz="1200" dirty="0"/>
          </a:p>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A shrine said to preserve Shivaji Maharaj’s handprint and footprint</a:t>
            </a:r>
            <a:endParaRPr lang="en-US" sz="1200" dirty="0"/>
          </a:p>
          <a:p>
            <a:pPr marL="177800" indent="-177800">
              <a:lnSpc>
                <a:spcPct val="112000"/>
              </a:lnSpc>
              <a:spcAft>
                <a:spcPts val="648"/>
              </a:spcAft>
              <a:buSzPct val="100000"/>
              <a:buChar char="■"/>
            </a:pPr>
            <a:r>
              <a:rPr lang="en-US" sz="1200" dirty="0">
                <a:solidFill>
                  <a:srgbClr val="2A2622"/>
                </a:solidFill>
                <a:latin typeface="Calibri" pitchFamily="34" charset="0"/>
                <a:ea typeface="Calibri" pitchFamily="34" charset="-122"/>
                <a:cs typeface="Calibri" pitchFamily="34" charset="-120"/>
              </a:rPr>
              <a:t>Shri Shivrajeshwar temple, built later by his son Rajaram in his memory</a:t>
            </a:r>
            <a:endParaRPr lang="en-US" sz="1200" dirty="0"/>
          </a:p>
        </p:txBody>
      </p:sp>
      <p:sp>
        <p:nvSpPr>
          <p:cNvPr id="10" name="Text 7"/>
          <p:cNvSpPr/>
          <p:nvPr/>
        </p:nvSpPr>
        <p:spPr>
          <a:xfrm>
            <a:off x="457200" y="4233672"/>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SUGGESTED PHOTOGRAPHS</a:t>
            </a:r>
            <a:endParaRPr lang="en-US" sz="1300" dirty="0"/>
          </a:p>
        </p:txBody>
      </p:sp>
      <p:sp>
        <p:nvSpPr>
          <p:cNvPr id="11" name="Shape 8"/>
          <p:cNvSpPr/>
          <p:nvPr/>
        </p:nvSpPr>
        <p:spPr>
          <a:xfrm>
            <a:off x="457200" y="4553712"/>
            <a:ext cx="2798064" cy="868680"/>
          </a:xfrm>
          <a:prstGeom prst="roundRect">
            <a:avLst>
              <a:gd name="adj" fmla="val 6316"/>
            </a:avLst>
          </a:prstGeom>
          <a:solidFill>
            <a:srgbClr val="FFFFFF"/>
          </a:solidFill>
          <a:ln w="12700">
            <a:solidFill>
              <a:srgbClr val="DCD5C7"/>
            </a:solidFill>
            <a:prstDash val="dash"/>
          </a:ln>
        </p:spPr>
      </p:sp>
      <p:sp>
        <p:nvSpPr>
          <p:cNvPr id="12" name="Text 9"/>
          <p:cNvSpPr/>
          <p:nvPr/>
        </p:nvSpPr>
        <p:spPr>
          <a:xfrm>
            <a:off x="566928" y="4553712"/>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Sea-facing basalt ramparts</a:t>
            </a:r>
            <a:endParaRPr lang="en-US" sz="1300" dirty="0"/>
          </a:p>
        </p:txBody>
      </p:sp>
      <p:sp>
        <p:nvSpPr>
          <p:cNvPr id="13" name="Shape 10"/>
          <p:cNvSpPr/>
          <p:nvPr/>
        </p:nvSpPr>
        <p:spPr>
          <a:xfrm>
            <a:off x="3419856" y="4553712"/>
            <a:ext cx="2798064" cy="868680"/>
          </a:xfrm>
          <a:prstGeom prst="roundRect">
            <a:avLst>
              <a:gd name="adj" fmla="val 6316"/>
            </a:avLst>
          </a:prstGeom>
          <a:solidFill>
            <a:srgbClr val="FFFFFF"/>
          </a:solidFill>
          <a:ln w="12700">
            <a:solidFill>
              <a:srgbClr val="DCD5C7"/>
            </a:solidFill>
            <a:prstDash val="dash"/>
          </a:ln>
        </p:spPr>
      </p:sp>
      <p:sp>
        <p:nvSpPr>
          <p:cNvPr id="14" name="Text 11"/>
          <p:cNvSpPr/>
          <p:nvPr/>
        </p:nvSpPr>
        <p:spPr>
          <a:xfrm>
            <a:off x="3529584" y="4553712"/>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Bastions along the shoreline</a:t>
            </a:r>
            <a:endParaRPr lang="en-US" sz="1300" dirty="0"/>
          </a:p>
        </p:txBody>
      </p:sp>
      <p:sp>
        <p:nvSpPr>
          <p:cNvPr id="15" name="Shape 12"/>
          <p:cNvSpPr/>
          <p:nvPr/>
        </p:nvSpPr>
        <p:spPr>
          <a:xfrm>
            <a:off x="457200" y="5586984"/>
            <a:ext cx="2798064" cy="868680"/>
          </a:xfrm>
          <a:prstGeom prst="roundRect">
            <a:avLst>
              <a:gd name="adj" fmla="val 6316"/>
            </a:avLst>
          </a:prstGeom>
          <a:solidFill>
            <a:srgbClr val="FFFFFF"/>
          </a:solidFill>
          <a:ln w="12700">
            <a:solidFill>
              <a:srgbClr val="DCD5C7"/>
            </a:solidFill>
            <a:prstDash val="dash"/>
          </a:ln>
        </p:spPr>
      </p:sp>
      <p:sp>
        <p:nvSpPr>
          <p:cNvPr id="16" name="Text 13"/>
          <p:cNvSpPr/>
          <p:nvPr/>
        </p:nvSpPr>
        <p:spPr>
          <a:xfrm>
            <a:off x="566928" y="5586984"/>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Shivrajeshwar temple</a:t>
            </a:r>
            <a:endParaRPr lang="en-US" sz="1300" dirty="0"/>
          </a:p>
        </p:txBody>
      </p:sp>
      <p:sp>
        <p:nvSpPr>
          <p:cNvPr id="17" name="Shape 14"/>
          <p:cNvSpPr/>
          <p:nvPr/>
        </p:nvSpPr>
        <p:spPr>
          <a:xfrm>
            <a:off x="3419856" y="5586984"/>
            <a:ext cx="2798064" cy="868680"/>
          </a:xfrm>
          <a:prstGeom prst="roundRect">
            <a:avLst>
              <a:gd name="adj" fmla="val 6316"/>
            </a:avLst>
          </a:prstGeom>
          <a:solidFill>
            <a:srgbClr val="FFFFFF"/>
          </a:solidFill>
          <a:ln w="12700">
            <a:solidFill>
              <a:srgbClr val="DCD5C7"/>
            </a:solidFill>
            <a:prstDash val="dash"/>
          </a:ln>
        </p:spPr>
      </p:sp>
      <p:sp>
        <p:nvSpPr>
          <p:cNvPr id="18" name="Text 15"/>
          <p:cNvSpPr/>
          <p:nvPr/>
        </p:nvSpPr>
        <p:spPr>
          <a:xfrm>
            <a:off x="3529584" y="5586984"/>
            <a:ext cx="2578608" cy="868680"/>
          </a:xfrm>
          <a:prstGeom prst="rect">
            <a:avLst/>
          </a:prstGeom>
          <a:noFill/>
          <a:ln/>
        </p:spPr>
        <p:txBody>
          <a:bodyPr wrap="square" lIns="0" tIns="0" rIns="0" bIns="0" rtlCol="0" anchor="ctr"/>
          <a:lstStyle/>
          <a:p>
            <a:pPr marL="0" indent="0" algn="ctr">
              <a:buNone/>
            </a:pPr>
            <a:r>
              <a:rPr lang="en-US" sz="1300" dirty="0">
                <a:solidFill>
                  <a:srgbClr val="746E64"/>
                </a:solidFill>
                <a:latin typeface="Calibri" pitchFamily="34" charset="0"/>
                <a:ea typeface="Calibri" pitchFamily="34" charset="-122"/>
                <a:cs typeface="Calibri" pitchFamily="34" charset="-120"/>
              </a:rPr>
              <a:t>▢  </a:t>
            </a:r>
            <a:r>
              <a:rPr lang="en-US" sz="950" b="1" i="1" dirty="0">
                <a:solidFill>
                  <a:srgbClr val="746E64"/>
                </a:solidFill>
                <a:latin typeface="Calibri" pitchFamily="34" charset="0"/>
                <a:ea typeface="Calibri" pitchFamily="34" charset="-122"/>
                <a:cs typeface="Calibri" pitchFamily="34" charset="-120"/>
              </a:rPr>
              <a:t>Add photo:
</a:t>
            </a:r>
            <a:r>
              <a:rPr lang="en-US" sz="1050" dirty="0">
                <a:solidFill>
                  <a:srgbClr val="3B3A36"/>
                </a:solidFill>
                <a:latin typeface="Calibri" pitchFamily="34" charset="0"/>
                <a:ea typeface="Calibri" pitchFamily="34" charset="-122"/>
                <a:cs typeface="Calibri" pitchFamily="34" charset="-120"/>
              </a:rPr>
              <a:t>Aerial view of the island fort</a:t>
            </a:r>
            <a:endParaRPr lang="en-US" sz="1300" dirty="0"/>
          </a:p>
        </p:txBody>
      </p:sp>
      <p:sp>
        <p:nvSpPr>
          <p:cNvPr id="19" name="Shape 16"/>
          <p:cNvSpPr/>
          <p:nvPr/>
        </p:nvSpPr>
        <p:spPr>
          <a:xfrm>
            <a:off x="8659368" y="1344168"/>
            <a:ext cx="1648090" cy="2478024"/>
          </a:xfrm>
          <a:prstGeom prst="roundRect">
            <a:avLst>
              <a:gd name="adj" fmla="val 2774"/>
            </a:avLst>
          </a:prstGeom>
          <a:solidFill>
            <a:srgbClr val="FFFFFF"/>
          </a:solidFill>
          <a:ln w="12700">
            <a:solidFill>
              <a:srgbClr val="DCD5C7"/>
            </a:solidFill>
            <a:prstDash val="solid"/>
          </a:ln>
        </p:spPr>
      </p:sp>
      <p:pic>
        <p:nvPicPr>
          <p:cNvPr id="20" name="Image 1" descr="/home/claude/forts/assets/map_sindhudurg.png"/>
          <p:cNvPicPr>
            <a:picLocks noChangeAspect="1"/>
          </p:cNvPicPr>
          <p:nvPr/>
        </p:nvPicPr>
        <p:blipFill>
          <a:blip r:embed="rId4"/>
          <a:stretch>
            <a:fillRect/>
          </a:stretch>
        </p:blipFill>
        <p:spPr>
          <a:xfrm>
            <a:off x="8732520" y="1417320"/>
            <a:ext cx="1501786" cy="2331720"/>
          </a:xfrm>
          <a:prstGeom prst="rect">
            <a:avLst/>
          </a:prstGeom>
        </p:spPr>
      </p:pic>
      <p:sp>
        <p:nvSpPr>
          <p:cNvPr id="21" name="Text 17"/>
          <p:cNvSpPr/>
          <p:nvPr/>
        </p:nvSpPr>
        <p:spPr>
          <a:xfrm>
            <a:off x="6583680" y="3858768"/>
            <a:ext cx="5120640" cy="274320"/>
          </a:xfrm>
          <a:prstGeom prst="rect">
            <a:avLst/>
          </a:prstGeom>
          <a:noFill/>
          <a:ln/>
        </p:spPr>
        <p:txBody>
          <a:bodyPr wrap="square" lIns="0" tIns="0" rIns="0" bIns="0" rtlCol="0" anchor="ctr"/>
          <a:lstStyle/>
          <a:p>
            <a:pPr marL="0" indent="0" algn="r">
              <a:buNone/>
            </a:pPr>
            <a:r>
              <a:rPr lang="en-US" sz="1000" i="1" dirty="0">
                <a:solidFill>
                  <a:srgbClr val="746E64"/>
                </a:solidFill>
                <a:latin typeface="Calibri" pitchFamily="34" charset="0"/>
                <a:ea typeface="Calibri" pitchFamily="34" charset="-122"/>
                <a:cs typeface="Calibri" pitchFamily="34" charset="-120"/>
              </a:rPr>
              <a:t>Location within Maharashtra</a:t>
            </a:r>
            <a:endParaRPr lang="en-US" sz="1000" dirty="0"/>
          </a:p>
        </p:txBody>
      </p:sp>
      <p:sp>
        <p:nvSpPr>
          <p:cNvPr id="22" name="Shape 18"/>
          <p:cNvSpPr/>
          <p:nvPr/>
        </p:nvSpPr>
        <p:spPr>
          <a:xfrm>
            <a:off x="6537960" y="4160520"/>
            <a:ext cx="5120640" cy="1783080"/>
          </a:xfrm>
          <a:prstGeom prst="roundRect">
            <a:avLst>
              <a:gd name="adj" fmla="val 4103"/>
            </a:avLst>
          </a:prstGeom>
          <a:solidFill>
            <a:srgbClr val="F3E4C6"/>
          </a:solidFill>
          <a:ln w="12700">
            <a:solidFill>
              <a:srgbClr val="C98A2B"/>
            </a:solidFill>
            <a:prstDash val="solid"/>
          </a:ln>
        </p:spPr>
      </p:sp>
      <p:sp>
        <p:nvSpPr>
          <p:cNvPr id="23" name="Text 19"/>
          <p:cNvSpPr/>
          <p:nvPr/>
        </p:nvSpPr>
        <p:spPr>
          <a:xfrm>
            <a:off x="6739128" y="4288536"/>
            <a:ext cx="4718304" cy="1527048"/>
          </a:xfrm>
          <a:prstGeom prst="rect">
            <a:avLst/>
          </a:prstGeom>
          <a:noFill/>
          <a:ln/>
        </p:spPr>
        <p:txBody>
          <a:bodyPr wrap="square" lIns="0" tIns="0" rIns="0" bIns="0" rtlCol="0" anchor="t"/>
          <a:lstStyle/>
          <a:p>
            <a:pPr marL="0" indent="0">
              <a:lnSpc>
                <a:spcPct val="115000"/>
              </a:lnSpc>
              <a:buNone/>
            </a:pPr>
            <a:r>
              <a:rPr lang="en-US" sz="1050" b="1" kern="0" spc="100" dirty="0">
                <a:solidFill>
                  <a:srgbClr val="7A2E2E"/>
                </a:solidFill>
                <a:latin typeface="Calibri" pitchFamily="34" charset="0"/>
                <a:ea typeface="Calibri" pitchFamily="34" charset="-122"/>
                <a:cs typeface="Calibri" pitchFamily="34" charset="-120"/>
              </a:rPr>
              <a:t>DID YOU KNOW?
</a:t>
            </a:r>
            <a:r>
              <a:rPr lang="en-US" sz="1150" i="1" dirty="0">
                <a:solidFill>
                  <a:srgbClr val="2A2622"/>
                </a:solidFill>
                <a:latin typeface="Calibri" pitchFamily="34" charset="0"/>
                <a:ea typeface="Calibri" pitchFamily="34" charset="-122"/>
                <a:cs typeface="Calibri" pitchFamily="34" charset="-120"/>
              </a:rPr>
              <a:t>Local tradition holds that the fort’s foundations were sealed with molten lead to withstand the pounding of the Arabian Sea — an engineering feat unusual for its time.</a:t>
            </a:r>
            <a:endParaRPr lang="en-US" sz="1050" dirty="0"/>
          </a:p>
        </p:txBody>
      </p:sp>
      <p:sp>
        <p:nvSpPr>
          <p:cNvPr id="24" name="Text 20"/>
          <p:cNvSpPr/>
          <p:nvPr/>
        </p:nvSpPr>
        <p:spPr>
          <a:xfrm>
            <a:off x="457200" y="6473952"/>
            <a:ext cx="7315200" cy="274320"/>
          </a:xfrm>
          <a:prstGeom prst="rect">
            <a:avLst/>
          </a:prstGeom>
          <a:noFill/>
          <a:ln/>
        </p:spPr>
        <p:txBody>
          <a:bodyPr wrap="square" lIns="0" tIns="0" rIns="0" bIns="0" rtlCol="0" anchor="ctr"/>
          <a:lstStyle/>
          <a:p>
            <a:pPr marL="0" indent="0">
              <a:buNone/>
            </a:pPr>
            <a:r>
              <a:rPr lang="en-US" sz="900" i="1" dirty="0">
                <a:solidFill>
                  <a:srgbClr val="746E64"/>
                </a:solidFill>
                <a:latin typeface="Calibri" pitchFamily="34" charset="0"/>
                <a:ea typeface="Calibri" pitchFamily="34" charset="-122"/>
                <a:cs typeface="Calibri" pitchFamily="34" charset="-120"/>
              </a:rPr>
              <a:t>Sindhudurg Fort (2/2)</a:t>
            </a:r>
            <a:endParaRPr lang="en-US" sz="900" dirty="0"/>
          </a:p>
        </p:txBody>
      </p:sp>
      <p:sp>
        <p:nvSpPr>
          <p:cNvPr id="25" name="Text 21"/>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746E64"/>
                </a:solidFill>
                <a:latin typeface="Calibri" pitchFamily="34" charset="0"/>
                <a:ea typeface="Calibri" pitchFamily="34" charset="-122"/>
                <a:cs typeface="Calibri" pitchFamily="34" charset="-120"/>
              </a:rPr>
              <a:t>22</a:t>
            </a:r>
            <a:endParaRPr lang="en-US" sz="900" dirty="0"/>
          </a:p>
        </p:txBody>
      </p:sp>
      <p:pic>
        <p:nvPicPr>
          <p:cNvPr id="26" name="Picture 25" descr="Sindhudurg Fort Malvan – Historic Maratha Sea Fort">
            <a:extLst>
              <a:ext uri="{FF2B5EF4-FFF2-40B4-BE49-F238E27FC236}">
                <a16:creationId xmlns:a16="http://schemas.microsoft.com/office/drawing/2014/main" id="{43DBABA3-7070-E10E-FC64-E98EE4CB302F}"/>
              </a:ext>
            </a:extLst>
          </p:cNvPr>
          <p:cNvPicPr>
            <a:picLocks noChangeAspect="1"/>
          </p:cNvPicPr>
          <p:nvPr/>
        </p:nvPicPr>
        <p:blipFill>
          <a:blip r:embed="rId5"/>
          <a:stretch>
            <a:fillRect/>
          </a:stretch>
        </p:blipFill>
        <p:spPr>
          <a:xfrm>
            <a:off x="61802" y="3020773"/>
            <a:ext cx="6375574" cy="3745787"/>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3E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C98A2B"/>
          </a:solidFill>
          <a:ln/>
        </p:spPr>
      </p:sp>
      <p:pic>
        <p:nvPicPr>
          <p:cNvPr id="3" name="Image 0" descr="/home/claude/forts/assets/fort_icon_white.png"/>
          <p:cNvPicPr>
            <a:picLocks noChangeAspect="1"/>
          </p:cNvPicPr>
          <p:nvPr/>
        </p:nvPicPr>
        <p:blipFill>
          <a:blip r:embed="rId3"/>
          <a:stretch>
            <a:fillRect/>
          </a:stretch>
        </p:blipFill>
        <p:spPr>
          <a:xfrm>
            <a:off x="576072" y="502920"/>
            <a:ext cx="329184" cy="329184"/>
          </a:xfrm>
          <a:prstGeom prst="rect">
            <a:avLst/>
          </a:prstGeom>
        </p:spPr>
      </p:pic>
      <p:sp>
        <p:nvSpPr>
          <p:cNvPr id="4" name="Text 1"/>
          <p:cNvSpPr/>
          <p:nvPr/>
        </p:nvSpPr>
        <p:spPr>
          <a:xfrm>
            <a:off x="1170432" y="310896"/>
            <a:ext cx="8778240" cy="457200"/>
          </a:xfrm>
          <a:prstGeom prst="rect">
            <a:avLst/>
          </a:prstGeom>
          <a:noFill/>
          <a:ln/>
        </p:spPr>
        <p:txBody>
          <a:bodyPr wrap="square" lIns="0" tIns="0" rIns="0" bIns="0" rtlCol="0" anchor="b"/>
          <a:lstStyle/>
          <a:p>
            <a:pPr marL="0" indent="0">
              <a:buNone/>
            </a:pPr>
            <a:r>
              <a:rPr lang="en-US" sz="2700" b="1" dirty="0">
                <a:solidFill>
                  <a:srgbClr val="7A2E2E"/>
                </a:solidFill>
                <a:latin typeface="Cambria" pitchFamily="34" charset="0"/>
                <a:ea typeface="Cambria" pitchFamily="34" charset="-122"/>
                <a:cs typeface="Cambria" pitchFamily="34" charset="-120"/>
              </a:rPr>
              <a:t>Vijaydurg Fort</a:t>
            </a:r>
            <a:endParaRPr lang="en-US" sz="2700" dirty="0"/>
          </a:p>
        </p:txBody>
      </p:sp>
      <p:sp>
        <p:nvSpPr>
          <p:cNvPr id="5" name="Text 2"/>
          <p:cNvSpPr/>
          <p:nvPr/>
        </p:nvSpPr>
        <p:spPr>
          <a:xfrm>
            <a:off x="1188720" y="786384"/>
            <a:ext cx="8778240" cy="274320"/>
          </a:xfrm>
          <a:prstGeom prst="rect">
            <a:avLst/>
          </a:prstGeom>
          <a:noFill/>
          <a:ln/>
        </p:spPr>
        <p:txBody>
          <a:bodyPr wrap="square" lIns="0" tIns="0" rIns="0" bIns="0" rtlCol="0" anchor="ctr"/>
          <a:lstStyle/>
          <a:p>
            <a:pPr marL="0" indent="0">
              <a:buNone/>
            </a:pPr>
            <a:r>
              <a:rPr lang="en-US" sz="1250" i="1" dirty="0">
                <a:solidFill>
                  <a:srgbClr val="746E64"/>
                </a:solidFill>
                <a:latin typeface="Calibri" pitchFamily="34" charset="0"/>
                <a:ea typeface="Calibri" pitchFamily="34" charset="-122"/>
                <a:cs typeface="Calibri" pitchFamily="34" charset="-120"/>
              </a:rPr>
              <a:t>Gheria (earlier name)  •  Devgad, Sindhudurg District, Maharashtra</a:t>
            </a:r>
            <a:endParaRPr lang="en-US" sz="1250" dirty="0"/>
          </a:p>
        </p:txBody>
      </p:sp>
      <p:sp>
        <p:nvSpPr>
          <p:cNvPr id="6" name="Shape 3"/>
          <p:cNvSpPr/>
          <p:nvPr/>
        </p:nvSpPr>
        <p:spPr>
          <a:xfrm>
            <a:off x="9445752" y="438912"/>
            <a:ext cx="2286000" cy="384048"/>
          </a:xfrm>
          <a:prstGeom prst="roundRect">
            <a:avLst>
              <a:gd name="adj" fmla="val 19048"/>
            </a:avLst>
          </a:prstGeom>
          <a:solidFill>
            <a:srgbClr val="F3E4C6"/>
          </a:solidFill>
          <a:ln w="12700">
            <a:solidFill>
              <a:srgbClr val="C98A2B"/>
            </a:solidFill>
            <a:prstDash val="solid"/>
          </a:ln>
        </p:spPr>
      </p:sp>
      <p:sp>
        <p:nvSpPr>
          <p:cNvPr id="7" name="Text 4"/>
          <p:cNvSpPr/>
          <p:nvPr/>
        </p:nvSpPr>
        <p:spPr>
          <a:xfrm>
            <a:off x="9445752" y="438912"/>
            <a:ext cx="2286000" cy="384048"/>
          </a:xfrm>
          <a:prstGeom prst="rect">
            <a:avLst/>
          </a:prstGeom>
          <a:noFill/>
          <a:ln/>
        </p:spPr>
        <p:txBody>
          <a:bodyPr wrap="square" lIns="0" tIns="0" rIns="0" bIns="0" rtlCol="0" anchor="ctr"/>
          <a:lstStyle/>
          <a:p>
            <a:pPr marL="0" indent="0" algn="ctr">
              <a:buNone/>
            </a:pPr>
            <a:r>
              <a:rPr lang="en-US" sz="1100" b="1" dirty="0">
                <a:solidFill>
                  <a:srgbClr val="7A2E2E"/>
                </a:solidFill>
                <a:latin typeface="Calibri" pitchFamily="34" charset="0"/>
                <a:ea typeface="Calibri" pitchFamily="34" charset="-122"/>
                <a:cs typeface="Calibri" pitchFamily="34" charset="-120"/>
              </a:rPr>
              <a:t>Coastal / sea fort</a:t>
            </a:r>
            <a:endParaRPr lang="en-US" sz="1100" dirty="0"/>
          </a:p>
        </p:txBody>
      </p:sp>
      <p:sp>
        <p:nvSpPr>
          <p:cNvPr id="8" name="Text 5"/>
          <p:cNvSpPr/>
          <p:nvPr/>
        </p:nvSpPr>
        <p:spPr>
          <a:xfrm>
            <a:off x="457200" y="1325880"/>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HISTORY</a:t>
            </a:r>
            <a:endParaRPr lang="en-US" sz="1300" dirty="0"/>
          </a:p>
        </p:txBody>
      </p:sp>
      <p:sp>
        <p:nvSpPr>
          <p:cNvPr id="9" name="Text 6"/>
          <p:cNvSpPr/>
          <p:nvPr/>
        </p:nvSpPr>
        <p:spPr>
          <a:xfrm>
            <a:off x="457200" y="1609344"/>
            <a:ext cx="5760720" cy="4572000"/>
          </a:xfrm>
          <a:prstGeom prst="rect">
            <a:avLst/>
          </a:prstGeom>
          <a:noFill/>
          <a:ln/>
        </p:spPr>
        <p:txBody>
          <a:bodyPr wrap="square" lIns="0" tIns="0" rIns="0" bIns="0" rtlCol="0" anchor="t"/>
          <a:lstStyle/>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Originally built by the Shilahara king Bhoja II in the 12th century</a:t>
            </a:r>
            <a:endParaRPr lang="en-US" sz="1200" dirty="0"/>
          </a:p>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Later held by the Adilshahi (Bijapur) kingdom before being taken and greatly expanded by Shivaji Maharaj in the 1650s–60s</a:t>
            </a:r>
            <a:endParaRPr lang="en-US" sz="1200" dirty="0"/>
          </a:p>
        </p:txBody>
      </p:sp>
      <p:sp>
        <p:nvSpPr>
          <p:cNvPr id="10" name="Text 7"/>
          <p:cNvSpPr/>
          <p:nvPr/>
        </p:nvSpPr>
        <p:spPr>
          <a:xfrm>
            <a:off x="457200" y="2706624"/>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ROLE IN SWARAJYA</a:t>
            </a:r>
            <a:endParaRPr lang="en-US" sz="1300" dirty="0"/>
          </a:p>
        </p:txBody>
      </p:sp>
      <p:sp>
        <p:nvSpPr>
          <p:cNvPr id="11" name="Text 8"/>
          <p:cNvSpPr/>
          <p:nvPr/>
        </p:nvSpPr>
        <p:spPr>
          <a:xfrm>
            <a:off x="457200" y="2999232"/>
            <a:ext cx="5760720" cy="4572000"/>
          </a:xfrm>
          <a:prstGeom prst="rect">
            <a:avLst/>
          </a:prstGeom>
          <a:noFill/>
          <a:ln/>
        </p:spPr>
        <p:txBody>
          <a:bodyPr wrap="square" lIns="0" tIns="0" rIns="0" bIns="0" rtlCol="0" anchor="t"/>
          <a:lstStyle/>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A key naval base and shipbuilding yard defending the Konkan coastline</a:t>
            </a:r>
            <a:endParaRPr lang="en-US" sz="1200" dirty="0"/>
          </a:p>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Its innovative submerged stone wall, hidden at high tide, was designed to wreck enemy ships approaching the harbour</a:t>
            </a:r>
            <a:endParaRPr lang="en-US" sz="1200" dirty="0"/>
          </a:p>
        </p:txBody>
      </p:sp>
      <p:sp>
        <p:nvSpPr>
          <p:cNvPr id="12" name="Text 9"/>
          <p:cNvSpPr/>
          <p:nvPr/>
        </p:nvSpPr>
        <p:spPr>
          <a:xfrm>
            <a:off x="457200" y="4096512"/>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KEY EVENT</a:t>
            </a:r>
            <a:endParaRPr lang="en-US" sz="1300" dirty="0"/>
          </a:p>
        </p:txBody>
      </p:sp>
      <p:sp>
        <p:nvSpPr>
          <p:cNvPr id="13" name="Text 10"/>
          <p:cNvSpPr/>
          <p:nvPr/>
        </p:nvSpPr>
        <p:spPr>
          <a:xfrm>
            <a:off x="457200" y="4389120"/>
            <a:ext cx="5760720" cy="4572000"/>
          </a:xfrm>
          <a:prstGeom prst="rect">
            <a:avLst/>
          </a:prstGeom>
          <a:noFill/>
          <a:ln/>
        </p:spPr>
        <p:txBody>
          <a:bodyPr wrap="square" lIns="0" tIns="0" rIns="0" bIns="0" rtlCol="0" anchor="t"/>
          <a:lstStyle/>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18th century — Later served as the base of Kanhoji Angre’s Maratha navy against European fleets</a:t>
            </a:r>
            <a:endParaRPr lang="en-US" sz="1200" dirty="0"/>
          </a:p>
        </p:txBody>
      </p:sp>
      <p:sp>
        <p:nvSpPr>
          <p:cNvPr id="14" name="Text 11"/>
          <p:cNvSpPr/>
          <p:nvPr/>
        </p:nvSpPr>
        <p:spPr>
          <a:xfrm>
            <a:off x="6537960" y="1325880"/>
            <a:ext cx="512064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ARCHITECTURE</a:t>
            </a:r>
            <a:endParaRPr lang="en-US" sz="1300" dirty="0"/>
          </a:p>
        </p:txBody>
      </p:sp>
      <p:sp>
        <p:nvSpPr>
          <p:cNvPr id="15" name="Text 12"/>
          <p:cNvSpPr/>
          <p:nvPr/>
        </p:nvSpPr>
        <p:spPr>
          <a:xfrm>
            <a:off x="6537960" y="1609344"/>
            <a:ext cx="5120640" cy="4572000"/>
          </a:xfrm>
          <a:prstGeom prst="rect">
            <a:avLst/>
          </a:prstGeom>
          <a:noFill/>
          <a:ln/>
        </p:spPr>
        <p:txBody>
          <a:bodyPr wrap="square" lIns="0" tIns="0" rIns="0" bIns="0" rtlCol="0" anchor="t"/>
          <a:lstStyle/>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Triple line of fortification walls with 27 bastions</a:t>
            </a:r>
            <a:endParaRPr lang="en-US" sz="1200" dirty="0"/>
          </a:p>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A concealed underwater defensive wall along the approach channel</a:t>
            </a:r>
            <a:endParaRPr lang="en-US" sz="1200" dirty="0"/>
          </a:p>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Dockyard facilities for building and repairing war vessels</a:t>
            </a:r>
            <a:endParaRPr lang="en-US" sz="1200" dirty="0"/>
          </a:p>
        </p:txBody>
      </p:sp>
      <p:sp>
        <p:nvSpPr>
          <p:cNvPr id="16" name="Shape 13"/>
          <p:cNvSpPr/>
          <p:nvPr/>
        </p:nvSpPr>
        <p:spPr>
          <a:xfrm>
            <a:off x="9390888" y="3584448"/>
            <a:ext cx="1059154" cy="1563624"/>
          </a:xfrm>
          <a:prstGeom prst="roundRect">
            <a:avLst>
              <a:gd name="adj" fmla="val 4317"/>
            </a:avLst>
          </a:prstGeom>
          <a:solidFill>
            <a:srgbClr val="FFFFFF"/>
          </a:solidFill>
          <a:ln w="12700">
            <a:solidFill>
              <a:srgbClr val="DCD5C7"/>
            </a:solidFill>
            <a:prstDash val="solid"/>
          </a:ln>
        </p:spPr>
      </p:sp>
      <p:pic>
        <p:nvPicPr>
          <p:cNvPr id="17" name="Image 1" descr="/home/claude/forts/assets/map_vijaydurg.png"/>
          <p:cNvPicPr>
            <a:picLocks noChangeAspect="1"/>
          </p:cNvPicPr>
          <p:nvPr/>
        </p:nvPicPr>
        <p:blipFill>
          <a:blip r:embed="rId4"/>
          <a:stretch>
            <a:fillRect/>
          </a:stretch>
        </p:blipFill>
        <p:spPr>
          <a:xfrm>
            <a:off x="9464040" y="3657600"/>
            <a:ext cx="912850" cy="1417320"/>
          </a:xfrm>
          <a:prstGeom prst="rect">
            <a:avLst/>
          </a:prstGeom>
        </p:spPr>
      </p:pic>
      <p:sp>
        <p:nvSpPr>
          <p:cNvPr id="18" name="Shape 14"/>
          <p:cNvSpPr/>
          <p:nvPr/>
        </p:nvSpPr>
        <p:spPr>
          <a:xfrm>
            <a:off x="6537960" y="3657600"/>
            <a:ext cx="2651760" cy="1417320"/>
          </a:xfrm>
          <a:prstGeom prst="roundRect">
            <a:avLst>
              <a:gd name="adj" fmla="val 5161"/>
            </a:avLst>
          </a:prstGeom>
          <a:solidFill>
            <a:srgbClr val="F3E4C6"/>
          </a:solidFill>
          <a:ln w="12700">
            <a:solidFill>
              <a:srgbClr val="C98A2B"/>
            </a:solidFill>
            <a:prstDash val="solid"/>
          </a:ln>
        </p:spPr>
      </p:sp>
      <p:sp>
        <p:nvSpPr>
          <p:cNvPr id="19" name="Text 15"/>
          <p:cNvSpPr/>
          <p:nvPr/>
        </p:nvSpPr>
        <p:spPr>
          <a:xfrm>
            <a:off x="6693408" y="3767328"/>
            <a:ext cx="2377440" cy="1234440"/>
          </a:xfrm>
          <a:prstGeom prst="rect">
            <a:avLst/>
          </a:prstGeom>
          <a:noFill/>
          <a:ln/>
        </p:spPr>
        <p:txBody>
          <a:bodyPr wrap="square" lIns="0" tIns="0" rIns="0" bIns="0" rtlCol="0" anchor="t"/>
          <a:lstStyle/>
          <a:p>
            <a:pPr marL="0" indent="0">
              <a:lnSpc>
                <a:spcPct val="112000"/>
              </a:lnSpc>
              <a:buNone/>
            </a:pPr>
            <a:r>
              <a:rPr lang="en-US" sz="950" b="1" kern="0" spc="100" dirty="0">
                <a:solidFill>
                  <a:srgbClr val="7A2E2E"/>
                </a:solidFill>
                <a:latin typeface="Calibri" pitchFamily="34" charset="0"/>
                <a:ea typeface="Calibri" pitchFamily="34" charset="-122"/>
                <a:cs typeface="Calibri" pitchFamily="34" charset="-120"/>
              </a:rPr>
              <a:t>SHIVAJI MAHARAJ'S ASSOCIATION
</a:t>
            </a:r>
            <a:r>
              <a:rPr lang="en-US" sz="1050" dirty="0">
                <a:solidFill>
                  <a:srgbClr val="2A2622"/>
                </a:solidFill>
                <a:latin typeface="Calibri" pitchFamily="34" charset="0"/>
                <a:ea typeface="Calibri" pitchFamily="34" charset="-122"/>
                <a:cs typeface="Calibri" pitchFamily="34" charset="-120"/>
              </a:rPr>
              <a:t>Secured and expanded during the 1650s–1660s</a:t>
            </a:r>
            <a:endParaRPr lang="en-US" sz="950" dirty="0"/>
          </a:p>
        </p:txBody>
      </p:sp>
      <p:sp>
        <p:nvSpPr>
          <p:cNvPr id="20" name="Shape 16"/>
          <p:cNvSpPr/>
          <p:nvPr/>
        </p:nvSpPr>
        <p:spPr>
          <a:xfrm>
            <a:off x="6537960" y="5257800"/>
            <a:ext cx="5120640" cy="1051560"/>
          </a:xfrm>
          <a:prstGeom prst="roundRect">
            <a:avLst>
              <a:gd name="adj" fmla="val 6957"/>
            </a:avLst>
          </a:prstGeom>
          <a:solidFill>
            <a:srgbClr val="F3E4C6"/>
          </a:solidFill>
          <a:ln w="12700">
            <a:solidFill>
              <a:srgbClr val="C98A2B"/>
            </a:solidFill>
            <a:prstDash val="solid"/>
          </a:ln>
        </p:spPr>
      </p:sp>
      <p:sp>
        <p:nvSpPr>
          <p:cNvPr id="21" name="Text 17"/>
          <p:cNvSpPr/>
          <p:nvPr/>
        </p:nvSpPr>
        <p:spPr>
          <a:xfrm>
            <a:off x="6739128" y="5385816"/>
            <a:ext cx="4718304" cy="795528"/>
          </a:xfrm>
          <a:prstGeom prst="rect">
            <a:avLst/>
          </a:prstGeom>
          <a:noFill/>
          <a:ln/>
        </p:spPr>
        <p:txBody>
          <a:bodyPr wrap="square" lIns="0" tIns="0" rIns="0" bIns="0" rtlCol="0" anchor="t"/>
          <a:lstStyle/>
          <a:p>
            <a:pPr marL="0" indent="0">
              <a:lnSpc>
                <a:spcPct val="115000"/>
              </a:lnSpc>
              <a:buNone/>
            </a:pPr>
            <a:r>
              <a:rPr lang="en-US" sz="1050" b="1" kern="0" spc="100" dirty="0">
                <a:solidFill>
                  <a:srgbClr val="7A2E2E"/>
                </a:solidFill>
                <a:latin typeface="Calibri" pitchFamily="34" charset="0"/>
                <a:ea typeface="Calibri" pitchFamily="34" charset="-122"/>
                <a:cs typeface="Calibri" pitchFamily="34" charset="-120"/>
              </a:rPr>
              <a:t>DID YOU KNOW?
</a:t>
            </a:r>
            <a:r>
              <a:rPr lang="en-US" sz="1150" i="1" dirty="0">
                <a:solidFill>
                  <a:srgbClr val="2A2622"/>
                </a:solidFill>
                <a:latin typeface="Calibri" pitchFamily="34" charset="0"/>
                <a:ea typeface="Calibri" pitchFamily="34" charset="-122"/>
                <a:cs typeface="Calibri" pitchFamily="34" charset="-120"/>
              </a:rPr>
              <a:t>Vijaydurg’s hidden underwater wall is considered one of the earliest known examples of a purpose-built anti-ship defence in Indian coastal fortification.</a:t>
            </a:r>
            <a:endParaRPr lang="en-US" sz="1050" dirty="0"/>
          </a:p>
        </p:txBody>
      </p:sp>
      <p:sp>
        <p:nvSpPr>
          <p:cNvPr id="22" name="Text 18"/>
          <p:cNvSpPr/>
          <p:nvPr/>
        </p:nvSpPr>
        <p:spPr>
          <a:xfrm>
            <a:off x="457200" y="6473952"/>
            <a:ext cx="7315200" cy="274320"/>
          </a:xfrm>
          <a:prstGeom prst="rect">
            <a:avLst/>
          </a:prstGeom>
          <a:noFill/>
          <a:ln/>
        </p:spPr>
        <p:txBody>
          <a:bodyPr wrap="square" lIns="0" tIns="0" rIns="0" bIns="0" rtlCol="0" anchor="ctr"/>
          <a:lstStyle/>
          <a:p>
            <a:pPr marL="0" indent="0">
              <a:buNone/>
            </a:pPr>
            <a:r>
              <a:rPr lang="en-US" sz="900" i="1" dirty="0">
                <a:solidFill>
                  <a:srgbClr val="746E64"/>
                </a:solidFill>
                <a:latin typeface="Calibri" pitchFamily="34" charset="0"/>
                <a:ea typeface="Calibri" pitchFamily="34" charset="-122"/>
                <a:cs typeface="Calibri" pitchFamily="34" charset="-120"/>
              </a:rPr>
              <a:t>Vijaydurg Fort</a:t>
            </a:r>
            <a:endParaRPr lang="en-US" sz="900" dirty="0"/>
          </a:p>
        </p:txBody>
      </p:sp>
      <p:sp>
        <p:nvSpPr>
          <p:cNvPr id="23" name="Text 19"/>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746E64"/>
                </a:solidFill>
                <a:latin typeface="Calibri" pitchFamily="34" charset="0"/>
                <a:ea typeface="Calibri" pitchFamily="34" charset="-122"/>
                <a:cs typeface="Calibri" pitchFamily="34" charset="-120"/>
              </a:rPr>
              <a:t>23</a:t>
            </a:r>
            <a:endParaRPr lang="en-US" sz="900" dirty="0"/>
          </a:p>
        </p:txBody>
      </p:sp>
      <p:pic>
        <p:nvPicPr>
          <p:cNvPr id="24" name="Picture 23" descr="तिन्ही बाजूंनी समुद्राने वेढलेला विजयदुर्ग किल्ला| VIJAYDURG FORT HISTORY – SEA-SURROUNDED SINDHUDURG MARVEL BUILT BY SHIVAJI MAHA">
            <a:extLst>
              <a:ext uri="{FF2B5EF4-FFF2-40B4-BE49-F238E27FC236}">
                <a16:creationId xmlns:a16="http://schemas.microsoft.com/office/drawing/2014/main" id="{C1D63CAA-512A-E246-ECDF-9F0844E7FCF8}"/>
              </a:ext>
            </a:extLst>
          </p:cNvPr>
          <p:cNvPicPr>
            <a:picLocks noChangeAspect="1"/>
          </p:cNvPicPr>
          <p:nvPr/>
        </p:nvPicPr>
        <p:blipFill>
          <a:blip r:embed="rId5"/>
          <a:stretch>
            <a:fillRect/>
          </a:stretch>
        </p:blipFill>
        <p:spPr>
          <a:xfrm>
            <a:off x="6448926" y="2405449"/>
            <a:ext cx="5405323" cy="4342823"/>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3E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C98A2B"/>
          </a:solidFill>
          <a:ln/>
        </p:spPr>
      </p:sp>
      <p:pic>
        <p:nvPicPr>
          <p:cNvPr id="3" name="Image 0" descr="/home/claude/forts/assets/fort_icon_white.png"/>
          <p:cNvPicPr>
            <a:picLocks noChangeAspect="1"/>
          </p:cNvPicPr>
          <p:nvPr/>
        </p:nvPicPr>
        <p:blipFill>
          <a:blip r:embed="rId3"/>
          <a:stretch>
            <a:fillRect/>
          </a:stretch>
        </p:blipFill>
        <p:spPr>
          <a:xfrm>
            <a:off x="576072" y="502920"/>
            <a:ext cx="329184" cy="329184"/>
          </a:xfrm>
          <a:prstGeom prst="rect">
            <a:avLst/>
          </a:prstGeom>
        </p:spPr>
      </p:pic>
      <p:sp>
        <p:nvSpPr>
          <p:cNvPr id="4" name="Text 1"/>
          <p:cNvSpPr/>
          <p:nvPr/>
        </p:nvSpPr>
        <p:spPr>
          <a:xfrm>
            <a:off x="1170432" y="310896"/>
            <a:ext cx="8778240" cy="457200"/>
          </a:xfrm>
          <a:prstGeom prst="rect">
            <a:avLst/>
          </a:prstGeom>
          <a:noFill/>
          <a:ln/>
        </p:spPr>
        <p:txBody>
          <a:bodyPr wrap="square" lIns="0" tIns="0" rIns="0" bIns="0" rtlCol="0" anchor="b"/>
          <a:lstStyle/>
          <a:p>
            <a:pPr marL="0" indent="0">
              <a:buNone/>
            </a:pPr>
            <a:r>
              <a:rPr lang="en-US" sz="2700" b="1" dirty="0">
                <a:solidFill>
                  <a:srgbClr val="7A2E2E"/>
                </a:solidFill>
                <a:latin typeface="Cambria" pitchFamily="34" charset="0"/>
                <a:ea typeface="Cambria" pitchFamily="34" charset="-122"/>
                <a:cs typeface="Cambria" pitchFamily="34" charset="-120"/>
              </a:rPr>
              <a:t>Lohagad Fort</a:t>
            </a:r>
            <a:endParaRPr lang="en-US" sz="2700" dirty="0"/>
          </a:p>
        </p:txBody>
      </p:sp>
      <p:sp>
        <p:nvSpPr>
          <p:cNvPr id="5" name="Text 2"/>
          <p:cNvSpPr/>
          <p:nvPr/>
        </p:nvSpPr>
        <p:spPr>
          <a:xfrm>
            <a:off x="1188720" y="786384"/>
            <a:ext cx="8778240" cy="274320"/>
          </a:xfrm>
          <a:prstGeom prst="rect">
            <a:avLst/>
          </a:prstGeom>
          <a:noFill/>
          <a:ln/>
        </p:spPr>
        <p:txBody>
          <a:bodyPr wrap="square" lIns="0" tIns="0" rIns="0" bIns="0" rtlCol="0" anchor="ctr"/>
          <a:lstStyle/>
          <a:p>
            <a:pPr marL="0" indent="0">
              <a:buNone/>
            </a:pPr>
            <a:r>
              <a:rPr lang="en-US" sz="1250" i="1" dirty="0">
                <a:solidFill>
                  <a:srgbClr val="746E64"/>
                </a:solidFill>
                <a:latin typeface="Calibri" pitchFamily="34" charset="0"/>
                <a:ea typeface="Calibri" pitchFamily="34" charset="-122"/>
                <a:cs typeface="Calibri" pitchFamily="34" charset="-120"/>
              </a:rPr>
              <a:t>Twin fort with Visapur  •  Near Lonavala, Pune District, Maharashtra</a:t>
            </a:r>
            <a:endParaRPr lang="en-US" sz="1250" dirty="0"/>
          </a:p>
        </p:txBody>
      </p:sp>
      <p:sp>
        <p:nvSpPr>
          <p:cNvPr id="6" name="Shape 3"/>
          <p:cNvSpPr/>
          <p:nvPr/>
        </p:nvSpPr>
        <p:spPr>
          <a:xfrm>
            <a:off x="9445752" y="438912"/>
            <a:ext cx="2286000" cy="384048"/>
          </a:xfrm>
          <a:prstGeom prst="roundRect">
            <a:avLst>
              <a:gd name="adj" fmla="val 19048"/>
            </a:avLst>
          </a:prstGeom>
          <a:solidFill>
            <a:srgbClr val="F3E4C6"/>
          </a:solidFill>
          <a:ln w="12700">
            <a:solidFill>
              <a:srgbClr val="C98A2B"/>
            </a:solidFill>
            <a:prstDash val="solid"/>
          </a:ln>
        </p:spPr>
      </p:sp>
      <p:sp>
        <p:nvSpPr>
          <p:cNvPr id="7" name="Text 4"/>
          <p:cNvSpPr/>
          <p:nvPr/>
        </p:nvSpPr>
        <p:spPr>
          <a:xfrm>
            <a:off x="9445752" y="438912"/>
            <a:ext cx="2286000" cy="384048"/>
          </a:xfrm>
          <a:prstGeom prst="rect">
            <a:avLst/>
          </a:prstGeom>
          <a:noFill/>
          <a:ln/>
        </p:spPr>
        <p:txBody>
          <a:bodyPr wrap="square" lIns="0" tIns="0" rIns="0" bIns="0" rtlCol="0" anchor="ctr"/>
          <a:lstStyle/>
          <a:p>
            <a:pPr marL="0" indent="0" algn="ctr">
              <a:buNone/>
            </a:pPr>
            <a:r>
              <a:rPr lang="en-US" sz="1100" b="1" dirty="0">
                <a:solidFill>
                  <a:srgbClr val="7A2E2E"/>
                </a:solidFill>
                <a:latin typeface="Calibri" pitchFamily="34" charset="0"/>
                <a:ea typeface="Calibri" pitchFamily="34" charset="-122"/>
                <a:cs typeface="Calibri" pitchFamily="34" charset="-120"/>
              </a:rPr>
              <a:t>Hill fort</a:t>
            </a:r>
            <a:endParaRPr lang="en-US" sz="1100" dirty="0"/>
          </a:p>
        </p:txBody>
      </p:sp>
      <p:sp>
        <p:nvSpPr>
          <p:cNvPr id="8" name="Text 5"/>
          <p:cNvSpPr/>
          <p:nvPr/>
        </p:nvSpPr>
        <p:spPr>
          <a:xfrm>
            <a:off x="457200" y="1325880"/>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HISTORY</a:t>
            </a:r>
            <a:endParaRPr lang="en-US" sz="1300" dirty="0"/>
          </a:p>
        </p:txBody>
      </p:sp>
      <p:sp>
        <p:nvSpPr>
          <p:cNvPr id="9" name="Text 6"/>
          <p:cNvSpPr/>
          <p:nvPr/>
        </p:nvSpPr>
        <p:spPr>
          <a:xfrm>
            <a:off x="457200" y="1609344"/>
            <a:ext cx="5760720" cy="4572000"/>
          </a:xfrm>
          <a:prstGeom prst="rect">
            <a:avLst/>
          </a:prstGeom>
          <a:noFill/>
          <a:ln/>
        </p:spPr>
        <p:txBody>
          <a:bodyPr wrap="square" lIns="0" tIns="0" rIns="0" bIns="0" rtlCol="0" anchor="t"/>
          <a:lstStyle/>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An old fort in the Sahyadri range, passed through Nizamshahi and Adilshahi control</a:t>
            </a:r>
            <a:endParaRPr lang="en-US" sz="1200" dirty="0"/>
          </a:p>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Captured by Shivaji Maharaj in 1648 during the early expansion of Swarajya</a:t>
            </a:r>
            <a:endParaRPr lang="en-US" sz="1200" dirty="0"/>
          </a:p>
        </p:txBody>
      </p:sp>
      <p:sp>
        <p:nvSpPr>
          <p:cNvPr id="10" name="Text 7"/>
          <p:cNvSpPr/>
          <p:nvPr/>
        </p:nvSpPr>
        <p:spPr>
          <a:xfrm>
            <a:off x="457200" y="2706624"/>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ROLE IN SWARAJYA</a:t>
            </a:r>
            <a:endParaRPr lang="en-US" sz="1300" dirty="0"/>
          </a:p>
        </p:txBody>
      </p:sp>
      <p:sp>
        <p:nvSpPr>
          <p:cNvPr id="11" name="Text 8"/>
          <p:cNvSpPr/>
          <p:nvPr/>
        </p:nvSpPr>
        <p:spPr>
          <a:xfrm>
            <a:off x="457200" y="2999232"/>
            <a:ext cx="5760720" cy="4572000"/>
          </a:xfrm>
          <a:prstGeom prst="rect">
            <a:avLst/>
          </a:prstGeom>
          <a:noFill/>
          <a:ln/>
        </p:spPr>
        <p:txBody>
          <a:bodyPr wrap="square" lIns="0" tIns="0" rIns="0" bIns="0" rtlCol="0" anchor="t"/>
          <a:lstStyle/>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Briefly ceded to the Mughals under the 1665 Treaty of Purandar, then recaptured in 1670</a:t>
            </a:r>
            <a:endParaRPr lang="en-US" sz="1200" dirty="0"/>
          </a:p>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Reportedly used to store treasure brought back from the 1664 raid on Surat</a:t>
            </a:r>
            <a:endParaRPr lang="en-US" sz="1200" dirty="0"/>
          </a:p>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Its connection to Visapur fort via the narrow "Vinchu Kata" ridge gave it strong natural defence</a:t>
            </a:r>
            <a:endParaRPr lang="en-US" sz="1200" dirty="0"/>
          </a:p>
        </p:txBody>
      </p:sp>
      <p:sp>
        <p:nvSpPr>
          <p:cNvPr id="12" name="Text 9"/>
          <p:cNvSpPr/>
          <p:nvPr/>
        </p:nvSpPr>
        <p:spPr>
          <a:xfrm>
            <a:off x="457200" y="4553712"/>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KEY EVENT</a:t>
            </a:r>
            <a:endParaRPr lang="en-US" sz="1300" dirty="0"/>
          </a:p>
        </p:txBody>
      </p:sp>
      <p:sp>
        <p:nvSpPr>
          <p:cNvPr id="13" name="Text 10"/>
          <p:cNvSpPr/>
          <p:nvPr/>
        </p:nvSpPr>
        <p:spPr>
          <a:xfrm>
            <a:off x="457200" y="4846320"/>
            <a:ext cx="5760720" cy="4572000"/>
          </a:xfrm>
          <a:prstGeom prst="rect">
            <a:avLst/>
          </a:prstGeom>
          <a:noFill/>
          <a:ln/>
        </p:spPr>
        <p:txBody>
          <a:bodyPr wrap="square" lIns="0" tIns="0" rIns="0" bIns="0" rtlCol="0" anchor="t"/>
          <a:lstStyle/>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1670 — Recaptured by the Marathas; used to store Surat treasure</a:t>
            </a:r>
            <a:endParaRPr lang="en-US" sz="1200" dirty="0"/>
          </a:p>
        </p:txBody>
      </p:sp>
      <p:sp>
        <p:nvSpPr>
          <p:cNvPr id="14" name="Text 11"/>
          <p:cNvSpPr/>
          <p:nvPr/>
        </p:nvSpPr>
        <p:spPr>
          <a:xfrm>
            <a:off x="6537960" y="1325880"/>
            <a:ext cx="512064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ARCHITECTURE</a:t>
            </a:r>
            <a:endParaRPr lang="en-US" sz="1300" dirty="0"/>
          </a:p>
        </p:txBody>
      </p:sp>
      <p:sp>
        <p:nvSpPr>
          <p:cNvPr id="15" name="Text 12"/>
          <p:cNvSpPr/>
          <p:nvPr/>
        </p:nvSpPr>
        <p:spPr>
          <a:xfrm>
            <a:off x="6537960" y="1609344"/>
            <a:ext cx="5120640" cy="4572000"/>
          </a:xfrm>
          <a:prstGeom prst="rect">
            <a:avLst/>
          </a:prstGeom>
          <a:noFill/>
          <a:ln/>
        </p:spPr>
        <p:txBody>
          <a:bodyPr wrap="square" lIns="0" tIns="0" rIns="0" bIns="0" rtlCol="0" anchor="t"/>
          <a:lstStyle/>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Four gateways — Ganesh, Narayan, Hanuman and the Maha Darwaza</a:t>
            </a:r>
            <a:endParaRPr lang="en-US" sz="1200" dirty="0"/>
          </a:p>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Vinchu Kata ("scorpion’s tail") — a narrow rock spur linking Lohagad to Visapur</a:t>
            </a:r>
            <a:endParaRPr lang="en-US" sz="1200" dirty="0"/>
          </a:p>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Rock-cut caves near the fort associated with earlier Buddhist activity in the region</a:t>
            </a:r>
            <a:endParaRPr lang="en-US" sz="1200" dirty="0"/>
          </a:p>
        </p:txBody>
      </p:sp>
      <p:sp>
        <p:nvSpPr>
          <p:cNvPr id="16" name="Shape 13"/>
          <p:cNvSpPr/>
          <p:nvPr/>
        </p:nvSpPr>
        <p:spPr>
          <a:xfrm>
            <a:off x="9390888" y="3584448"/>
            <a:ext cx="1059154" cy="1563624"/>
          </a:xfrm>
          <a:prstGeom prst="roundRect">
            <a:avLst>
              <a:gd name="adj" fmla="val 4317"/>
            </a:avLst>
          </a:prstGeom>
          <a:solidFill>
            <a:srgbClr val="FFFFFF"/>
          </a:solidFill>
          <a:ln w="12700">
            <a:solidFill>
              <a:srgbClr val="DCD5C7"/>
            </a:solidFill>
            <a:prstDash val="solid"/>
          </a:ln>
        </p:spPr>
      </p:sp>
      <p:pic>
        <p:nvPicPr>
          <p:cNvPr id="17" name="Image 1" descr="/home/claude/forts/assets/map_lohagad.png"/>
          <p:cNvPicPr>
            <a:picLocks noChangeAspect="1"/>
          </p:cNvPicPr>
          <p:nvPr/>
        </p:nvPicPr>
        <p:blipFill>
          <a:blip r:embed="rId4"/>
          <a:stretch>
            <a:fillRect/>
          </a:stretch>
        </p:blipFill>
        <p:spPr>
          <a:xfrm>
            <a:off x="9464040" y="3657600"/>
            <a:ext cx="912850" cy="1417320"/>
          </a:xfrm>
          <a:prstGeom prst="rect">
            <a:avLst/>
          </a:prstGeom>
        </p:spPr>
      </p:pic>
      <p:sp>
        <p:nvSpPr>
          <p:cNvPr id="18" name="Shape 14"/>
          <p:cNvSpPr/>
          <p:nvPr/>
        </p:nvSpPr>
        <p:spPr>
          <a:xfrm>
            <a:off x="6537960" y="3657600"/>
            <a:ext cx="2651760" cy="1417320"/>
          </a:xfrm>
          <a:prstGeom prst="roundRect">
            <a:avLst>
              <a:gd name="adj" fmla="val 5161"/>
            </a:avLst>
          </a:prstGeom>
          <a:solidFill>
            <a:srgbClr val="F3E4C6"/>
          </a:solidFill>
          <a:ln w="12700">
            <a:solidFill>
              <a:srgbClr val="C98A2B"/>
            </a:solidFill>
            <a:prstDash val="solid"/>
          </a:ln>
        </p:spPr>
      </p:sp>
      <p:sp>
        <p:nvSpPr>
          <p:cNvPr id="19" name="Text 15"/>
          <p:cNvSpPr/>
          <p:nvPr/>
        </p:nvSpPr>
        <p:spPr>
          <a:xfrm>
            <a:off x="6693408" y="3767328"/>
            <a:ext cx="2377440" cy="1234440"/>
          </a:xfrm>
          <a:prstGeom prst="rect">
            <a:avLst/>
          </a:prstGeom>
          <a:noFill/>
          <a:ln/>
        </p:spPr>
        <p:txBody>
          <a:bodyPr wrap="square" lIns="0" tIns="0" rIns="0" bIns="0" rtlCol="0" anchor="t"/>
          <a:lstStyle/>
          <a:p>
            <a:pPr marL="0" indent="0">
              <a:lnSpc>
                <a:spcPct val="112000"/>
              </a:lnSpc>
              <a:buNone/>
            </a:pPr>
            <a:r>
              <a:rPr lang="en-US" sz="950" b="1" kern="0" spc="100" dirty="0">
                <a:solidFill>
                  <a:srgbClr val="7A2E2E"/>
                </a:solidFill>
                <a:latin typeface="Calibri" pitchFamily="34" charset="0"/>
                <a:ea typeface="Calibri" pitchFamily="34" charset="-122"/>
                <a:cs typeface="Calibri" pitchFamily="34" charset="-120"/>
              </a:rPr>
              <a:t>SHIVAJI MAHARAJ'S ASSOCIATION
</a:t>
            </a:r>
            <a:r>
              <a:rPr lang="en-US" sz="1050" dirty="0">
                <a:solidFill>
                  <a:srgbClr val="2A2622"/>
                </a:solidFill>
                <a:latin typeface="Calibri" pitchFamily="34" charset="0"/>
                <a:ea typeface="Calibri" pitchFamily="34" charset="-122"/>
                <a:cs typeface="Calibri" pitchFamily="34" charset="-120"/>
              </a:rPr>
              <a:t>1648 onward, with a 1665–70 Mughal interlude</a:t>
            </a:r>
            <a:endParaRPr lang="en-US" sz="950" dirty="0"/>
          </a:p>
        </p:txBody>
      </p:sp>
      <p:sp>
        <p:nvSpPr>
          <p:cNvPr id="20" name="Shape 16"/>
          <p:cNvSpPr/>
          <p:nvPr/>
        </p:nvSpPr>
        <p:spPr>
          <a:xfrm>
            <a:off x="6537960" y="5257800"/>
            <a:ext cx="5120640" cy="1051560"/>
          </a:xfrm>
          <a:prstGeom prst="roundRect">
            <a:avLst>
              <a:gd name="adj" fmla="val 6957"/>
            </a:avLst>
          </a:prstGeom>
          <a:solidFill>
            <a:srgbClr val="F3E4C6"/>
          </a:solidFill>
          <a:ln w="12700">
            <a:solidFill>
              <a:srgbClr val="C98A2B"/>
            </a:solidFill>
            <a:prstDash val="solid"/>
          </a:ln>
        </p:spPr>
      </p:sp>
      <p:sp>
        <p:nvSpPr>
          <p:cNvPr id="21" name="Text 17"/>
          <p:cNvSpPr/>
          <p:nvPr/>
        </p:nvSpPr>
        <p:spPr>
          <a:xfrm>
            <a:off x="6739128" y="5385816"/>
            <a:ext cx="4718304" cy="795528"/>
          </a:xfrm>
          <a:prstGeom prst="rect">
            <a:avLst/>
          </a:prstGeom>
          <a:noFill/>
          <a:ln/>
        </p:spPr>
        <p:txBody>
          <a:bodyPr wrap="square" lIns="0" tIns="0" rIns="0" bIns="0" rtlCol="0" anchor="t"/>
          <a:lstStyle/>
          <a:p>
            <a:pPr marL="0" indent="0">
              <a:lnSpc>
                <a:spcPct val="115000"/>
              </a:lnSpc>
              <a:buNone/>
            </a:pPr>
            <a:r>
              <a:rPr lang="en-US" sz="1050" b="1" kern="0" spc="100" dirty="0">
                <a:solidFill>
                  <a:srgbClr val="7A2E2E"/>
                </a:solidFill>
                <a:latin typeface="Calibri" pitchFamily="34" charset="0"/>
                <a:ea typeface="Calibri" pitchFamily="34" charset="-122"/>
                <a:cs typeface="Calibri" pitchFamily="34" charset="-120"/>
              </a:rPr>
              <a:t>DID YOU KNOW?
</a:t>
            </a:r>
            <a:r>
              <a:rPr lang="en-US" sz="1150" i="1" dirty="0">
                <a:solidFill>
                  <a:srgbClr val="2A2622"/>
                </a:solidFill>
                <a:latin typeface="Calibri" pitchFamily="34" charset="0"/>
                <a:ea typeface="Calibri" pitchFamily="34" charset="-122"/>
                <a:cs typeface="Calibri" pitchFamily="34" charset="-120"/>
              </a:rPr>
              <a:t>The narrow, precipice-edged "Vinchu Kata" ridge connecting Lohagad to Visapur is one of the most photographed trekking routes in the Sahyadris today.</a:t>
            </a:r>
            <a:endParaRPr lang="en-US" sz="1050" dirty="0"/>
          </a:p>
        </p:txBody>
      </p:sp>
      <p:sp>
        <p:nvSpPr>
          <p:cNvPr id="22" name="Text 18"/>
          <p:cNvSpPr/>
          <p:nvPr/>
        </p:nvSpPr>
        <p:spPr>
          <a:xfrm>
            <a:off x="457200" y="6473952"/>
            <a:ext cx="7315200" cy="274320"/>
          </a:xfrm>
          <a:prstGeom prst="rect">
            <a:avLst/>
          </a:prstGeom>
          <a:noFill/>
          <a:ln/>
        </p:spPr>
        <p:txBody>
          <a:bodyPr wrap="square" lIns="0" tIns="0" rIns="0" bIns="0" rtlCol="0" anchor="ctr"/>
          <a:lstStyle/>
          <a:p>
            <a:pPr marL="0" indent="0">
              <a:buNone/>
            </a:pPr>
            <a:r>
              <a:rPr lang="en-US" sz="900" i="1" dirty="0">
                <a:solidFill>
                  <a:srgbClr val="746E64"/>
                </a:solidFill>
                <a:latin typeface="Calibri" pitchFamily="34" charset="0"/>
                <a:ea typeface="Calibri" pitchFamily="34" charset="-122"/>
                <a:cs typeface="Calibri" pitchFamily="34" charset="-120"/>
              </a:rPr>
              <a:t>Lohagad Fort</a:t>
            </a:r>
            <a:endParaRPr lang="en-US" sz="900" dirty="0"/>
          </a:p>
        </p:txBody>
      </p:sp>
      <p:sp>
        <p:nvSpPr>
          <p:cNvPr id="23" name="Text 19"/>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746E64"/>
                </a:solidFill>
                <a:latin typeface="Calibri" pitchFamily="34" charset="0"/>
                <a:ea typeface="Calibri" pitchFamily="34" charset="-122"/>
                <a:cs typeface="Calibri" pitchFamily="34" charset="-120"/>
              </a:rPr>
              <a:t>24</a:t>
            </a:r>
            <a:endParaRPr lang="en-US" sz="900" dirty="0"/>
          </a:p>
        </p:txBody>
      </p:sp>
      <p:pic>
        <p:nvPicPr>
          <p:cNvPr id="24" name="Picture 23" descr="सिया प्वाइंट कभी था शिवाजी महाराज की वीरता का गवाह, बदनामी पर निकली स्थानीय लोगों की आह | Not Siya Point its Vinchu Kada Locals Say Pune Fort Being Disrespected After Ketan Murder Case - NDTV India">
            <a:extLst>
              <a:ext uri="{FF2B5EF4-FFF2-40B4-BE49-F238E27FC236}">
                <a16:creationId xmlns:a16="http://schemas.microsoft.com/office/drawing/2014/main" id="{160596DF-162F-CC4F-2290-39A580414647}"/>
              </a:ext>
            </a:extLst>
          </p:cNvPr>
          <p:cNvPicPr>
            <a:picLocks noChangeAspect="1"/>
          </p:cNvPicPr>
          <p:nvPr/>
        </p:nvPicPr>
        <p:blipFill>
          <a:blip r:embed="rId5"/>
          <a:stretch>
            <a:fillRect/>
          </a:stretch>
        </p:blipFill>
        <p:spPr>
          <a:xfrm>
            <a:off x="6432883" y="2558185"/>
            <a:ext cx="5662863" cy="423665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3E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C98A2B"/>
          </a:solidFill>
          <a:ln/>
        </p:spPr>
      </p:sp>
      <p:pic>
        <p:nvPicPr>
          <p:cNvPr id="3" name="Image 0" descr="/home/claude/forts/assets/fort_icon_white.png"/>
          <p:cNvPicPr>
            <a:picLocks noChangeAspect="1"/>
          </p:cNvPicPr>
          <p:nvPr/>
        </p:nvPicPr>
        <p:blipFill>
          <a:blip r:embed="rId3"/>
          <a:stretch>
            <a:fillRect/>
          </a:stretch>
        </p:blipFill>
        <p:spPr>
          <a:xfrm>
            <a:off x="576072" y="502920"/>
            <a:ext cx="329184" cy="329184"/>
          </a:xfrm>
          <a:prstGeom prst="rect">
            <a:avLst/>
          </a:prstGeom>
        </p:spPr>
      </p:pic>
      <p:sp>
        <p:nvSpPr>
          <p:cNvPr id="4" name="Text 1"/>
          <p:cNvSpPr/>
          <p:nvPr/>
        </p:nvSpPr>
        <p:spPr>
          <a:xfrm>
            <a:off x="1170432" y="310896"/>
            <a:ext cx="8778240" cy="457200"/>
          </a:xfrm>
          <a:prstGeom prst="rect">
            <a:avLst/>
          </a:prstGeom>
          <a:noFill/>
          <a:ln/>
        </p:spPr>
        <p:txBody>
          <a:bodyPr wrap="square" lIns="0" tIns="0" rIns="0" bIns="0" rtlCol="0" anchor="b"/>
          <a:lstStyle/>
          <a:p>
            <a:pPr marL="0" indent="0">
              <a:buNone/>
            </a:pPr>
            <a:r>
              <a:rPr lang="en-US" sz="2700" b="1" dirty="0">
                <a:solidFill>
                  <a:srgbClr val="7A2E2E"/>
                </a:solidFill>
                <a:latin typeface="Cambria" pitchFamily="34" charset="0"/>
                <a:ea typeface="Cambria" pitchFamily="34" charset="-122"/>
                <a:cs typeface="Cambria" pitchFamily="34" charset="-120"/>
              </a:rPr>
              <a:t>Rajmachi Fort</a:t>
            </a:r>
            <a:endParaRPr lang="en-US" sz="2700" dirty="0"/>
          </a:p>
        </p:txBody>
      </p:sp>
      <p:sp>
        <p:nvSpPr>
          <p:cNvPr id="5" name="Text 2"/>
          <p:cNvSpPr/>
          <p:nvPr/>
        </p:nvSpPr>
        <p:spPr>
          <a:xfrm>
            <a:off x="1188720" y="786384"/>
            <a:ext cx="8778240" cy="274320"/>
          </a:xfrm>
          <a:prstGeom prst="rect">
            <a:avLst/>
          </a:prstGeom>
          <a:noFill/>
          <a:ln/>
        </p:spPr>
        <p:txBody>
          <a:bodyPr wrap="square" lIns="0" tIns="0" rIns="0" bIns="0" rtlCol="0" anchor="ctr"/>
          <a:lstStyle/>
          <a:p>
            <a:pPr marL="0" indent="0">
              <a:buNone/>
            </a:pPr>
            <a:r>
              <a:rPr lang="en-US" sz="1250" i="1" dirty="0">
                <a:solidFill>
                  <a:srgbClr val="746E64"/>
                </a:solidFill>
                <a:latin typeface="Calibri" pitchFamily="34" charset="0"/>
                <a:ea typeface="Calibri" pitchFamily="34" charset="-122"/>
                <a:cs typeface="Calibri" pitchFamily="34" charset="-120"/>
              </a:rPr>
              <a:t>Twin bastions: Shrivardhan &amp; Manaranjan  •  Near Lonavala, Pune District, Maharashtra</a:t>
            </a:r>
            <a:endParaRPr lang="en-US" sz="1250" dirty="0"/>
          </a:p>
        </p:txBody>
      </p:sp>
      <p:sp>
        <p:nvSpPr>
          <p:cNvPr id="6" name="Shape 3"/>
          <p:cNvSpPr/>
          <p:nvPr/>
        </p:nvSpPr>
        <p:spPr>
          <a:xfrm>
            <a:off x="9445752" y="438912"/>
            <a:ext cx="2286000" cy="384048"/>
          </a:xfrm>
          <a:prstGeom prst="roundRect">
            <a:avLst>
              <a:gd name="adj" fmla="val 19048"/>
            </a:avLst>
          </a:prstGeom>
          <a:solidFill>
            <a:srgbClr val="F3E4C6"/>
          </a:solidFill>
          <a:ln w="12700">
            <a:solidFill>
              <a:srgbClr val="C98A2B"/>
            </a:solidFill>
            <a:prstDash val="solid"/>
          </a:ln>
        </p:spPr>
      </p:sp>
      <p:sp>
        <p:nvSpPr>
          <p:cNvPr id="7" name="Text 4"/>
          <p:cNvSpPr/>
          <p:nvPr/>
        </p:nvSpPr>
        <p:spPr>
          <a:xfrm>
            <a:off x="9445752" y="438912"/>
            <a:ext cx="2286000" cy="384048"/>
          </a:xfrm>
          <a:prstGeom prst="rect">
            <a:avLst/>
          </a:prstGeom>
          <a:noFill/>
          <a:ln/>
        </p:spPr>
        <p:txBody>
          <a:bodyPr wrap="square" lIns="0" tIns="0" rIns="0" bIns="0" rtlCol="0" anchor="ctr"/>
          <a:lstStyle/>
          <a:p>
            <a:pPr marL="0" indent="0" algn="ctr">
              <a:buNone/>
            </a:pPr>
            <a:r>
              <a:rPr lang="en-US" sz="1100" b="1" dirty="0">
                <a:solidFill>
                  <a:srgbClr val="7A2E2E"/>
                </a:solidFill>
                <a:latin typeface="Calibri" pitchFamily="34" charset="0"/>
                <a:ea typeface="Calibri" pitchFamily="34" charset="-122"/>
                <a:cs typeface="Calibri" pitchFamily="34" charset="-120"/>
              </a:rPr>
              <a:t>Hill fort</a:t>
            </a:r>
            <a:endParaRPr lang="en-US" sz="1100" dirty="0"/>
          </a:p>
        </p:txBody>
      </p:sp>
      <p:sp>
        <p:nvSpPr>
          <p:cNvPr id="8" name="Text 5"/>
          <p:cNvSpPr/>
          <p:nvPr/>
        </p:nvSpPr>
        <p:spPr>
          <a:xfrm>
            <a:off x="457200" y="1325880"/>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HISTORY</a:t>
            </a:r>
            <a:endParaRPr lang="en-US" sz="1300" dirty="0"/>
          </a:p>
        </p:txBody>
      </p:sp>
      <p:sp>
        <p:nvSpPr>
          <p:cNvPr id="9" name="Text 6"/>
          <p:cNvSpPr/>
          <p:nvPr/>
        </p:nvSpPr>
        <p:spPr>
          <a:xfrm>
            <a:off x="457200" y="1609344"/>
            <a:ext cx="5760720" cy="4572000"/>
          </a:xfrm>
          <a:prstGeom prst="rect">
            <a:avLst/>
          </a:prstGeom>
          <a:noFill/>
          <a:ln/>
        </p:spPr>
        <p:txBody>
          <a:bodyPr wrap="square" lIns="0" tIns="0" rIns="0" bIns="0" rtlCol="0" anchor="t"/>
          <a:lstStyle/>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An old fort guarding the Bor Ghat trade route linking the Konkan coast to the Deccan plateau</a:t>
            </a:r>
            <a:endParaRPr lang="en-US" sz="1200" dirty="0"/>
          </a:p>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Held by earlier Deccan sultanates before coming under Maratha control around 1657</a:t>
            </a:r>
            <a:endParaRPr lang="en-US" sz="1200" dirty="0"/>
          </a:p>
        </p:txBody>
      </p:sp>
      <p:sp>
        <p:nvSpPr>
          <p:cNvPr id="10" name="Text 7"/>
          <p:cNvSpPr/>
          <p:nvPr/>
        </p:nvSpPr>
        <p:spPr>
          <a:xfrm>
            <a:off x="457200" y="2706624"/>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ROLE IN SWARAJYA</a:t>
            </a:r>
            <a:endParaRPr lang="en-US" sz="1300" dirty="0"/>
          </a:p>
        </p:txBody>
      </p:sp>
      <p:sp>
        <p:nvSpPr>
          <p:cNvPr id="11" name="Text 8"/>
          <p:cNvSpPr/>
          <p:nvPr/>
        </p:nvSpPr>
        <p:spPr>
          <a:xfrm>
            <a:off x="457200" y="2999232"/>
            <a:ext cx="5760720" cy="4572000"/>
          </a:xfrm>
          <a:prstGeom prst="rect">
            <a:avLst/>
          </a:prstGeom>
          <a:noFill/>
          <a:ln/>
        </p:spPr>
        <p:txBody>
          <a:bodyPr wrap="square" lIns="0" tIns="0" rIns="0" bIns="0" rtlCol="0" anchor="t"/>
          <a:lstStyle/>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Secured the vital Bor Ghat pass used for trade and troop movement between Konkan and Desh</a:t>
            </a:r>
            <a:endParaRPr lang="en-US" sz="1200" dirty="0"/>
          </a:p>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Garrisoned to protect Swarajya’s supply and communication lines through the Sahyadris</a:t>
            </a:r>
            <a:endParaRPr lang="en-US" sz="1200" dirty="0"/>
          </a:p>
        </p:txBody>
      </p:sp>
      <p:sp>
        <p:nvSpPr>
          <p:cNvPr id="12" name="Text 9"/>
          <p:cNvSpPr/>
          <p:nvPr/>
        </p:nvSpPr>
        <p:spPr>
          <a:xfrm>
            <a:off x="457200" y="4096512"/>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KEY EVENT</a:t>
            </a:r>
            <a:endParaRPr lang="en-US" sz="1300" dirty="0"/>
          </a:p>
        </p:txBody>
      </p:sp>
      <p:sp>
        <p:nvSpPr>
          <p:cNvPr id="13" name="Text 10"/>
          <p:cNvSpPr/>
          <p:nvPr/>
        </p:nvSpPr>
        <p:spPr>
          <a:xfrm>
            <a:off x="457200" y="4389120"/>
            <a:ext cx="5760720" cy="4572000"/>
          </a:xfrm>
          <a:prstGeom prst="rect">
            <a:avLst/>
          </a:prstGeom>
          <a:noFill/>
          <a:ln/>
        </p:spPr>
        <p:txBody>
          <a:bodyPr wrap="square" lIns="0" tIns="0" rIns="0" bIns="0" rtlCol="0" anchor="t"/>
          <a:lstStyle/>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18th century — Continued strategic use through the Peshwa period</a:t>
            </a:r>
            <a:endParaRPr lang="en-US" sz="1200" dirty="0"/>
          </a:p>
        </p:txBody>
      </p:sp>
      <p:sp>
        <p:nvSpPr>
          <p:cNvPr id="14" name="Text 11"/>
          <p:cNvSpPr/>
          <p:nvPr/>
        </p:nvSpPr>
        <p:spPr>
          <a:xfrm>
            <a:off x="6537960" y="1325880"/>
            <a:ext cx="512064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ARCHITECTURE</a:t>
            </a:r>
            <a:endParaRPr lang="en-US" sz="1300" dirty="0"/>
          </a:p>
        </p:txBody>
      </p:sp>
      <p:sp>
        <p:nvSpPr>
          <p:cNvPr id="15" name="Text 12"/>
          <p:cNvSpPr/>
          <p:nvPr/>
        </p:nvSpPr>
        <p:spPr>
          <a:xfrm>
            <a:off x="6537960" y="1609344"/>
            <a:ext cx="5120640" cy="4572000"/>
          </a:xfrm>
          <a:prstGeom prst="rect">
            <a:avLst/>
          </a:prstGeom>
          <a:noFill/>
          <a:ln/>
        </p:spPr>
        <p:txBody>
          <a:bodyPr wrap="square" lIns="0" tIns="0" rIns="0" bIns="0" rtlCol="0" anchor="t"/>
          <a:lstStyle/>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Twin peaks — Shrivardhan and Manaranjan — linked by a fortified plateau</a:t>
            </a:r>
            <a:endParaRPr lang="en-US" sz="1200" dirty="0"/>
          </a:p>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Bhairavnath temple and the adjoining Rajmachi village</a:t>
            </a:r>
            <a:endParaRPr lang="en-US" sz="1200" dirty="0"/>
          </a:p>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Commanding views over the Ulhas valley below</a:t>
            </a:r>
            <a:endParaRPr lang="en-US" sz="1200" dirty="0"/>
          </a:p>
        </p:txBody>
      </p:sp>
      <p:sp>
        <p:nvSpPr>
          <p:cNvPr id="16" name="Shape 13"/>
          <p:cNvSpPr/>
          <p:nvPr/>
        </p:nvSpPr>
        <p:spPr>
          <a:xfrm>
            <a:off x="9390888" y="3584448"/>
            <a:ext cx="1059154" cy="1563624"/>
          </a:xfrm>
          <a:prstGeom prst="roundRect">
            <a:avLst>
              <a:gd name="adj" fmla="val 4317"/>
            </a:avLst>
          </a:prstGeom>
          <a:solidFill>
            <a:srgbClr val="FFFFFF"/>
          </a:solidFill>
          <a:ln w="12700">
            <a:solidFill>
              <a:srgbClr val="DCD5C7"/>
            </a:solidFill>
            <a:prstDash val="solid"/>
          </a:ln>
        </p:spPr>
      </p:sp>
      <p:pic>
        <p:nvPicPr>
          <p:cNvPr id="17" name="Image 1" descr="/home/claude/forts/assets/map_rajmachi.png"/>
          <p:cNvPicPr>
            <a:picLocks noChangeAspect="1"/>
          </p:cNvPicPr>
          <p:nvPr/>
        </p:nvPicPr>
        <p:blipFill>
          <a:blip r:embed="rId4"/>
          <a:stretch>
            <a:fillRect/>
          </a:stretch>
        </p:blipFill>
        <p:spPr>
          <a:xfrm>
            <a:off x="9464040" y="3657600"/>
            <a:ext cx="912850" cy="1417320"/>
          </a:xfrm>
          <a:prstGeom prst="rect">
            <a:avLst/>
          </a:prstGeom>
        </p:spPr>
      </p:pic>
      <p:sp>
        <p:nvSpPr>
          <p:cNvPr id="18" name="Shape 14"/>
          <p:cNvSpPr/>
          <p:nvPr/>
        </p:nvSpPr>
        <p:spPr>
          <a:xfrm>
            <a:off x="6537960" y="3657600"/>
            <a:ext cx="2651760" cy="1417320"/>
          </a:xfrm>
          <a:prstGeom prst="roundRect">
            <a:avLst>
              <a:gd name="adj" fmla="val 5161"/>
            </a:avLst>
          </a:prstGeom>
          <a:solidFill>
            <a:srgbClr val="F3E4C6"/>
          </a:solidFill>
          <a:ln w="12700">
            <a:solidFill>
              <a:srgbClr val="C98A2B"/>
            </a:solidFill>
            <a:prstDash val="solid"/>
          </a:ln>
        </p:spPr>
      </p:sp>
      <p:sp>
        <p:nvSpPr>
          <p:cNvPr id="19" name="Text 15"/>
          <p:cNvSpPr/>
          <p:nvPr/>
        </p:nvSpPr>
        <p:spPr>
          <a:xfrm>
            <a:off x="6693408" y="3767328"/>
            <a:ext cx="2377440" cy="1234440"/>
          </a:xfrm>
          <a:prstGeom prst="rect">
            <a:avLst/>
          </a:prstGeom>
          <a:noFill/>
          <a:ln/>
        </p:spPr>
        <p:txBody>
          <a:bodyPr wrap="square" lIns="0" tIns="0" rIns="0" bIns="0" rtlCol="0" anchor="t"/>
          <a:lstStyle/>
          <a:p>
            <a:pPr marL="0" indent="0">
              <a:lnSpc>
                <a:spcPct val="112000"/>
              </a:lnSpc>
              <a:buNone/>
            </a:pPr>
            <a:r>
              <a:rPr lang="en-US" sz="950" b="1" kern="0" spc="100" dirty="0">
                <a:solidFill>
                  <a:srgbClr val="7A2E2E"/>
                </a:solidFill>
                <a:latin typeface="Calibri" pitchFamily="34" charset="0"/>
                <a:ea typeface="Calibri" pitchFamily="34" charset="-122"/>
                <a:cs typeface="Calibri" pitchFamily="34" charset="-120"/>
              </a:rPr>
              <a:t>SHIVAJI MAHARAJ'S ASSOCIATION
</a:t>
            </a:r>
            <a:r>
              <a:rPr lang="en-US" sz="1050" dirty="0">
                <a:solidFill>
                  <a:srgbClr val="2A2622"/>
                </a:solidFill>
                <a:latin typeface="Calibri" pitchFamily="34" charset="0"/>
                <a:ea typeface="Calibri" pitchFamily="34" charset="-122"/>
                <a:cs typeface="Calibri" pitchFamily="34" charset="-120"/>
              </a:rPr>
              <a:t>Secured c.1657 as part of Konkan-Deccan route defence</a:t>
            </a:r>
            <a:endParaRPr lang="en-US" sz="950" dirty="0"/>
          </a:p>
        </p:txBody>
      </p:sp>
      <p:sp>
        <p:nvSpPr>
          <p:cNvPr id="20" name="Shape 16"/>
          <p:cNvSpPr/>
          <p:nvPr/>
        </p:nvSpPr>
        <p:spPr>
          <a:xfrm>
            <a:off x="6537960" y="5257800"/>
            <a:ext cx="5120640" cy="1051560"/>
          </a:xfrm>
          <a:prstGeom prst="roundRect">
            <a:avLst>
              <a:gd name="adj" fmla="val 6957"/>
            </a:avLst>
          </a:prstGeom>
          <a:solidFill>
            <a:srgbClr val="F3E4C6"/>
          </a:solidFill>
          <a:ln w="12700">
            <a:solidFill>
              <a:srgbClr val="C98A2B"/>
            </a:solidFill>
            <a:prstDash val="solid"/>
          </a:ln>
        </p:spPr>
      </p:sp>
      <p:sp>
        <p:nvSpPr>
          <p:cNvPr id="21" name="Text 17"/>
          <p:cNvSpPr/>
          <p:nvPr/>
        </p:nvSpPr>
        <p:spPr>
          <a:xfrm>
            <a:off x="6739128" y="5385816"/>
            <a:ext cx="4718304" cy="795528"/>
          </a:xfrm>
          <a:prstGeom prst="rect">
            <a:avLst/>
          </a:prstGeom>
          <a:noFill/>
          <a:ln/>
        </p:spPr>
        <p:txBody>
          <a:bodyPr wrap="square" lIns="0" tIns="0" rIns="0" bIns="0" rtlCol="0" anchor="t"/>
          <a:lstStyle/>
          <a:p>
            <a:pPr marL="0" indent="0">
              <a:lnSpc>
                <a:spcPct val="115000"/>
              </a:lnSpc>
              <a:buNone/>
            </a:pPr>
            <a:r>
              <a:rPr lang="en-US" sz="1050" b="1" kern="0" spc="100" dirty="0">
                <a:solidFill>
                  <a:srgbClr val="7A2E2E"/>
                </a:solidFill>
                <a:latin typeface="Calibri" pitchFamily="34" charset="0"/>
                <a:ea typeface="Calibri" pitchFamily="34" charset="-122"/>
                <a:cs typeface="Calibri" pitchFamily="34" charset="-120"/>
              </a:rPr>
              <a:t>DID YOU KNOW?
</a:t>
            </a:r>
            <a:r>
              <a:rPr lang="en-US" sz="1150" i="1" dirty="0">
                <a:solidFill>
                  <a:srgbClr val="2A2622"/>
                </a:solidFill>
                <a:latin typeface="Calibri" pitchFamily="34" charset="0"/>
                <a:ea typeface="Calibri" pitchFamily="34" charset="-122"/>
                <a:cs typeface="Calibri" pitchFamily="34" charset="-120"/>
              </a:rPr>
              <a:t>Rajmachi’s twin summits make it one of the most recognisable silhouettes on the Mumbai–Pune Sahyadri skyline.</a:t>
            </a:r>
            <a:endParaRPr lang="en-US" sz="1050" dirty="0"/>
          </a:p>
        </p:txBody>
      </p:sp>
      <p:sp>
        <p:nvSpPr>
          <p:cNvPr id="22" name="Text 18"/>
          <p:cNvSpPr/>
          <p:nvPr/>
        </p:nvSpPr>
        <p:spPr>
          <a:xfrm>
            <a:off x="457200" y="6473952"/>
            <a:ext cx="7315200" cy="274320"/>
          </a:xfrm>
          <a:prstGeom prst="rect">
            <a:avLst/>
          </a:prstGeom>
          <a:noFill/>
          <a:ln/>
        </p:spPr>
        <p:txBody>
          <a:bodyPr wrap="square" lIns="0" tIns="0" rIns="0" bIns="0" rtlCol="0" anchor="ctr"/>
          <a:lstStyle/>
          <a:p>
            <a:pPr marL="0" indent="0">
              <a:buNone/>
            </a:pPr>
            <a:r>
              <a:rPr lang="en-US" sz="900" i="1" dirty="0">
                <a:solidFill>
                  <a:srgbClr val="746E64"/>
                </a:solidFill>
                <a:latin typeface="Calibri" pitchFamily="34" charset="0"/>
                <a:ea typeface="Calibri" pitchFamily="34" charset="-122"/>
                <a:cs typeface="Calibri" pitchFamily="34" charset="-120"/>
              </a:rPr>
              <a:t>Rajmachi Fort</a:t>
            </a:r>
            <a:endParaRPr lang="en-US" sz="900" dirty="0"/>
          </a:p>
        </p:txBody>
      </p:sp>
      <p:sp>
        <p:nvSpPr>
          <p:cNvPr id="23" name="Text 19"/>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746E64"/>
                </a:solidFill>
                <a:latin typeface="Calibri" pitchFamily="34" charset="0"/>
                <a:ea typeface="Calibri" pitchFamily="34" charset="-122"/>
                <a:cs typeface="Calibri" pitchFamily="34" charset="-120"/>
              </a:rPr>
              <a:t>25</a:t>
            </a:r>
            <a:endParaRPr lang="en-US" sz="900" dirty="0"/>
          </a:p>
        </p:txBody>
      </p:sp>
      <p:pic>
        <p:nvPicPr>
          <p:cNvPr id="24" name="Picture 23" descr="Scale The Rajmachi Fort In Maharashtra I LBB, Mumbai">
            <a:extLst>
              <a:ext uri="{FF2B5EF4-FFF2-40B4-BE49-F238E27FC236}">
                <a16:creationId xmlns:a16="http://schemas.microsoft.com/office/drawing/2014/main" id="{726229EF-DA56-9D2E-B6E5-68C5B3D4123E}"/>
              </a:ext>
            </a:extLst>
          </p:cNvPr>
          <p:cNvPicPr>
            <a:picLocks noChangeAspect="1"/>
          </p:cNvPicPr>
          <p:nvPr/>
        </p:nvPicPr>
        <p:blipFill>
          <a:blip r:embed="rId5"/>
          <a:stretch>
            <a:fillRect/>
          </a:stretch>
        </p:blipFill>
        <p:spPr>
          <a:xfrm>
            <a:off x="6267034" y="2459736"/>
            <a:ext cx="5848766" cy="428853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3E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C98A2B"/>
          </a:solidFill>
          <a:ln/>
        </p:spPr>
      </p:sp>
      <p:pic>
        <p:nvPicPr>
          <p:cNvPr id="3" name="Image 0" descr="/home/claude/forts/assets/fort_icon_white.png"/>
          <p:cNvPicPr>
            <a:picLocks noChangeAspect="1"/>
          </p:cNvPicPr>
          <p:nvPr/>
        </p:nvPicPr>
        <p:blipFill>
          <a:blip r:embed="rId3"/>
          <a:stretch>
            <a:fillRect/>
          </a:stretch>
        </p:blipFill>
        <p:spPr>
          <a:xfrm>
            <a:off x="576072" y="502920"/>
            <a:ext cx="329184" cy="329184"/>
          </a:xfrm>
          <a:prstGeom prst="rect">
            <a:avLst/>
          </a:prstGeom>
        </p:spPr>
      </p:pic>
      <p:sp>
        <p:nvSpPr>
          <p:cNvPr id="4" name="Text 1"/>
          <p:cNvSpPr/>
          <p:nvPr/>
        </p:nvSpPr>
        <p:spPr>
          <a:xfrm>
            <a:off x="1170432" y="310896"/>
            <a:ext cx="8778240" cy="457200"/>
          </a:xfrm>
          <a:prstGeom prst="rect">
            <a:avLst/>
          </a:prstGeom>
          <a:noFill/>
          <a:ln/>
        </p:spPr>
        <p:txBody>
          <a:bodyPr wrap="square" lIns="0" tIns="0" rIns="0" bIns="0" rtlCol="0" anchor="b"/>
          <a:lstStyle/>
          <a:p>
            <a:pPr marL="0" indent="0">
              <a:buNone/>
            </a:pPr>
            <a:r>
              <a:rPr lang="en-US" sz="2700" b="1" dirty="0">
                <a:solidFill>
                  <a:srgbClr val="7A2E2E"/>
                </a:solidFill>
                <a:latin typeface="Cambria" pitchFamily="34" charset="0"/>
                <a:ea typeface="Cambria" pitchFamily="34" charset="-122"/>
                <a:cs typeface="Cambria" pitchFamily="34" charset="-120"/>
              </a:rPr>
              <a:t>Salher Fort</a:t>
            </a:r>
            <a:endParaRPr lang="en-US" sz="2700" dirty="0"/>
          </a:p>
        </p:txBody>
      </p:sp>
      <p:sp>
        <p:nvSpPr>
          <p:cNvPr id="5" name="Text 2"/>
          <p:cNvSpPr/>
          <p:nvPr/>
        </p:nvSpPr>
        <p:spPr>
          <a:xfrm>
            <a:off x="1188720" y="786384"/>
            <a:ext cx="8778240" cy="274320"/>
          </a:xfrm>
          <a:prstGeom prst="rect">
            <a:avLst/>
          </a:prstGeom>
          <a:noFill/>
          <a:ln/>
        </p:spPr>
        <p:txBody>
          <a:bodyPr wrap="square" lIns="0" tIns="0" rIns="0" bIns="0" rtlCol="0" anchor="ctr"/>
          <a:lstStyle/>
          <a:p>
            <a:pPr marL="0" indent="0">
              <a:buNone/>
            </a:pPr>
            <a:r>
              <a:rPr lang="en-US" sz="1250" i="1" dirty="0">
                <a:solidFill>
                  <a:srgbClr val="746E64"/>
                </a:solidFill>
                <a:latin typeface="Calibri" pitchFamily="34" charset="0"/>
                <a:ea typeface="Calibri" pitchFamily="34" charset="-122"/>
                <a:cs typeface="Calibri" pitchFamily="34" charset="-120"/>
              </a:rPr>
              <a:t>Twin fort with Salher-Mulher  •  Baglan Region, Nashik District, Maharashtra</a:t>
            </a:r>
            <a:endParaRPr lang="en-US" sz="1250" dirty="0"/>
          </a:p>
        </p:txBody>
      </p:sp>
      <p:sp>
        <p:nvSpPr>
          <p:cNvPr id="6" name="Shape 3"/>
          <p:cNvSpPr/>
          <p:nvPr/>
        </p:nvSpPr>
        <p:spPr>
          <a:xfrm>
            <a:off x="9445752" y="438912"/>
            <a:ext cx="2286000" cy="384048"/>
          </a:xfrm>
          <a:prstGeom prst="roundRect">
            <a:avLst>
              <a:gd name="adj" fmla="val 19048"/>
            </a:avLst>
          </a:prstGeom>
          <a:solidFill>
            <a:srgbClr val="F3E4C6"/>
          </a:solidFill>
          <a:ln w="12700">
            <a:solidFill>
              <a:srgbClr val="C98A2B"/>
            </a:solidFill>
            <a:prstDash val="solid"/>
          </a:ln>
        </p:spPr>
      </p:sp>
      <p:sp>
        <p:nvSpPr>
          <p:cNvPr id="7" name="Text 4"/>
          <p:cNvSpPr/>
          <p:nvPr/>
        </p:nvSpPr>
        <p:spPr>
          <a:xfrm>
            <a:off x="9445752" y="438912"/>
            <a:ext cx="2286000" cy="384048"/>
          </a:xfrm>
          <a:prstGeom prst="rect">
            <a:avLst/>
          </a:prstGeom>
          <a:noFill/>
          <a:ln/>
        </p:spPr>
        <p:txBody>
          <a:bodyPr wrap="square" lIns="0" tIns="0" rIns="0" bIns="0" rtlCol="0" anchor="ctr"/>
          <a:lstStyle/>
          <a:p>
            <a:pPr marL="0" indent="0" algn="ctr">
              <a:buNone/>
            </a:pPr>
            <a:r>
              <a:rPr lang="en-US" sz="1100" b="1" dirty="0">
                <a:solidFill>
                  <a:srgbClr val="7A2E2E"/>
                </a:solidFill>
                <a:latin typeface="Calibri" pitchFamily="34" charset="0"/>
                <a:ea typeface="Calibri" pitchFamily="34" charset="-122"/>
                <a:cs typeface="Calibri" pitchFamily="34" charset="-120"/>
              </a:rPr>
              <a:t>Hill fort</a:t>
            </a:r>
            <a:endParaRPr lang="en-US" sz="1100" dirty="0"/>
          </a:p>
        </p:txBody>
      </p:sp>
      <p:sp>
        <p:nvSpPr>
          <p:cNvPr id="8" name="Text 5"/>
          <p:cNvSpPr/>
          <p:nvPr/>
        </p:nvSpPr>
        <p:spPr>
          <a:xfrm>
            <a:off x="457200" y="1325880"/>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HISTORY</a:t>
            </a:r>
            <a:endParaRPr lang="en-US" sz="1300" dirty="0"/>
          </a:p>
        </p:txBody>
      </p:sp>
      <p:sp>
        <p:nvSpPr>
          <p:cNvPr id="9" name="Text 6"/>
          <p:cNvSpPr/>
          <p:nvPr/>
        </p:nvSpPr>
        <p:spPr>
          <a:xfrm>
            <a:off x="457200" y="1609344"/>
            <a:ext cx="5760720" cy="4572000"/>
          </a:xfrm>
          <a:prstGeom prst="rect">
            <a:avLst/>
          </a:prstGeom>
          <a:noFill/>
          <a:ln/>
        </p:spPr>
        <p:txBody>
          <a:bodyPr wrap="square" lIns="0" tIns="0" rIns="0" bIns="0" rtlCol="0" anchor="t"/>
          <a:lstStyle/>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An ancient hill fort in the Baglan region near the Gujarat border</a:t>
            </a:r>
            <a:endParaRPr lang="en-US" sz="1200" dirty="0"/>
          </a:p>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Under Mughal control from 1636, well before Shivaji’s campaigns reached the area</a:t>
            </a:r>
            <a:endParaRPr lang="en-US" sz="1200" dirty="0"/>
          </a:p>
        </p:txBody>
      </p:sp>
      <p:sp>
        <p:nvSpPr>
          <p:cNvPr id="10" name="Text 7"/>
          <p:cNvSpPr/>
          <p:nvPr/>
        </p:nvSpPr>
        <p:spPr>
          <a:xfrm>
            <a:off x="457200" y="2706624"/>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ROLE IN SWARAJYA</a:t>
            </a:r>
            <a:endParaRPr lang="en-US" sz="1300" dirty="0"/>
          </a:p>
        </p:txBody>
      </p:sp>
      <p:sp>
        <p:nvSpPr>
          <p:cNvPr id="11" name="Text 8"/>
          <p:cNvSpPr/>
          <p:nvPr/>
        </p:nvSpPr>
        <p:spPr>
          <a:xfrm>
            <a:off x="457200" y="2999232"/>
            <a:ext cx="5760720" cy="4572000"/>
          </a:xfrm>
          <a:prstGeom prst="rect">
            <a:avLst/>
          </a:prstGeom>
          <a:noFill/>
          <a:ln/>
        </p:spPr>
        <p:txBody>
          <a:bodyPr wrap="square" lIns="0" tIns="0" rIns="0" bIns="0" rtlCol="0" anchor="t"/>
          <a:lstStyle/>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Site of the decisive Battle of Salher (February 1672) — a rare open-field pitched battle victory for the Marathas over a large Mughal force</a:t>
            </a:r>
            <a:endParaRPr lang="en-US" sz="1200" dirty="0"/>
          </a:p>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Led by generals Moropant Pingle and Prataprao Gujar, the victory secured the northern Baglan–Khandesh frontier</a:t>
            </a:r>
            <a:endParaRPr lang="en-US" sz="1200" dirty="0"/>
          </a:p>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Helped reverse territorial losses from the 1665 Treaty of Purandar</a:t>
            </a:r>
            <a:endParaRPr lang="en-US" sz="1200" dirty="0"/>
          </a:p>
        </p:txBody>
      </p:sp>
      <p:sp>
        <p:nvSpPr>
          <p:cNvPr id="12" name="Text 9"/>
          <p:cNvSpPr/>
          <p:nvPr/>
        </p:nvSpPr>
        <p:spPr>
          <a:xfrm>
            <a:off x="457200" y="4553712"/>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KEY EVENT</a:t>
            </a:r>
            <a:endParaRPr lang="en-US" sz="1300" dirty="0"/>
          </a:p>
        </p:txBody>
      </p:sp>
      <p:sp>
        <p:nvSpPr>
          <p:cNvPr id="13" name="Text 10"/>
          <p:cNvSpPr/>
          <p:nvPr/>
        </p:nvSpPr>
        <p:spPr>
          <a:xfrm>
            <a:off x="457200" y="4846320"/>
            <a:ext cx="5760720" cy="4572000"/>
          </a:xfrm>
          <a:prstGeom prst="rect">
            <a:avLst/>
          </a:prstGeom>
          <a:noFill/>
          <a:ln/>
        </p:spPr>
        <p:txBody>
          <a:bodyPr wrap="square" lIns="0" tIns="0" rIns="0" bIns="0" rtlCol="0" anchor="t"/>
          <a:lstStyle/>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Feb 1672 — Battle of Salher — decisive Maratha victory over a large Mughal army</a:t>
            </a:r>
            <a:endParaRPr lang="en-US" sz="1200" dirty="0"/>
          </a:p>
        </p:txBody>
      </p:sp>
      <p:sp>
        <p:nvSpPr>
          <p:cNvPr id="14" name="Text 11"/>
          <p:cNvSpPr/>
          <p:nvPr/>
        </p:nvSpPr>
        <p:spPr>
          <a:xfrm>
            <a:off x="6537960" y="1325880"/>
            <a:ext cx="512064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ARCHITECTURE</a:t>
            </a:r>
            <a:endParaRPr lang="en-US" sz="1300" dirty="0"/>
          </a:p>
        </p:txBody>
      </p:sp>
      <p:sp>
        <p:nvSpPr>
          <p:cNvPr id="15" name="Text 12"/>
          <p:cNvSpPr/>
          <p:nvPr/>
        </p:nvSpPr>
        <p:spPr>
          <a:xfrm>
            <a:off x="6537960" y="1609344"/>
            <a:ext cx="5120640" cy="4572000"/>
          </a:xfrm>
          <a:prstGeom prst="rect">
            <a:avLst/>
          </a:prstGeom>
          <a:noFill/>
          <a:ln/>
        </p:spPr>
        <p:txBody>
          <a:bodyPr wrap="square" lIns="0" tIns="0" rIns="0" bIns="0" rtlCol="0" anchor="t"/>
          <a:lstStyle/>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A vast summit plateau with extensive, now partly ruined fortification walls</a:t>
            </a:r>
            <a:endParaRPr lang="en-US" sz="1200" dirty="0"/>
          </a:p>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Twin-fort arrangement with neighbouring Mulher</a:t>
            </a:r>
            <a:endParaRPr lang="en-US" sz="1200" dirty="0"/>
          </a:p>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Remains of old temples on the plateau</a:t>
            </a:r>
            <a:endParaRPr lang="en-US" sz="1200" dirty="0"/>
          </a:p>
        </p:txBody>
      </p:sp>
      <p:sp>
        <p:nvSpPr>
          <p:cNvPr id="16" name="Shape 13"/>
          <p:cNvSpPr/>
          <p:nvPr/>
        </p:nvSpPr>
        <p:spPr>
          <a:xfrm>
            <a:off x="9390888" y="3584448"/>
            <a:ext cx="1059154" cy="1563624"/>
          </a:xfrm>
          <a:prstGeom prst="roundRect">
            <a:avLst>
              <a:gd name="adj" fmla="val 4317"/>
            </a:avLst>
          </a:prstGeom>
          <a:solidFill>
            <a:srgbClr val="FFFFFF"/>
          </a:solidFill>
          <a:ln w="12700">
            <a:solidFill>
              <a:srgbClr val="DCD5C7"/>
            </a:solidFill>
            <a:prstDash val="solid"/>
          </a:ln>
        </p:spPr>
      </p:sp>
      <p:pic>
        <p:nvPicPr>
          <p:cNvPr id="17" name="Image 1" descr="/home/claude/forts/assets/map_salher.png"/>
          <p:cNvPicPr>
            <a:picLocks noChangeAspect="1"/>
          </p:cNvPicPr>
          <p:nvPr/>
        </p:nvPicPr>
        <p:blipFill>
          <a:blip r:embed="rId4"/>
          <a:stretch>
            <a:fillRect/>
          </a:stretch>
        </p:blipFill>
        <p:spPr>
          <a:xfrm>
            <a:off x="9464040" y="3657600"/>
            <a:ext cx="912850" cy="1417320"/>
          </a:xfrm>
          <a:prstGeom prst="rect">
            <a:avLst/>
          </a:prstGeom>
        </p:spPr>
      </p:pic>
      <p:sp>
        <p:nvSpPr>
          <p:cNvPr id="18" name="Shape 14"/>
          <p:cNvSpPr/>
          <p:nvPr/>
        </p:nvSpPr>
        <p:spPr>
          <a:xfrm>
            <a:off x="6537960" y="3657600"/>
            <a:ext cx="2651760" cy="1417320"/>
          </a:xfrm>
          <a:prstGeom prst="roundRect">
            <a:avLst>
              <a:gd name="adj" fmla="val 5161"/>
            </a:avLst>
          </a:prstGeom>
          <a:solidFill>
            <a:srgbClr val="F3E4C6"/>
          </a:solidFill>
          <a:ln w="12700">
            <a:solidFill>
              <a:srgbClr val="C98A2B"/>
            </a:solidFill>
            <a:prstDash val="solid"/>
          </a:ln>
        </p:spPr>
      </p:sp>
      <p:sp>
        <p:nvSpPr>
          <p:cNvPr id="19" name="Text 15"/>
          <p:cNvSpPr/>
          <p:nvPr/>
        </p:nvSpPr>
        <p:spPr>
          <a:xfrm>
            <a:off x="6693408" y="3767328"/>
            <a:ext cx="2377440" cy="1234440"/>
          </a:xfrm>
          <a:prstGeom prst="rect">
            <a:avLst/>
          </a:prstGeom>
          <a:noFill/>
          <a:ln/>
        </p:spPr>
        <p:txBody>
          <a:bodyPr wrap="square" lIns="0" tIns="0" rIns="0" bIns="0" rtlCol="0" anchor="t"/>
          <a:lstStyle/>
          <a:p>
            <a:pPr marL="0" indent="0">
              <a:lnSpc>
                <a:spcPct val="112000"/>
              </a:lnSpc>
              <a:buNone/>
            </a:pPr>
            <a:r>
              <a:rPr lang="en-US" sz="950" b="1" kern="0" spc="100" dirty="0">
                <a:solidFill>
                  <a:srgbClr val="7A2E2E"/>
                </a:solidFill>
                <a:latin typeface="Calibri" pitchFamily="34" charset="0"/>
                <a:ea typeface="Calibri" pitchFamily="34" charset="-122"/>
                <a:cs typeface="Calibri" pitchFamily="34" charset="-120"/>
              </a:rPr>
              <a:t>SHIVAJI MAHARAJ'S ASSOCIATION
</a:t>
            </a:r>
            <a:r>
              <a:rPr lang="en-US" sz="1050" dirty="0">
                <a:solidFill>
                  <a:srgbClr val="2A2622"/>
                </a:solidFill>
                <a:latin typeface="Calibri" pitchFamily="34" charset="0"/>
                <a:ea typeface="Calibri" pitchFamily="34" charset="-122"/>
                <a:cs typeface="Calibri" pitchFamily="34" charset="-120"/>
              </a:rPr>
              <a:t>Captured 1671–72; a turning point in Maratha–Mughal conflict</a:t>
            </a:r>
            <a:endParaRPr lang="en-US" sz="950" dirty="0"/>
          </a:p>
        </p:txBody>
      </p:sp>
      <p:sp>
        <p:nvSpPr>
          <p:cNvPr id="20" name="Shape 16"/>
          <p:cNvSpPr/>
          <p:nvPr/>
        </p:nvSpPr>
        <p:spPr>
          <a:xfrm>
            <a:off x="6537960" y="5257800"/>
            <a:ext cx="5120640" cy="1051560"/>
          </a:xfrm>
          <a:prstGeom prst="roundRect">
            <a:avLst>
              <a:gd name="adj" fmla="val 6957"/>
            </a:avLst>
          </a:prstGeom>
          <a:solidFill>
            <a:srgbClr val="F3E4C6"/>
          </a:solidFill>
          <a:ln w="12700">
            <a:solidFill>
              <a:srgbClr val="C98A2B"/>
            </a:solidFill>
            <a:prstDash val="solid"/>
          </a:ln>
        </p:spPr>
      </p:sp>
      <p:sp>
        <p:nvSpPr>
          <p:cNvPr id="21" name="Text 17"/>
          <p:cNvSpPr/>
          <p:nvPr/>
        </p:nvSpPr>
        <p:spPr>
          <a:xfrm>
            <a:off x="6739128" y="5385816"/>
            <a:ext cx="4718304" cy="795528"/>
          </a:xfrm>
          <a:prstGeom prst="rect">
            <a:avLst/>
          </a:prstGeom>
          <a:noFill/>
          <a:ln/>
        </p:spPr>
        <p:txBody>
          <a:bodyPr wrap="square" lIns="0" tIns="0" rIns="0" bIns="0" rtlCol="0" anchor="t"/>
          <a:lstStyle/>
          <a:p>
            <a:pPr marL="0" indent="0">
              <a:lnSpc>
                <a:spcPct val="115000"/>
              </a:lnSpc>
              <a:buNone/>
            </a:pPr>
            <a:r>
              <a:rPr lang="en-US" sz="1050" b="1" kern="0" spc="100" dirty="0">
                <a:solidFill>
                  <a:srgbClr val="7A2E2E"/>
                </a:solidFill>
                <a:latin typeface="Calibri" pitchFamily="34" charset="0"/>
                <a:ea typeface="Calibri" pitchFamily="34" charset="-122"/>
                <a:cs typeface="Calibri" pitchFamily="34" charset="-120"/>
              </a:rPr>
              <a:t>DID YOU KNOW?
</a:t>
            </a:r>
            <a:r>
              <a:rPr lang="en-US" sz="1150" i="1" dirty="0">
                <a:solidFill>
                  <a:srgbClr val="2A2622"/>
                </a:solidFill>
                <a:latin typeface="Calibri" pitchFamily="34" charset="0"/>
                <a:ea typeface="Calibri" pitchFamily="34" charset="-122"/>
                <a:cs typeface="Calibri" pitchFamily="34" charset="-120"/>
              </a:rPr>
              <a:t>Historians regard Salher as the first major battle after centuries in which an Indian army defeated a large Muslim-ruled army in open field combat, rather than through siege or guerrilla tactics.</a:t>
            </a:r>
            <a:endParaRPr lang="en-US" sz="1050" dirty="0"/>
          </a:p>
        </p:txBody>
      </p:sp>
      <p:sp>
        <p:nvSpPr>
          <p:cNvPr id="22" name="Text 18"/>
          <p:cNvSpPr/>
          <p:nvPr/>
        </p:nvSpPr>
        <p:spPr>
          <a:xfrm>
            <a:off x="457200" y="6473952"/>
            <a:ext cx="7315200" cy="274320"/>
          </a:xfrm>
          <a:prstGeom prst="rect">
            <a:avLst/>
          </a:prstGeom>
          <a:noFill/>
          <a:ln/>
        </p:spPr>
        <p:txBody>
          <a:bodyPr wrap="square" lIns="0" tIns="0" rIns="0" bIns="0" rtlCol="0" anchor="ctr"/>
          <a:lstStyle/>
          <a:p>
            <a:pPr marL="0" indent="0">
              <a:buNone/>
            </a:pPr>
            <a:r>
              <a:rPr lang="en-US" sz="900" i="1" dirty="0">
                <a:solidFill>
                  <a:srgbClr val="746E64"/>
                </a:solidFill>
                <a:latin typeface="Calibri" pitchFamily="34" charset="0"/>
                <a:ea typeface="Calibri" pitchFamily="34" charset="-122"/>
                <a:cs typeface="Calibri" pitchFamily="34" charset="-120"/>
              </a:rPr>
              <a:t>Salher Fort</a:t>
            </a:r>
            <a:endParaRPr lang="en-US" sz="900" dirty="0"/>
          </a:p>
        </p:txBody>
      </p:sp>
      <p:sp>
        <p:nvSpPr>
          <p:cNvPr id="23" name="Text 19"/>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746E64"/>
                </a:solidFill>
                <a:latin typeface="Calibri" pitchFamily="34" charset="0"/>
                <a:ea typeface="Calibri" pitchFamily="34" charset="-122"/>
                <a:cs typeface="Calibri" pitchFamily="34" charset="-120"/>
              </a:rPr>
              <a:t>26</a:t>
            </a:r>
            <a:endParaRPr lang="en-US" sz="900" dirty="0"/>
          </a:p>
        </p:txBody>
      </p:sp>
      <p:pic>
        <p:nvPicPr>
          <p:cNvPr id="24" name="Picture 23" descr="Salher Fort - Maharashtra - India. | Travel life journeys">
            <a:extLst>
              <a:ext uri="{FF2B5EF4-FFF2-40B4-BE49-F238E27FC236}">
                <a16:creationId xmlns:a16="http://schemas.microsoft.com/office/drawing/2014/main" id="{BA2875FC-56B3-303F-C701-58877605FAF2}"/>
              </a:ext>
            </a:extLst>
          </p:cNvPr>
          <p:cNvPicPr>
            <a:picLocks noChangeAspect="1"/>
          </p:cNvPicPr>
          <p:nvPr/>
        </p:nvPicPr>
        <p:blipFill>
          <a:blip r:embed="rId5"/>
          <a:stretch>
            <a:fillRect/>
          </a:stretch>
        </p:blipFill>
        <p:spPr>
          <a:xfrm>
            <a:off x="6062159" y="2433536"/>
            <a:ext cx="6017377" cy="429644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3E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C98A2B"/>
          </a:solidFill>
          <a:ln/>
        </p:spPr>
      </p:sp>
      <p:pic>
        <p:nvPicPr>
          <p:cNvPr id="3" name="Image 0" descr="/home/claude/forts/assets/fort_icon_white.png"/>
          <p:cNvPicPr>
            <a:picLocks noChangeAspect="1"/>
          </p:cNvPicPr>
          <p:nvPr/>
        </p:nvPicPr>
        <p:blipFill>
          <a:blip r:embed="rId3"/>
          <a:stretch>
            <a:fillRect/>
          </a:stretch>
        </p:blipFill>
        <p:spPr>
          <a:xfrm>
            <a:off x="576072" y="502920"/>
            <a:ext cx="329184" cy="329184"/>
          </a:xfrm>
          <a:prstGeom prst="rect">
            <a:avLst/>
          </a:prstGeom>
        </p:spPr>
      </p:pic>
      <p:sp>
        <p:nvSpPr>
          <p:cNvPr id="4" name="Text 1"/>
          <p:cNvSpPr/>
          <p:nvPr/>
        </p:nvSpPr>
        <p:spPr>
          <a:xfrm>
            <a:off x="1170432" y="310896"/>
            <a:ext cx="8778240" cy="457200"/>
          </a:xfrm>
          <a:prstGeom prst="rect">
            <a:avLst/>
          </a:prstGeom>
          <a:noFill/>
          <a:ln/>
        </p:spPr>
        <p:txBody>
          <a:bodyPr wrap="square" lIns="0" tIns="0" rIns="0" bIns="0" rtlCol="0" anchor="b"/>
          <a:lstStyle/>
          <a:p>
            <a:pPr marL="0" indent="0">
              <a:buNone/>
            </a:pPr>
            <a:r>
              <a:rPr lang="en-US" sz="2700" b="1" dirty="0">
                <a:solidFill>
                  <a:srgbClr val="7A2E2E"/>
                </a:solidFill>
                <a:latin typeface="Cambria" pitchFamily="34" charset="0"/>
                <a:ea typeface="Cambria" pitchFamily="34" charset="-122"/>
                <a:cs typeface="Cambria" pitchFamily="34" charset="-120"/>
              </a:rPr>
              <a:t>Karnala Fort</a:t>
            </a:r>
            <a:endParaRPr lang="en-US" sz="2700" dirty="0"/>
          </a:p>
        </p:txBody>
      </p:sp>
      <p:sp>
        <p:nvSpPr>
          <p:cNvPr id="5" name="Text 2"/>
          <p:cNvSpPr/>
          <p:nvPr/>
        </p:nvSpPr>
        <p:spPr>
          <a:xfrm>
            <a:off x="1188720" y="786384"/>
            <a:ext cx="8778240" cy="274320"/>
          </a:xfrm>
          <a:prstGeom prst="rect">
            <a:avLst/>
          </a:prstGeom>
          <a:noFill/>
          <a:ln/>
        </p:spPr>
        <p:txBody>
          <a:bodyPr wrap="square" lIns="0" tIns="0" rIns="0" bIns="0" rtlCol="0" anchor="ctr"/>
          <a:lstStyle/>
          <a:p>
            <a:pPr marL="0" indent="0">
              <a:buNone/>
            </a:pPr>
            <a:r>
              <a:rPr lang="en-US" sz="1250" i="1" dirty="0">
                <a:solidFill>
                  <a:srgbClr val="746E64"/>
                </a:solidFill>
                <a:latin typeface="Calibri" pitchFamily="34" charset="0"/>
                <a:ea typeface="Calibri" pitchFamily="34" charset="-122"/>
                <a:cs typeface="Calibri" pitchFamily="34" charset="-120"/>
              </a:rPr>
              <a:t>Near Panvel, Raigad District, Maharashtra</a:t>
            </a:r>
            <a:endParaRPr lang="en-US" sz="1250" dirty="0"/>
          </a:p>
        </p:txBody>
      </p:sp>
      <p:sp>
        <p:nvSpPr>
          <p:cNvPr id="6" name="Shape 3"/>
          <p:cNvSpPr/>
          <p:nvPr/>
        </p:nvSpPr>
        <p:spPr>
          <a:xfrm>
            <a:off x="9445752" y="438912"/>
            <a:ext cx="2286000" cy="384048"/>
          </a:xfrm>
          <a:prstGeom prst="roundRect">
            <a:avLst>
              <a:gd name="adj" fmla="val 19048"/>
            </a:avLst>
          </a:prstGeom>
          <a:solidFill>
            <a:srgbClr val="F3E4C6"/>
          </a:solidFill>
          <a:ln w="12700">
            <a:solidFill>
              <a:srgbClr val="C98A2B"/>
            </a:solidFill>
            <a:prstDash val="solid"/>
          </a:ln>
        </p:spPr>
      </p:sp>
      <p:sp>
        <p:nvSpPr>
          <p:cNvPr id="7" name="Text 4"/>
          <p:cNvSpPr/>
          <p:nvPr/>
        </p:nvSpPr>
        <p:spPr>
          <a:xfrm>
            <a:off x="9445752" y="438912"/>
            <a:ext cx="2286000" cy="384048"/>
          </a:xfrm>
          <a:prstGeom prst="rect">
            <a:avLst/>
          </a:prstGeom>
          <a:noFill/>
          <a:ln/>
        </p:spPr>
        <p:txBody>
          <a:bodyPr wrap="square" lIns="0" tIns="0" rIns="0" bIns="0" rtlCol="0" anchor="ctr"/>
          <a:lstStyle/>
          <a:p>
            <a:pPr marL="0" indent="0" algn="ctr">
              <a:buNone/>
            </a:pPr>
            <a:r>
              <a:rPr lang="en-US" sz="1100" b="1" dirty="0">
                <a:solidFill>
                  <a:srgbClr val="7A2E2E"/>
                </a:solidFill>
                <a:latin typeface="Calibri" pitchFamily="34" charset="0"/>
                <a:ea typeface="Calibri" pitchFamily="34" charset="-122"/>
                <a:cs typeface="Calibri" pitchFamily="34" charset="-120"/>
              </a:rPr>
              <a:t>Hill fort</a:t>
            </a:r>
            <a:endParaRPr lang="en-US" sz="1100" dirty="0"/>
          </a:p>
        </p:txBody>
      </p:sp>
      <p:sp>
        <p:nvSpPr>
          <p:cNvPr id="8" name="Text 5"/>
          <p:cNvSpPr/>
          <p:nvPr/>
        </p:nvSpPr>
        <p:spPr>
          <a:xfrm>
            <a:off x="457200" y="1325880"/>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HISTORY</a:t>
            </a:r>
            <a:endParaRPr lang="en-US" sz="1300" dirty="0"/>
          </a:p>
        </p:txBody>
      </p:sp>
      <p:sp>
        <p:nvSpPr>
          <p:cNvPr id="9" name="Text 6"/>
          <p:cNvSpPr/>
          <p:nvPr/>
        </p:nvSpPr>
        <p:spPr>
          <a:xfrm>
            <a:off x="457200" y="1609344"/>
            <a:ext cx="5760720" cy="4572000"/>
          </a:xfrm>
          <a:prstGeom prst="rect">
            <a:avLst/>
          </a:prstGeom>
          <a:noFill/>
          <a:ln/>
        </p:spPr>
        <p:txBody>
          <a:bodyPr wrap="square" lIns="0" tIns="0" rIns="0" bIns="0" rtlCol="0" anchor="t"/>
          <a:lstStyle/>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An old fort of the Konkan lowlands, held in turn by the Ahmadnagar and Bijapur sultanates</a:t>
            </a:r>
            <a:endParaRPr lang="en-US" sz="1200" dirty="0"/>
          </a:p>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Briefly contested by the Siddis and the Portuguese before Maratha control</a:t>
            </a:r>
            <a:endParaRPr lang="en-US" sz="1200" dirty="0"/>
          </a:p>
        </p:txBody>
      </p:sp>
      <p:sp>
        <p:nvSpPr>
          <p:cNvPr id="10" name="Text 7"/>
          <p:cNvSpPr/>
          <p:nvPr/>
        </p:nvSpPr>
        <p:spPr>
          <a:xfrm>
            <a:off x="457200" y="2706624"/>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ROLE IN SWARAJYA</a:t>
            </a:r>
            <a:endParaRPr lang="en-US" sz="1300" dirty="0"/>
          </a:p>
        </p:txBody>
      </p:sp>
      <p:sp>
        <p:nvSpPr>
          <p:cNvPr id="11" name="Text 8"/>
          <p:cNvSpPr/>
          <p:nvPr/>
        </p:nvSpPr>
        <p:spPr>
          <a:xfrm>
            <a:off x="457200" y="2999232"/>
            <a:ext cx="5760720" cy="4572000"/>
          </a:xfrm>
          <a:prstGeom prst="rect">
            <a:avLst/>
          </a:prstGeom>
          <a:noFill/>
          <a:ln/>
        </p:spPr>
        <p:txBody>
          <a:bodyPr wrap="square" lIns="0" tIns="0" rIns="0" bIns="0" rtlCol="0" anchor="t"/>
          <a:lstStyle/>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Captured by Shivaji Maharaj during his Konkan campaigns to secure the coastal lowlands near Kalyan and present-day Mumbai</a:t>
            </a:r>
            <a:endParaRPr lang="en-US" sz="1200" dirty="0"/>
          </a:p>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Ceded to the Mughals under the 1665 Treaty of Purandar, and later recaptured by the Marathas</a:t>
            </a:r>
            <a:endParaRPr lang="en-US" sz="1200" dirty="0"/>
          </a:p>
        </p:txBody>
      </p:sp>
      <p:sp>
        <p:nvSpPr>
          <p:cNvPr id="12" name="Text 9"/>
          <p:cNvSpPr/>
          <p:nvPr/>
        </p:nvSpPr>
        <p:spPr>
          <a:xfrm>
            <a:off x="457200" y="4096512"/>
            <a:ext cx="548640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KEY EVENT</a:t>
            </a:r>
            <a:endParaRPr lang="en-US" sz="1300" dirty="0"/>
          </a:p>
        </p:txBody>
      </p:sp>
      <p:sp>
        <p:nvSpPr>
          <p:cNvPr id="13" name="Text 10"/>
          <p:cNvSpPr/>
          <p:nvPr/>
        </p:nvSpPr>
        <p:spPr>
          <a:xfrm>
            <a:off x="457200" y="4389120"/>
            <a:ext cx="5760720" cy="4572000"/>
          </a:xfrm>
          <a:prstGeom prst="rect">
            <a:avLst/>
          </a:prstGeom>
          <a:noFill/>
          <a:ln/>
        </p:spPr>
        <p:txBody>
          <a:bodyPr wrap="square" lIns="0" tIns="0" rIns="0" bIns="0" rtlCol="0" anchor="t"/>
          <a:lstStyle/>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Later 1600s — Recaptured by the Marathas</a:t>
            </a:r>
            <a:endParaRPr lang="en-US" sz="1200" dirty="0"/>
          </a:p>
        </p:txBody>
      </p:sp>
      <p:sp>
        <p:nvSpPr>
          <p:cNvPr id="14" name="Text 11"/>
          <p:cNvSpPr/>
          <p:nvPr/>
        </p:nvSpPr>
        <p:spPr>
          <a:xfrm>
            <a:off x="6537960" y="1325880"/>
            <a:ext cx="5120640" cy="274320"/>
          </a:xfrm>
          <a:prstGeom prst="rect">
            <a:avLst/>
          </a:prstGeom>
          <a:noFill/>
          <a:ln/>
        </p:spPr>
        <p:txBody>
          <a:bodyPr wrap="square" lIns="0" tIns="0" rIns="0" bIns="0" rtlCol="0" anchor="ctr"/>
          <a:lstStyle/>
          <a:p>
            <a:pPr marL="0" indent="0">
              <a:buNone/>
            </a:pPr>
            <a:r>
              <a:rPr lang="en-US" sz="1300" dirty="0">
                <a:solidFill>
                  <a:srgbClr val="C98A2B"/>
                </a:solidFill>
                <a:latin typeface="Calibri" pitchFamily="34" charset="0"/>
                <a:ea typeface="Calibri" pitchFamily="34" charset="-122"/>
                <a:cs typeface="Calibri" pitchFamily="34" charset="-120"/>
              </a:rPr>
              <a:t>■  </a:t>
            </a:r>
            <a:r>
              <a:rPr lang="en-US" sz="1300" b="1" kern="0" spc="100" dirty="0">
                <a:solidFill>
                  <a:srgbClr val="7A2E2E"/>
                </a:solidFill>
                <a:latin typeface="Calibri" pitchFamily="34" charset="0"/>
                <a:ea typeface="Calibri" pitchFamily="34" charset="-122"/>
                <a:cs typeface="Calibri" pitchFamily="34" charset="-120"/>
              </a:rPr>
              <a:t>ARCHITECTURE</a:t>
            </a:r>
            <a:endParaRPr lang="en-US" sz="1300" dirty="0"/>
          </a:p>
        </p:txBody>
      </p:sp>
      <p:sp>
        <p:nvSpPr>
          <p:cNvPr id="15" name="Text 12"/>
          <p:cNvSpPr/>
          <p:nvPr/>
        </p:nvSpPr>
        <p:spPr>
          <a:xfrm>
            <a:off x="6537960" y="1609344"/>
            <a:ext cx="5120640" cy="4572000"/>
          </a:xfrm>
          <a:prstGeom prst="rect">
            <a:avLst/>
          </a:prstGeom>
          <a:noFill/>
          <a:ln/>
        </p:spPr>
        <p:txBody>
          <a:bodyPr wrap="square" lIns="0" tIns="0" rIns="0" bIns="0" rtlCol="0" anchor="t"/>
          <a:lstStyle/>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A distinctive needle-like rock pinnacle (minar) rising from the fort plateau</a:t>
            </a:r>
            <a:endParaRPr lang="en-US" sz="1200" dirty="0"/>
          </a:p>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Rock-cut water cisterns and ruined bastions</a:t>
            </a:r>
            <a:endParaRPr lang="en-US" sz="1200" dirty="0"/>
          </a:p>
          <a:p>
            <a:pPr marL="177800" indent="-177800">
              <a:lnSpc>
                <a:spcPct val="112000"/>
              </a:lnSpc>
              <a:spcAft>
                <a:spcPts val="360"/>
              </a:spcAft>
              <a:buSzPct val="100000"/>
              <a:buChar char="■"/>
            </a:pPr>
            <a:r>
              <a:rPr lang="en-US" sz="1200" dirty="0">
                <a:solidFill>
                  <a:srgbClr val="2A2622"/>
                </a:solidFill>
                <a:latin typeface="Calibri" pitchFamily="34" charset="0"/>
                <a:ea typeface="Calibri" pitchFamily="34" charset="-122"/>
                <a:cs typeface="Calibri" pitchFamily="34" charset="-120"/>
              </a:rPr>
              <a:t>Today surrounded by the Karnala Bird Sanctuary</a:t>
            </a:r>
            <a:endParaRPr lang="en-US" sz="1200" dirty="0"/>
          </a:p>
        </p:txBody>
      </p:sp>
      <p:sp>
        <p:nvSpPr>
          <p:cNvPr id="16" name="Shape 13"/>
          <p:cNvSpPr/>
          <p:nvPr/>
        </p:nvSpPr>
        <p:spPr>
          <a:xfrm>
            <a:off x="9390888" y="3584448"/>
            <a:ext cx="1059154" cy="1563624"/>
          </a:xfrm>
          <a:prstGeom prst="roundRect">
            <a:avLst>
              <a:gd name="adj" fmla="val 4317"/>
            </a:avLst>
          </a:prstGeom>
          <a:solidFill>
            <a:srgbClr val="FFFFFF"/>
          </a:solidFill>
          <a:ln w="12700">
            <a:solidFill>
              <a:srgbClr val="DCD5C7"/>
            </a:solidFill>
            <a:prstDash val="solid"/>
          </a:ln>
        </p:spPr>
      </p:sp>
      <p:pic>
        <p:nvPicPr>
          <p:cNvPr id="17" name="Image 1" descr="/home/claude/forts/assets/map_karnala.png"/>
          <p:cNvPicPr>
            <a:picLocks noChangeAspect="1"/>
          </p:cNvPicPr>
          <p:nvPr/>
        </p:nvPicPr>
        <p:blipFill>
          <a:blip r:embed="rId4"/>
          <a:stretch>
            <a:fillRect/>
          </a:stretch>
        </p:blipFill>
        <p:spPr>
          <a:xfrm>
            <a:off x="9464040" y="3657600"/>
            <a:ext cx="912850" cy="1417320"/>
          </a:xfrm>
          <a:prstGeom prst="rect">
            <a:avLst/>
          </a:prstGeom>
        </p:spPr>
      </p:pic>
      <p:sp>
        <p:nvSpPr>
          <p:cNvPr id="18" name="Shape 14"/>
          <p:cNvSpPr/>
          <p:nvPr/>
        </p:nvSpPr>
        <p:spPr>
          <a:xfrm>
            <a:off x="6537960" y="3657600"/>
            <a:ext cx="2651760" cy="1417320"/>
          </a:xfrm>
          <a:prstGeom prst="roundRect">
            <a:avLst>
              <a:gd name="adj" fmla="val 5161"/>
            </a:avLst>
          </a:prstGeom>
          <a:solidFill>
            <a:srgbClr val="F3E4C6"/>
          </a:solidFill>
          <a:ln w="12700">
            <a:solidFill>
              <a:srgbClr val="C98A2B"/>
            </a:solidFill>
            <a:prstDash val="solid"/>
          </a:ln>
        </p:spPr>
      </p:sp>
      <p:sp>
        <p:nvSpPr>
          <p:cNvPr id="19" name="Text 15"/>
          <p:cNvSpPr/>
          <p:nvPr/>
        </p:nvSpPr>
        <p:spPr>
          <a:xfrm>
            <a:off x="6693408" y="3767328"/>
            <a:ext cx="2377440" cy="1234440"/>
          </a:xfrm>
          <a:prstGeom prst="rect">
            <a:avLst/>
          </a:prstGeom>
          <a:noFill/>
          <a:ln/>
        </p:spPr>
        <p:txBody>
          <a:bodyPr wrap="square" lIns="0" tIns="0" rIns="0" bIns="0" rtlCol="0" anchor="t"/>
          <a:lstStyle/>
          <a:p>
            <a:pPr marL="0" indent="0">
              <a:lnSpc>
                <a:spcPct val="112000"/>
              </a:lnSpc>
              <a:buNone/>
            </a:pPr>
            <a:r>
              <a:rPr lang="en-US" sz="950" b="1" kern="0" spc="100" dirty="0">
                <a:solidFill>
                  <a:srgbClr val="7A2E2E"/>
                </a:solidFill>
                <a:latin typeface="Calibri" pitchFamily="34" charset="0"/>
                <a:ea typeface="Calibri" pitchFamily="34" charset="-122"/>
                <a:cs typeface="Calibri" pitchFamily="34" charset="-120"/>
              </a:rPr>
              <a:t>SHIVAJI MAHARAJ'S ASSOCIATION
</a:t>
            </a:r>
            <a:r>
              <a:rPr lang="en-US" sz="1050" dirty="0">
                <a:solidFill>
                  <a:srgbClr val="2A2622"/>
                </a:solidFill>
                <a:latin typeface="Calibri" pitchFamily="34" charset="0"/>
                <a:ea typeface="Calibri" pitchFamily="34" charset="-122"/>
                <a:cs typeface="Calibri" pitchFamily="34" charset="-120"/>
              </a:rPr>
              <a:t>c.1657–70, guarding the Konkan approach to Mumbai</a:t>
            </a:r>
            <a:endParaRPr lang="en-US" sz="950" dirty="0"/>
          </a:p>
        </p:txBody>
      </p:sp>
      <p:sp>
        <p:nvSpPr>
          <p:cNvPr id="20" name="Shape 16"/>
          <p:cNvSpPr/>
          <p:nvPr/>
        </p:nvSpPr>
        <p:spPr>
          <a:xfrm>
            <a:off x="6537960" y="5257800"/>
            <a:ext cx="5120640" cy="1051560"/>
          </a:xfrm>
          <a:prstGeom prst="roundRect">
            <a:avLst>
              <a:gd name="adj" fmla="val 6957"/>
            </a:avLst>
          </a:prstGeom>
          <a:solidFill>
            <a:srgbClr val="F3E4C6"/>
          </a:solidFill>
          <a:ln w="12700">
            <a:solidFill>
              <a:srgbClr val="C98A2B"/>
            </a:solidFill>
            <a:prstDash val="solid"/>
          </a:ln>
        </p:spPr>
      </p:sp>
      <p:sp>
        <p:nvSpPr>
          <p:cNvPr id="21" name="Text 17"/>
          <p:cNvSpPr/>
          <p:nvPr/>
        </p:nvSpPr>
        <p:spPr>
          <a:xfrm>
            <a:off x="6739128" y="5385816"/>
            <a:ext cx="4718304" cy="795528"/>
          </a:xfrm>
          <a:prstGeom prst="rect">
            <a:avLst/>
          </a:prstGeom>
          <a:noFill/>
          <a:ln/>
        </p:spPr>
        <p:txBody>
          <a:bodyPr wrap="square" lIns="0" tIns="0" rIns="0" bIns="0" rtlCol="0" anchor="t"/>
          <a:lstStyle/>
          <a:p>
            <a:pPr marL="0" indent="0">
              <a:lnSpc>
                <a:spcPct val="115000"/>
              </a:lnSpc>
              <a:buNone/>
            </a:pPr>
            <a:r>
              <a:rPr lang="en-US" sz="1050" b="1" kern="0" spc="100" dirty="0">
                <a:solidFill>
                  <a:srgbClr val="7A2E2E"/>
                </a:solidFill>
                <a:latin typeface="Calibri" pitchFamily="34" charset="0"/>
                <a:ea typeface="Calibri" pitchFamily="34" charset="-122"/>
                <a:cs typeface="Calibri" pitchFamily="34" charset="-120"/>
              </a:rPr>
              <a:t>DID YOU KNOW?
</a:t>
            </a:r>
            <a:r>
              <a:rPr lang="en-US" sz="1150" i="1" dirty="0">
                <a:solidFill>
                  <a:srgbClr val="2A2622"/>
                </a:solidFill>
                <a:latin typeface="Calibri" pitchFamily="34" charset="0"/>
                <a:ea typeface="Calibri" pitchFamily="34" charset="-122"/>
                <a:cs typeface="Calibri" pitchFamily="34" charset="-120"/>
              </a:rPr>
              <a:t>Karnala’s sheer rock pinnacle is a well-known rock-climbing landmark today, visible from the Mumbai–Goa highway below.</a:t>
            </a:r>
            <a:endParaRPr lang="en-US" sz="1050" dirty="0"/>
          </a:p>
        </p:txBody>
      </p:sp>
      <p:sp>
        <p:nvSpPr>
          <p:cNvPr id="22" name="Text 18"/>
          <p:cNvSpPr/>
          <p:nvPr/>
        </p:nvSpPr>
        <p:spPr>
          <a:xfrm>
            <a:off x="457200" y="6473952"/>
            <a:ext cx="7315200" cy="274320"/>
          </a:xfrm>
          <a:prstGeom prst="rect">
            <a:avLst/>
          </a:prstGeom>
          <a:noFill/>
          <a:ln/>
        </p:spPr>
        <p:txBody>
          <a:bodyPr wrap="square" lIns="0" tIns="0" rIns="0" bIns="0" rtlCol="0" anchor="ctr"/>
          <a:lstStyle/>
          <a:p>
            <a:pPr marL="0" indent="0">
              <a:buNone/>
            </a:pPr>
            <a:r>
              <a:rPr lang="en-US" sz="900" i="1" dirty="0">
                <a:solidFill>
                  <a:srgbClr val="746E64"/>
                </a:solidFill>
                <a:latin typeface="Calibri" pitchFamily="34" charset="0"/>
                <a:ea typeface="Calibri" pitchFamily="34" charset="-122"/>
                <a:cs typeface="Calibri" pitchFamily="34" charset="-120"/>
              </a:rPr>
              <a:t>Karnala Fort</a:t>
            </a:r>
            <a:endParaRPr lang="en-US" sz="900" dirty="0"/>
          </a:p>
        </p:txBody>
      </p:sp>
      <p:sp>
        <p:nvSpPr>
          <p:cNvPr id="23" name="Text 19"/>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746E64"/>
                </a:solidFill>
                <a:latin typeface="Calibri" pitchFamily="34" charset="0"/>
                <a:ea typeface="Calibri" pitchFamily="34" charset="-122"/>
                <a:cs typeface="Calibri" pitchFamily="34" charset="-120"/>
              </a:rPr>
              <a:t>27</a:t>
            </a:r>
            <a:endParaRPr lang="en-US" sz="900" dirty="0"/>
          </a:p>
        </p:txBody>
      </p:sp>
      <p:pic>
        <p:nvPicPr>
          <p:cNvPr id="25" name="Picture 24">
            <a:extLst>
              <a:ext uri="{FF2B5EF4-FFF2-40B4-BE49-F238E27FC236}">
                <a16:creationId xmlns:a16="http://schemas.microsoft.com/office/drawing/2014/main" id="{BF1B599E-400A-417C-38FD-17F4A9E25CAF}"/>
              </a:ext>
            </a:extLst>
          </p:cNvPr>
          <p:cNvPicPr>
            <a:picLocks noChangeAspect="1"/>
          </p:cNvPicPr>
          <p:nvPr/>
        </p:nvPicPr>
        <p:blipFill>
          <a:blip r:embed="rId5"/>
          <a:stretch>
            <a:fillRect/>
          </a:stretch>
        </p:blipFill>
        <p:spPr>
          <a:xfrm>
            <a:off x="6309275" y="2450592"/>
            <a:ext cx="5760889" cy="429768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3E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C98A2B"/>
          </a:solidFill>
          <a:ln/>
        </p:spPr>
      </p:sp>
      <p:pic>
        <p:nvPicPr>
          <p:cNvPr id="3" name="Image 0" descr="/home/claude/forts/assets/fort_icon_white.png"/>
          <p:cNvPicPr>
            <a:picLocks noChangeAspect="1"/>
          </p:cNvPicPr>
          <p:nvPr/>
        </p:nvPicPr>
        <p:blipFill>
          <a:blip r:embed="rId3"/>
          <a:stretch>
            <a:fillRect/>
          </a:stretch>
        </p:blipFill>
        <p:spPr>
          <a:xfrm>
            <a:off x="576072" y="502920"/>
            <a:ext cx="329184" cy="329184"/>
          </a:xfrm>
          <a:prstGeom prst="rect">
            <a:avLst/>
          </a:prstGeom>
        </p:spPr>
      </p:pic>
      <p:sp>
        <p:nvSpPr>
          <p:cNvPr id="4" name="Text 1"/>
          <p:cNvSpPr/>
          <p:nvPr/>
        </p:nvSpPr>
        <p:spPr>
          <a:xfrm>
            <a:off x="1170432" y="310896"/>
            <a:ext cx="8778240" cy="457200"/>
          </a:xfrm>
          <a:prstGeom prst="rect">
            <a:avLst/>
          </a:prstGeom>
          <a:noFill/>
          <a:ln/>
        </p:spPr>
        <p:txBody>
          <a:bodyPr wrap="square" lIns="0" tIns="0" rIns="0" bIns="0" rtlCol="0" anchor="b"/>
          <a:lstStyle/>
          <a:p>
            <a:pPr marL="0" indent="0">
              <a:buNone/>
            </a:pPr>
            <a:r>
              <a:rPr lang="en-US" sz="2700" b="1" dirty="0">
                <a:solidFill>
                  <a:srgbClr val="7A2E2E"/>
                </a:solidFill>
                <a:latin typeface="Cambria" pitchFamily="34" charset="0"/>
                <a:ea typeface="Cambria" pitchFamily="34" charset="-122"/>
                <a:cs typeface="Cambria" pitchFamily="34" charset="-120"/>
              </a:rPr>
              <a:t>Comparative Summary</a:t>
            </a:r>
            <a:endParaRPr lang="en-US" sz="2700" dirty="0"/>
          </a:p>
        </p:txBody>
      </p:sp>
      <p:sp>
        <p:nvSpPr>
          <p:cNvPr id="5" name="Text 2"/>
          <p:cNvSpPr/>
          <p:nvPr/>
        </p:nvSpPr>
        <p:spPr>
          <a:xfrm>
            <a:off x="1188720" y="786384"/>
            <a:ext cx="8778240" cy="274320"/>
          </a:xfrm>
          <a:prstGeom prst="rect">
            <a:avLst/>
          </a:prstGeom>
          <a:noFill/>
          <a:ln/>
        </p:spPr>
        <p:txBody>
          <a:bodyPr wrap="square" lIns="0" tIns="0" rIns="0" bIns="0" rtlCol="0" anchor="ctr"/>
          <a:lstStyle/>
          <a:p>
            <a:pPr marL="0" indent="0">
              <a:buNone/>
            </a:pPr>
            <a:r>
              <a:rPr lang="en-US" sz="1250" i="1" dirty="0">
                <a:solidFill>
                  <a:srgbClr val="746E64"/>
                </a:solidFill>
                <a:latin typeface="Calibri" pitchFamily="34" charset="0"/>
                <a:ea typeface="Calibri" pitchFamily="34" charset="-122"/>
                <a:cs typeface="Calibri" pitchFamily="34" charset="-120"/>
              </a:rPr>
              <a:t>The fifteen forts at a glance</a:t>
            </a:r>
            <a:endParaRPr lang="en-US" sz="12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5074928"/>
        </p:xfrm>
        <a:graphic>
          <a:graphicData uri="http://schemas.openxmlformats.org/drawingml/2006/table">
            <a:tbl>
              <a:tblPr/>
              <a:tblGrid>
                <a:gridCol w="141732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3776472">
                  <a:extLst>
                    <a:ext uri="{9D8B030D-6E8A-4147-A177-3AD203B41FA5}">
                      <a16:colId xmlns:a16="http://schemas.microsoft.com/office/drawing/2014/main" val="20003"/>
                    </a:ext>
                  </a:extLst>
                </a:gridCol>
                <a:gridCol w="3383280">
                  <a:extLst>
                    <a:ext uri="{9D8B030D-6E8A-4147-A177-3AD203B41FA5}">
                      <a16:colId xmlns:a16="http://schemas.microsoft.com/office/drawing/2014/main" val="20004"/>
                    </a:ext>
                  </a:extLst>
                </a:gridCol>
              </a:tblGrid>
              <a:tr h="317183">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Fort</a:t>
                      </a:r>
                      <a:endParaRPr lang="en-US" sz="11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7A2E2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Location</a:t>
                      </a:r>
                      <a:endParaRPr lang="en-US" sz="11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7A2E2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Type</a:t>
                      </a:r>
                      <a:endParaRPr lang="en-US" sz="11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7A2E2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Major Importance</a:t>
                      </a:r>
                      <a:endParaRPr lang="en-US" sz="11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7A2E2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Major Historical Event</a:t>
                      </a:r>
                      <a:endParaRPr lang="en-US" sz="11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7A2E2E"/>
                    </a:solidFill>
                  </a:tcPr>
                </a:tc>
                <a:extLst>
                  <a:ext uri="{0D108BD9-81ED-4DB2-BD59-A6C34878D82A}">
                    <a16:rowId xmlns:a16="http://schemas.microsoft.com/office/drawing/2014/main" val="10000"/>
                  </a:ext>
                </a:extLst>
              </a:tr>
              <a:tr h="317183">
                <a:tc>
                  <a:txBody>
                    <a:bodyPr/>
                    <a:lstStyle/>
                    <a:p>
                      <a:pPr marL="0" indent="0" algn="l">
                        <a:buNone/>
                      </a:pPr>
                      <a:r>
                        <a:rPr lang="en-US" sz="1000" b="1" dirty="0">
                          <a:solidFill>
                            <a:srgbClr val="2A2622"/>
                          </a:solidFill>
                          <a:latin typeface="Calibri" pitchFamily="34" charset="0"/>
                          <a:ea typeface="Calibri" pitchFamily="34" charset="-122"/>
                          <a:cs typeface="Calibri" pitchFamily="34" charset="-120"/>
                        </a:rPr>
                        <a:t>Shivneri</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Junnar, Pune</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Hill fort</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Birthplace of Shivaji Maharaj</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Birth of Shivaji, 1630</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7183">
                <a:tc>
                  <a:txBody>
                    <a:bodyPr/>
                    <a:lstStyle/>
                    <a:p>
                      <a:pPr marL="0" indent="0" algn="l">
                        <a:buNone/>
                      </a:pPr>
                      <a:r>
                        <a:rPr lang="en-US" sz="1000" b="1" dirty="0">
                          <a:solidFill>
                            <a:srgbClr val="2A2622"/>
                          </a:solidFill>
                          <a:latin typeface="Calibri" pitchFamily="34" charset="0"/>
                          <a:ea typeface="Calibri" pitchFamily="34" charset="-122"/>
                          <a:cs typeface="Calibri" pitchFamily="34" charset="-120"/>
                        </a:rPr>
                        <a:t>Torna</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0EAE0"/>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Velhe, Pune</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0EAE0"/>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Hill fort</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0EAE0"/>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First fort captured; start of Swarajya</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0EAE0"/>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Capture, 1646</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0EAE0"/>
                    </a:solidFill>
                  </a:tcPr>
                </a:tc>
                <a:extLst>
                  <a:ext uri="{0D108BD9-81ED-4DB2-BD59-A6C34878D82A}">
                    <a16:rowId xmlns:a16="http://schemas.microsoft.com/office/drawing/2014/main" val="10002"/>
                  </a:ext>
                </a:extLst>
              </a:tr>
              <a:tr h="317183">
                <a:tc>
                  <a:txBody>
                    <a:bodyPr/>
                    <a:lstStyle/>
                    <a:p>
                      <a:pPr marL="0" indent="0" algn="l">
                        <a:buNone/>
                      </a:pPr>
                      <a:r>
                        <a:rPr lang="en-US" sz="1000" b="1" dirty="0">
                          <a:solidFill>
                            <a:srgbClr val="2A2622"/>
                          </a:solidFill>
                          <a:latin typeface="Calibri" pitchFamily="34" charset="0"/>
                          <a:ea typeface="Calibri" pitchFamily="34" charset="-122"/>
                          <a:cs typeface="Calibri" pitchFamily="34" charset="-120"/>
                        </a:rPr>
                        <a:t>Rajgad</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Pune</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Hill fort</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Capital of Swarajya, c.1645–74</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Jijabai's death, 1674</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7183">
                <a:tc>
                  <a:txBody>
                    <a:bodyPr/>
                    <a:lstStyle/>
                    <a:p>
                      <a:pPr marL="0" indent="0" algn="l">
                        <a:buNone/>
                      </a:pPr>
                      <a:r>
                        <a:rPr lang="en-US" sz="1000" b="1" dirty="0">
                          <a:solidFill>
                            <a:srgbClr val="2A2622"/>
                          </a:solidFill>
                          <a:latin typeface="Calibri" pitchFamily="34" charset="0"/>
                          <a:ea typeface="Calibri" pitchFamily="34" charset="-122"/>
                          <a:cs typeface="Calibri" pitchFamily="34" charset="-120"/>
                        </a:rPr>
                        <a:t>Raigad</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0EAE0"/>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Mahad, Raigad</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0EAE0"/>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Hill fort</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0EAE0"/>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Capital &amp; coronation site</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0EAE0"/>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Coronation, 1674</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0EAE0"/>
                    </a:solidFill>
                  </a:tcPr>
                </a:tc>
                <a:extLst>
                  <a:ext uri="{0D108BD9-81ED-4DB2-BD59-A6C34878D82A}">
                    <a16:rowId xmlns:a16="http://schemas.microsoft.com/office/drawing/2014/main" val="10004"/>
                  </a:ext>
                </a:extLst>
              </a:tr>
              <a:tr h="317183">
                <a:tc>
                  <a:txBody>
                    <a:bodyPr/>
                    <a:lstStyle/>
                    <a:p>
                      <a:pPr marL="0" indent="0" algn="l">
                        <a:buNone/>
                      </a:pPr>
                      <a:r>
                        <a:rPr lang="en-US" sz="1000" b="1" dirty="0">
                          <a:solidFill>
                            <a:srgbClr val="2A2622"/>
                          </a:solidFill>
                          <a:latin typeface="Calibri" pitchFamily="34" charset="0"/>
                          <a:ea typeface="Calibri" pitchFamily="34" charset="-122"/>
                          <a:cs typeface="Calibri" pitchFamily="34" charset="-120"/>
                        </a:rPr>
                        <a:t>Pratapgad</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Satara</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Hill fort</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Purpose-built strategic fort</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Death of Afzal Khan, 1659</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7183">
                <a:tc>
                  <a:txBody>
                    <a:bodyPr/>
                    <a:lstStyle/>
                    <a:p>
                      <a:pPr marL="0" indent="0" algn="l">
                        <a:buNone/>
                      </a:pPr>
                      <a:r>
                        <a:rPr lang="en-US" sz="1000" b="1" dirty="0">
                          <a:solidFill>
                            <a:srgbClr val="2A2622"/>
                          </a:solidFill>
                          <a:latin typeface="Calibri" pitchFamily="34" charset="0"/>
                          <a:ea typeface="Calibri" pitchFamily="34" charset="-122"/>
                          <a:cs typeface="Calibri" pitchFamily="34" charset="-120"/>
                        </a:rPr>
                        <a:t>Sinhagad</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0EAE0"/>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Pune</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0EAE0"/>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Hill fort</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0EAE0"/>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Recaptured, guarding Pune</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0EAE0"/>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Battle of Sinhagad, 1670</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0EAE0"/>
                    </a:solidFill>
                  </a:tcPr>
                </a:tc>
                <a:extLst>
                  <a:ext uri="{0D108BD9-81ED-4DB2-BD59-A6C34878D82A}">
                    <a16:rowId xmlns:a16="http://schemas.microsoft.com/office/drawing/2014/main" val="10006"/>
                  </a:ext>
                </a:extLst>
              </a:tr>
              <a:tr h="317183">
                <a:tc>
                  <a:txBody>
                    <a:bodyPr/>
                    <a:lstStyle/>
                    <a:p>
                      <a:pPr marL="0" indent="0" algn="l">
                        <a:buNone/>
                      </a:pPr>
                      <a:r>
                        <a:rPr lang="en-US" sz="1000" b="1" dirty="0">
                          <a:solidFill>
                            <a:srgbClr val="2A2622"/>
                          </a:solidFill>
                          <a:latin typeface="Calibri" pitchFamily="34" charset="0"/>
                          <a:ea typeface="Calibri" pitchFamily="34" charset="-122"/>
                          <a:cs typeface="Calibri" pitchFamily="34" charset="-120"/>
                        </a:rPr>
                        <a:t>Purandar</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Saswad, Pune</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Hill fort</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Early military base &amp; treasury</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Treaty of Purandar, 1665</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7183">
                <a:tc>
                  <a:txBody>
                    <a:bodyPr/>
                    <a:lstStyle/>
                    <a:p>
                      <a:pPr marL="0" indent="0" algn="l">
                        <a:buNone/>
                      </a:pPr>
                      <a:r>
                        <a:rPr lang="en-US" sz="1000" b="1" dirty="0">
                          <a:solidFill>
                            <a:srgbClr val="2A2622"/>
                          </a:solidFill>
                          <a:latin typeface="Calibri" pitchFamily="34" charset="0"/>
                          <a:ea typeface="Calibri" pitchFamily="34" charset="-122"/>
                          <a:cs typeface="Calibri" pitchFamily="34" charset="-120"/>
                        </a:rPr>
                        <a:t>Panhala</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0EAE0"/>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Kolhapur</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0EAE0"/>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Hill fort</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0EAE0"/>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Largest Deccan fort; siege &amp; escape</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0EAE0"/>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Siege of Panhala, 1660</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0EAE0"/>
                    </a:solidFill>
                  </a:tcPr>
                </a:tc>
                <a:extLst>
                  <a:ext uri="{0D108BD9-81ED-4DB2-BD59-A6C34878D82A}">
                    <a16:rowId xmlns:a16="http://schemas.microsoft.com/office/drawing/2014/main" val="10008"/>
                  </a:ext>
                </a:extLst>
              </a:tr>
              <a:tr h="317183">
                <a:tc>
                  <a:txBody>
                    <a:bodyPr/>
                    <a:lstStyle/>
                    <a:p>
                      <a:pPr marL="0" indent="0" algn="l">
                        <a:buNone/>
                      </a:pPr>
                      <a:r>
                        <a:rPr lang="en-US" sz="1000" b="1" dirty="0">
                          <a:solidFill>
                            <a:srgbClr val="2A2622"/>
                          </a:solidFill>
                          <a:latin typeface="Calibri" pitchFamily="34" charset="0"/>
                          <a:ea typeface="Calibri" pitchFamily="34" charset="-122"/>
                          <a:cs typeface="Calibri" pitchFamily="34" charset="-120"/>
                        </a:rPr>
                        <a:t>Vishalgad</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Kolhapur</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Hill fort</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Refuge fort after Panhala escape</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Battle of Pavan Khind, 1660</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17183">
                <a:tc>
                  <a:txBody>
                    <a:bodyPr/>
                    <a:lstStyle/>
                    <a:p>
                      <a:pPr marL="0" indent="0" algn="l">
                        <a:buNone/>
                      </a:pPr>
                      <a:r>
                        <a:rPr lang="en-US" sz="1000" b="1" dirty="0">
                          <a:solidFill>
                            <a:srgbClr val="2A2622"/>
                          </a:solidFill>
                          <a:latin typeface="Calibri" pitchFamily="34" charset="0"/>
                          <a:ea typeface="Calibri" pitchFamily="34" charset="-122"/>
                          <a:cs typeface="Calibri" pitchFamily="34" charset="-120"/>
                        </a:rPr>
                        <a:t>Sindhudurg</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0EAE0"/>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Malvan</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0EAE0"/>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Coastal fort</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0EAE0"/>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Headquarters of the Maratha navy</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0EAE0"/>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Constructed 1664–67</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0EAE0"/>
                    </a:solidFill>
                  </a:tcPr>
                </a:tc>
                <a:extLst>
                  <a:ext uri="{0D108BD9-81ED-4DB2-BD59-A6C34878D82A}">
                    <a16:rowId xmlns:a16="http://schemas.microsoft.com/office/drawing/2014/main" val="10010"/>
                  </a:ext>
                </a:extLst>
              </a:tr>
              <a:tr h="317183">
                <a:tc>
                  <a:txBody>
                    <a:bodyPr/>
                    <a:lstStyle/>
                    <a:p>
                      <a:pPr marL="0" indent="0" algn="l">
                        <a:buNone/>
                      </a:pPr>
                      <a:r>
                        <a:rPr lang="en-US" sz="1000" b="1" dirty="0">
                          <a:solidFill>
                            <a:srgbClr val="2A2622"/>
                          </a:solidFill>
                          <a:latin typeface="Calibri" pitchFamily="34" charset="0"/>
                          <a:ea typeface="Calibri" pitchFamily="34" charset="-122"/>
                          <a:cs typeface="Calibri" pitchFamily="34" charset="-120"/>
                        </a:rPr>
                        <a:t>Vijaydurg</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Devgad</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Coastal fort</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Naval base &amp; shipyard</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Underwater defence wall</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17183">
                <a:tc>
                  <a:txBody>
                    <a:bodyPr/>
                    <a:lstStyle/>
                    <a:p>
                      <a:pPr marL="0" indent="0" algn="l">
                        <a:buNone/>
                      </a:pPr>
                      <a:r>
                        <a:rPr lang="en-US" sz="1000" b="1" dirty="0">
                          <a:solidFill>
                            <a:srgbClr val="2A2622"/>
                          </a:solidFill>
                          <a:latin typeface="Calibri" pitchFamily="34" charset="0"/>
                          <a:ea typeface="Calibri" pitchFamily="34" charset="-122"/>
                          <a:cs typeface="Calibri" pitchFamily="34" charset="-120"/>
                        </a:rPr>
                        <a:t>Lohagad</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0EAE0"/>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Lonavala, Pune</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0EAE0"/>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Hill fort</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0EAE0"/>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Treasury / storage fort</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0EAE0"/>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Recapture, 1670</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0EAE0"/>
                    </a:solidFill>
                  </a:tcPr>
                </a:tc>
                <a:extLst>
                  <a:ext uri="{0D108BD9-81ED-4DB2-BD59-A6C34878D82A}">
                    <a16:rowId xmlns:a16="http://schemas.microsoft.com/office/drawing/2014/main" val="10012"/>
                  </a:ext>
                </a:extLst>
              </a:tr>
              <a:tr h="317183">
                <a:tc>
                  <a:txBody>
                    <a:bodyPr/>
                    <a:lstStyle/>
                    <a:p>
                      <a:pPr marL="0" indent="0" algn="l">
                        <a:buNone/>
                      </a:pPr>
                      <a:r>
                        <a:rPr lang="en-US" sz="1000" b="1" dirty="0">
                          <a:solidFill>
                            <a:srgbClr val="2A2622"/>
                          </a:solidFill>
                          <a:latin typeface="Calibri" pitchFamily="34" charset="0"/>
                          <a:ea typeface="Calibri" pitchFamily="34" charset="-122"/>
                          <a:cs typeface="Calibri" pitchFamily="34" charset="-120"/>
                        </a:rPr>
                        <a:t>Rajmachi</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Lonavala, Pune</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Hill fort</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Guarded the Bor Ghat trade route</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Secured c.1657</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317183">
                <a:tc>
                  <a:txBody>
                    <a:bodyPr/>
                    <a:lstStyle/>
                    <a:p>
                      <a:pPr marL="0" indent="0" algn="l">
                        <a:buNone/>
                      </a:pPr>
                      <a:r>
                        <a:rPr lang="en-US" sz="1000" b="1" dirty="0">
                          <a:solidFill>
                            <a:srgbClr val="2A2622"/>
                          </a:solidFill>
                          <a:latin typeface="Calibri" pitchFamily="34" charset="0"/>
                          <a:ea typeface="Calibri" pitchFamily="34" charset="-122"/>
                          <a:cs typeface="Calibri" pitchFamily="34" charset="-120"/>
                        </a:rPr>
                        <a:t>Salher</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0EAE0"/>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Baglan, Nashik</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0EAE0"/>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Hill fort</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0EAE0"/>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Tallest fort; northern frontier defence</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0EAE0"/>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Battle of Salher, 1672</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0EAE0"/>
                    </a:solidFill>
                  </a:tcPr>
                </a:tc>
                <a:extLst>
                  <a:ext uri="{0D108BD9-81ED-4DB2-BD59-A6C34878D82A}">
                    <a16:rowId xmlns:a16="http://schemas.microsoft.com/office/drawing/2014/main" val="10014"/>
                  </a:ext>
                </a:extLst>
              </a:tr>
              <a:tr h="317183">
                <a:tc>
                  <a:txBody>
                    <a:bodyPr/>
                    <a:lstStyle/>
                    <a:p>
                      <a:pPr marL="0" indent="0" algn="l">
                        <a:buNone/>
                      </a:pPr>
                      <a:r>
                        <a:rPr lang="en-US" sz="1000" b="1" dirty="0">
                          <a:solidFill>
                            <a:srgbClr val="2A2622"/>
                          </a:solidFill>
                          <a:latin typeface="Calibri" pitchFamily="34" charset="0"/>
                          <a:ea typeface="Calibri" pitchFamily="34" charset="-122"/>
                          <a:cs typeface="Calibri" pitchFamily="34" charset="-120"/>
                        </a:rPr>
                        <a:t>Karnala</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Panvel, Raigad</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Hill fort</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Guarded Konkan coast near Mumbai</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2622"/>
                          </a:solidFill>
                          <a:latin typeface="Calibri" pitchFamily="34" charset="0"/>
                          <a:ea typeface="Calibri" pitchFamily="34" charset="-122"/>
                          <a:cs typeface="Calibri" pitchFamily="34" charset="-120"/>
                        </a:rPr>
                        <a:t>Ceded in Treaty of Purandar, 1665</a:t>
                      </a:r>
                      <a:endParaRPr lang="en-US" sz="1000" dirty="0">
                        <a:latin typeface="Calibri" charset="0"/>
                        <a:ea typeface="Calibri" charset="0"/>
                        <a:cs typeface="Calibri" charset="0"/>
                      </a:endParaRPr>
                    </a:p>
                  </a:txBody>
                  <a:tcPr marL="73152" marR="73152" marT="36576" marB="36576" anchor="ctr">
                    <a:lnL w="9525" cap="flat" cmpd="sng" algn="ctr">
                      <a:solidFill>
                        <a:srgbClr val="DCD5C7"/>
                      </a:solidFill>
                      <a:prstDash val="solid"/>
                      <a:round/>
                      <a:headEnd type="none" w="med" len="med"/>
                      <a:tailEnd type="none" w="med" len="med"/>
                    </a:lnL>
                    <a:lnR w="9525" cap="flat" cmpd="sng" algn="ctr">
                      <a:solidFill>
                        <a:srgbClr val="DCD5C7"/>
                      </a:solidFill>
                      <a:prstDash val="solid"/>
                      <a:round/>
                      <a:headEnd type="none" w="med" len="med"/>
                      <a:tailEnd type="none" w="med" len="med"/>
                    </a:lnR>
                    <a:lnT w="9525" cap="flat" cmpd="sng" algn="ctr">
                      <a:solidFill>
                        <a:srgbClr val="DCD5C7"/>
                      </a:solidFill>
                      <a:prstDash val="solid"/>
                      <a:round/>
                      <a:headEnd type="none" w="med" len="med"/>
                      <a:tailEnd type="none" w="med" len="med"/>
                    </a:lnT>
                    <a:lnB w="9525" cap="flat" cmpd="sng" algn="ctr">
                      <a:solidFill>
                        <a:srgbClr val="DCD5C7"/>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bl>
          </a:graphicData>
        </a:graphic>
      </p:graphicFrame>
      <p:sp>
        <p:nvSpPr>
          <p:cNvPr id="7" name="Text 3"/>
          <p:cNvSpPr/>
          <p:nvPr/>
        </p:nvSpPr>
        <p:spPr>
          <a:xfrm>
            <a:off x="457200" y="6473952"/>
            <a:ext cx="7315200" cy="274320"/>
          </a:xfrm>
          <a:prstGeom prst="rect">
            <a:avLst/>
          </a:prstGeom>
          <a:noFill/>
          <a:ln/>
        </p:spPr>
        <p:txBody>
          <a:bodyPr wrap="square" lIns="0" tIns="0" rIns="0" bIns="0" rtlCol="0" anchor="ctr"/>
          <a:lstStyle/>
          <a:p>
            <a:pPr marL="0" indent="0">
              <a:buNone/>
            </a:pPr>
            <a:r>
              <a:rPr lang="en-US" sz="900" i="1" dirty="0">
                <a:solidFill>
                  <a:srgbClr val="746E64"/>
                </a:solidFill>
                <a:latin typeface="Calibri" pitchFamily="34" charset="0"/>
                <a:ea typeface="Calibri" pitchFamily="34" charset="-122"/>
                <a:cs typeface="Calibri" pitchFamily="34" charset="-120"/>
              </a:rPr>
              <a:t>Comparative summary</a:t>
            </a:r>
            <a:endParaRPr lang="en-US" sz="900" dirty="0"/>
          </a:p>
        </p:txBody>
      </p:sp>
      <p:sp>
        <p:nvSpPr>
          <p:cNvPr id="8" name="Text 4"/>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746E64"/>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41F1D"/>
        </a:solidFill>
        <a:effectLst/>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C98A2B"/>
          </a:solidFill>
          <a:ln/>
        </p:spPr>
      </p:sp>
      <p:pic>
        <p:nvPicPr>
          <p:cNvPr id="3" name="Image 0" descr="/home/claude/forts/assets/fort_icon_white.png"/>
          <p:cNvPicPr>
            <a:picLocks noChangeAspect="1"/>
          </p:cNvPicPr>
          <p:nvPr/>
        </p:nvPicPr>
        <p:blipFill>
          <a:blip r:embed="rId3"/>
          <a:stretch>
            <a:fillRect/>
          </a:stretch>
        </p:blipFill>
        <p:spPr>
          <a:xfrm>
            <a:off x="667512" y="621792"/>
            <a:ext cx="329184" cy="329184"/>
          </a:xfrm>
          <a:prstGeom prst="rect">
            <a:avLst/>
          </a:prstGeom>
        </p:spPr>
      </p:pic>
      <p:sp>
        <p:nvSpPr>
          <p:cNvPr id="4" name="Text 1"/>
          <p:cNvSpPr/>
          <p:nvPr/>
        </p:nvSpPr>
        <p:spPr>
          <a:xfrm>
            <a:off x="1280160" y="457200"/>
            <a:ext cx="91440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Conclusion</a:t>
            </a:r>
            <a:endParaRPr lang="en-US" sz="3000" dirty="0"/>
          </a:p>
        </p:txBody>
      </p:sp>
      <p:sp>
        <p:nvSpPr>
          <p:cNvPr id="5" name="Text 2"/>
          <p:cNvSpPr/>
          <p:nvPr/>
        </p:nvSpPr>
        <p:spPr>
          <a:xfrm>
            <a:off x="548640" y="1417320"/>
            <a:ext cx="11064240" cy="4572000"/>
          </a:xfrm>
          <a:prstGeom prst="rect">
            <a:avLst/>
          </a:prstGeom>
          <a:noFill/>
          <a:ln/>
        </p:spPr>
        <p:txBody>
          <a:bodyPr wrap="square" lIns="0" tIns="0" rIns="0" bIns="0" rtlCol="0" anchor="t"/>
          <a:lstStyle/>
          <a:p>
            <a:pPr marL="177800" indent="-177800">
              <a:lnSpc>
                <a:spcPct val="125000"/>
              </a:lnSpc>
              <a:spcAft>
                <a:spcPts val="1584"/>
              </a:spcAft>
              <a:buSzPct val="100000"/>
              <a:buChar char="■"/>
            </a:pPr>
            <a:r>
              <a:rPr lang="en-US" sz="1400" dirty="0">
                <a:solidFill>
                  <a:srgbClr val="EFE9DC"/>
                </a:solidFill>
                <a:latin typeface="Calibri" pitchFamily="34" charset="0"/>
                <a:ea typeface="Calibri" pitchFamily="34" charset="-122"/>
                <a:cs typeface="Calibri" pitchFamily="34" charset="-120"/>
              </a:rPr>
              <a:t>No single fort made Swarajya possible — it was the connected network of hill, coastal and route forts that let Shivaji Maharaj hold and expand territory far beyond what his army’s size alone could defend.</a:t>
            </a:r>
            <a:endParaRPr lang="en-US" sz="1400" dirty="0"/>
          </a:p>
          <a:p>
            <a:pPr marL="177800" indent="-177800">
              <a:lnSpc>
                <a:spcPct val="125000"/>
              </a:lnSpc>
              <a:spcAft>
                <a:spcPts val="1584"/>
              </a:spcAft>
              <a:buSzPct val="100000"/>
              <a:buChar char="■"/>
            </a:pPr>
            <a:r>
              <a:rPr lang="en-US" sz="1400" dirty="0">
                <a:solidFill>
                  <a:srgbClr val="EFE9DC"/>
                </a:solidFill>
                <a:latin typeface="Calibri" pitchFamily="34" charset="0"/>
                <a:ea typeface="Calibri" pitchFamily="34" charset="-122"/>
                <a:cs typeface="Calibri" pitchFamily="34" charset="-120"/>
              </a:rPr>
              <a:t>Hill forts like Rajgad, Raigad and Torna gave Swarajya secure, near-impregnable centres of administration and command.</a:t>
            </a:r>
            <a:endParaRPr lang="en-US" sz="1400" dirty="0"/>
          </a:p>
          <a:p>
            <a:pPr marL="177800" indent="-177800">
              <a:lnSpc>
                <a:spcPct val="125000"/>
              </a:lnSpc>
              <a:spcAft>
                <a:spcPts val="1584"/>
              </a:spcAft>
              <a:buSzPct val="100000"/>
              <a:buChar char="■"/>
            </a:pPr>
            <a:r>
              <a:rPr lang="en-US" sz="1400" dirty="0">
                <a:solidFill>
                  <a:srgbClr val="EFE9DC"/>
                </a:solidFill>
                <a:latin typeface="Calibri" pitchFamily="34" charset="0"/>
                <a:ea typeface="Calibri" pitchFamily="34" charset="-122"/>
                <a:cs typeface="Calibri" pitchFamily="34" charset="-120"/>
              </a:rPr>
              <a:t>Coastal forts like Sindhudurg and Vijaydurg extended Maratha power onto the Arabian Sea, checking the Siddis and European trading fleets.</a:t>
            </a:r>
            <a:endParaRPr lang="en-US" sz="1400" dirty="0"/>
          </a:p>
          <a:p>
            <a:pPr marL="177800" indent="-177800">
              <a:lnSpc>
                <a:spcPct val="125000"/>
              </a:lnSpc>
              <a:spcAft>
                <a:spcPts val="1584"/>
              </a:spcAft>
              <a:buSzPct val="100000"/>
              <a:buChar char="■"/>
            </a:pPr>
            <a:r>
              <a:rPr lang="en-US" sz="1400" dirty="0">
                <a:solidFill>
                  <a:srgbClr val="EFE9DC"/>
                </a:solidFill>
                <a:latin typeface="Calibri" pitchFamily="34" charset="0"/>
                <a:ea typeface="Calibri" pitchFamily="34" charset="-122"/>
                <a:cs typeface="Calibri" pitchFamily="34" charset="-120"/>
              </a:rPr>
              <a:t>Route-guarding forts such as Lohagad, Rajmachi and Karnala controlled the ghats and passes that moved trade, revenue and troops between the Konkan and the Deccan.</a:t>
            </a:r>
            <a:endParaRPr lang="en-US" sz="1400" dirty="0"/>
          </a:p>
          <a:p>
            <a:pPr marL="177800" indent="-177800">
              <a:lnSpc>
                <a:spcPct val="125000"/>
              </a:lnSpc>
              <a:spcAft>
                <a:spcPts val="1584"/>
              </a:spcAft>
              <a:buSzPct val="100000"/>
              <a:buChar char="■"/>
            </a:pPr>
            <a:r>
              <a:rPr lang="en-US" sz="1400" dirty="0">
                <a:solidFill>
                  <a:srgbClr val="EFE9DC"/>
                </a:solidFill>
                <a:latin typeface="Calibri" pitchFamily="34" charset="0"/>
                <a:ea typeface="Calibri" pitchFamily="34" charset="-122"/>
                <a:cs typeface="Calibri" pitchFamily="34" charset="-120"/>
              </a:rPr>
              <a:t>Together, this fort network allowed a regional kingdom to repeatedly absorb losses — as after the 1665 Treaty of Purandar — and still recover and expand, laying the foundation for the wider Maratha Empire that followed.</a:t>
            </a:r>
            <a:endParaRPr lang="en-US" sz="1400" dirty="0"/>
          </a:p>
        </p:txBody>
      </p:sp>
      <p:sp>
        <p:nvSpPr>
          <p:cNvPr id="6" name="Text 3"/>
          <p:cNvSpPr/>
          <p:nvPr/>
        </p:nvSpPr>
        <p:spPr>
          <a:xfrm>
            <a:off x="457200" y="6473952"/>
            <a:ext cx="7315200" cy="274320"/>
          </a:xfrm>
          <a:prstGeom prst="rect">
            <a:avLst/>
          </a:prstGeom>
          <a:noFill/>
          <a:ln/>
        </p:spPr>
        <p:txBody>
          <a:bodyPr wrap="square" lIns="0" tIns="0" rIns="0" bIns="0" rtlCol="0" anchor="ctr"/>
          <a:lstStyle/>
          <a:p>
            <a:pPr marL="0" indent="0">
              <a:buNone/>
            </a:pPr>
            <a:r>
              <a:rPr lang="en-US" sz="900" i="1" dirty="0">
                <a:solidFill>
                  <a:srgbClr val="746E64"/>
                </a:solidFill>
                <a:latin typeface="Calibri" pitchFamily="34" charset="0"/>
                <a:ea typeface="Calibri" pitchFamily="34" charset="-122"/>
                <a:cs typeface="Calibri" pitchFamily="34" charset="-120"/>
              </a:rPr>
              <a:t>Conclusion</a:t>
            </a:r>
            <a:endParaRPr lang="en-US" sz="900" dirty="0"/>
          </a:p>
        </p:txBody>
      </p:sp>
      <p:sp>
        <p:nvSpPr>
          <p:cNvPr id="7" name="Text 4"/>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746E64"/>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3EF"/>
        </a:solidFill>
        <a:effectLst/>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C98A2B"/>
          </a:solidFill>
          <a:ln/>
        </p:spPr>
      </p:sp>
      <p:pic>
        <p:nvPicPr>
          <p:cNvPr id="3" name="Image 0" descr="/home/claude/forts/assets/fort_icon_white.png"/>
          <p:cNvPicPr>
            <a:picLocks noChangeAspect="1"/>
          </p:cNvPicPr>
          <p:nvPr/>
        </p:nvPicPr>
        <p:blipFill>
          <a:blip r:embed="rId3"/>
          <a:stretch>
            <a:fillRect/>
          </a:stretch>
        </p:blipFill>
        <p:spPr>
          <a:xfrm>
            <a:off x="576072" y="502920"/>
            <a:ext cx="329184" cy="329184"/>
          </a:xfrm>
          <a:prstGeom prst="rect">
            <a:avLst/>
          </a:prstGeom>
        </p:spPr>
      </p:pic>
      <p:sp>
        <p:nvSpPr>
          <p:cNvPr id="4" name="Text 1"/>
          <p:cNvSpPr/>
          <p:nvPr/>
        </p:nvSpPr>
        <p:spPr>
          <a:xfrm>
            <a:off x="1170432" y="310896"/>
            <a:ext cx="8778240" cy="457200"/>
          </a:xfrm>
          <a:prstGeom prst="rect">
            <a:avLst/>
          </a:prstGeom>
          <a:noFill/>
          <a:ln/>
        </p:spPr>
        <p:txBody>
          <a:bodyPr wrap="square" lIns="0" tIns="0" rIns="0" bIns="0" rtlCol="0" anchor="b"/>
          <a:lstStyle/>
          <a:p>
            <a:pPr marL="0" indent="0">
              <a:buNone/>
            </a:pPr>
            <a:r>
              <a:rPr lang="en-US" sz="2700" b="1" dirty="0">
                <a:solidFill>
                  <a:srgbClr val="7A2E2E"/>
                </a:solidFill>
                <a:latin typeface="Cambria" pitchFamily="34" charset="0"/>
                <a:ea typeface="Cambria" pitchFamily="34" charset="-122"/>
                <a:cs typeface="Cambria" pitchFamily="34" charset="-120"/>
              </a:rPr>
              <a:t>References &amp; Sources</a:t>
            </a:r>
            <a:endParaRPr lang="en-US" sz="2700" dirty="0"/>
          </a:p>
        </p:txBody>
      </p:sp>
      <p:sp>
        <p:nvSpPr>
          <p:cNvPr id="5" name="Text 2"/>
          <p:cNvSpPr/>
          <p:nvPr/>
        </p:nvSpPr>
        <p:spPr>
          <a:xfrm>
            <a:off x="1188720" y="786384"/>
            <a:ext cx="8778240" cy="274320"/>
          </a:xfrm>
          <a:prstGeom prst="rect">
            <a:avLst/>
          </a:prstGeom>
          <a:noFill/>
          <a:ln/>
        </p:spPr>
        <p:txBody>
          <a:bodyPr wrap="square" lIns="0" tIns="0" rIns="0" bIns="0" rtlCol="0" anchor="ctr"/>
          <a:lstStyle/>
          <a:p>
            <a:pPr marL="0" indent="0">
              <a:buNone/>
            </a:pPr>
            <a:r>
              <a:rPr lang="en-US" sz="1250" i="1" dirty="0">
                <a:solidFill>
                  <a:srgbClr val="746E64"/>
                </a:solidFill>
                <a:latin typeface="Calibri" pitchFamily="34" charset="0"/>
                <a:ea typeface="Calibri" pitchFamily="34" charset="-122"/>
                <a:cs typeface="Calibri" pitchFamily="34" charset="-120"/>
              </a:rPr>
              <a:t>Information compiled from established heritage and historical sources</a:t>
            </a:r>
            <a:endParaRPr lang="en-US" sz="1250" dirty="0"/>
          </a:p>
        </p:txBody>
      </p:sp>
      <p:sp>
        <p:nvSpPr>
          <p:cNvPr id="6" name="Text 3"/>
          <p:cNvSpPr/>
          <p:nvPr/>
        </p:nvSpPr>
        <p:spPr>
          <a:xfrm>
            <a:off x="548640" y="1463040"/>
            <a:ext cx="11064240" cy="4572000"/>
          </a:xfrm>
          <a:prstGeom prst="rect">
            <a:avLst/>
          </a:prstGeom>
          <a:noFill/>
          <a:ln/>
        </p:spPr>
        <p:txBody>
          <a:bodyPr wrap="square" lIns="0" tIns="0" rIns="0" bIns="0" rtlCol="0" anchor="t"/>
          <a:lstStyle/>
          <a:p>
            <a:pPr marL="177800" indent="-177800">
              <a:lnSpc>
                <a:spcPct val="120000"/>
              </a:lnSpc>
              <a:spcAft>
                <a:spcPts val="1728"/>
              </a:spcAft>
              <a:buSzPct val="100000"/>
              <a:buChar char="■"/>
            </a:pPr>
            <a:r>
              <a:rPr lang="en-US" sz="1400" dirty="0">
                <a:solidFill>
                  <a:srgbClr val="2A2622"/>
                </a:solidFill>
                <a:latin typeface="Calibri" pitchFamily="34" charset="0"/>
                <a:ea typeface="Calibri" pitchFamily="34" charset="-122"/>
                <a:cs typeface="Calibri" pitchFamily="34" charset="-120"/>
              </a:rPr>
              <a:t>Archaeological Survey of India (ASI) — protected monument records for individual forts</a:t>
            </a:r>
            <a:endParaRPr lang="en-US" sz="1400" dirty="0"/>
          </a:p>
          <a:p>
            <a:pPr marL="177800" indent="-177800">
              <a:lnSpc>
                <a:spcPct val="120000"/>
              </a:lnSpc>
              <a:spcAft>
                <a:spcPts val="1728"/>
              </a:spcAft>
              <a:buSzPct val="100000"/>
              <a:buChar char="■"/>
            </a:pPr>
            <a:r>
              <a:rPr lang="en-US" sz="1400" dirty="0">
                <a:solidFill>
                  <a:srgbClr val="2A2622"/>
                </a:solidFill>
                <a:latin typeface="Calibri" pitchFamily="34" charset="0"/>
                <a:ea typeface="Calibri" pitchFamily="34" charset="-122"/>
                <a:cs typeface="Calibri" pitchFamily="34" charset="-120"/>
              </a:rPr>
              <a:t>Maharashtra Tourism Development Corporation (MTDC) — official fort and heritage-site information</a:t>
            </a:r>
            <a:endParaRPr lang="en-US" sz="1400" dirty="0"/>
          </a:p>
          <a:p>
            <a:pPr marL="177800" indent="-177800">
              <a:lnSpc>
                <a:spcPct val="120000"/>
              </a:lnSpc>
              <a:spcAft>
                <a:spcPts val="1728"/>
              </a:spcAft>
              <a:buSzPct val="100000"/>
              <a:buChar char="■"/>
            </a:pPr>
            <a:r>
              <a:rPr lang="en-US" sz="1400" dirty="0">
                <a:solidFill>
                  <a:srgbClr val="2A2622"/>
                </a:solidFill>
                <a:latin typeface="Calibri" pitchFamily="34" charset="0"/>
                <a:ea typeface="Calibri" pitchFamily="34" charset="-122"/>
                <a:cs typeface="Calibri" pitchFamily="34" charset="-120"/>
              </a:rPr>
              <a:t>Maharashtra State Gazetteers, District Gazetteer volumes (Pune, Raigad, Satara, Kolhapur, Sindhudurg, Nashik)</a:t>
            </a:r>
            <a:endParaRPr lang="en-US" sz="1400" dirty="0"/>
          </a:p>
          <a:p>
            <a:pPr marL="177800" indent="-177800">
              <a:lnSpc>
                <a:spcPct val="120000"/>
              </a:lnSpc>
              <a:spcAft>
                <a:spcPts val="1728"/>
              </a:spcAft>
              <a:buSzPct val="100000"/>
              <a:buChar char="■"/>
            </a:pPr>
            <a:r>
              <a:rPr lang="en-US" sz="1400" dirty="0">
                <a:solidFill>
                  <a:srgbClr val="2A2622"/>
                </a:solidFill>
                <a:latin typeface="Calibri" pitchFamily="34" charset="0"/>
                <a:ea typeface="Calibri" pitchFamily="34" charset="-122"/>
                <a:cs typeface="Calibri" pitchFamily="34" charset="-120"/>
              </a:rPr>
              <a:t>Sabhasad Bakhar and other traditional Maratha court chronicles (bakhars), as cited in standard secondary histories</a:t>
            </a:r>
            <a:endParaRPr lang="en-US" sz="1400" dirty="0"/>
          </a:p>
          <a:p>
            <a:pPr marL="177800" indent="-177800">
              <a:lnSpc>
                <a:spcPct val="120000"/>
              </a:lnSpc>
              <a:spcAft>
                <a:spcPts val="1728"/>
              </a:spcAft>
              <a:buSzPct val="100000"/>
              <a:buChar char="■"/>
            </a:pPr>
            <a:r>
              <a:rPr lang="en-US" sz="1400" dirty="0">
                <a:solidFill>
                  <a:srgbClr val="2A2622"/>
                </a:solidFill>
                <a:latin typeface="Calibri" pitchFamily="34" charset="0"/>
                <a:ea typeface="Calibri" pitchFamily="34" charset="-122"/>
                <a:cs typeface="Calibri" pitchFamily="34" charset="-120"/>
              </a:rPr>
              <a:t>James Grant Duff, "A History of the Mahrattas" (1826) — early standard reference history</a:t>
            </a:r>
            <a:endParaRPr lang="en-US" sz="1400" dirty="0"/>
          </a:p>
          <a:p>
            <a:pPr marL="177800" indent="-177800">
              <a:lnSpc>
                <a:spcPct val="120000"/>
              </a:lnSpc>
              <a:spcAft>
                <a:spcPts val="1728"/>
              </a:spcAft>
              <a:buSzPct val="100000"/>
              <a:buChar char="■"/>
            </a:pPr>
            <a:r>
              <a:rPr lang="en-US" sz="1400" dirty="0">
                <a:solidFill>
                  <a:srgbClr val="2A2622"/>
                </a:solidFill>
                <a:latin typeface="Calibri" pitchFamily="34" charset="0"/>
                <a:ea typeface="Calibri" pitchFamily="34" charset="-122"/>
                <a:cs typeface="Calibri" pitchFamily="34" charset="-120"/>
              </a:rPr>
              <a:t>Jadunath Sarkar, "Shivaji and His Times" — widely used academic history of the period</a:t>
            </a:r>
            <a:endParaRPr lang="en-US" sz="1400" dirty="0"/>
          </a:p>
          <a:p>
            <a:pPr marL="177800" indent="-177800">
              <a:lnSpc>
                <a:spcPct val="120000"/>
              </a:lnSpc>
              <a:spcAft>
                <a:spcPts val="1728"/>
              </a:spcAft>
              <a:buSzPct val="100000"/>
              <a:buChar char="■"/>
            </a:pPr>
            <a:r>
              <a:rPr lang="en-US" sz="1400" dirty="0">
                <a:solidFill>
                  <a:srgbClr val="2A2622"/>
                </a:solidFill>
                <a:latin typeface="Calibri" pitchFamily="34" charset="0"/>
                <a:ea typeface="Calibri" pitchFamily="34" charset="-122"/>
                <a:cs typeface="Calibri" pitchFamily="34" charset="-120"/>
              </a:rPr>
              <a:t>G. B. Mehendale and other modern Marathi-language fort-history researchers</a:t>
            </a:r>
            <a:endParaRPr lang="en-US" sz="1400" dirty="0"/>
          </a:p>
          <a:p>
            <a:pPr marL="177800" indent="-177800">
              <a:lnSpc>
                <a:spcPct val="120000"/>
              </a:lnSpc>
              <a:spcAft>
                <a:spcPts val="1728"/>
              </a:spcAft>
              <a:buSzPct val="100000"/>
              <a:buChar char="■"/>
            </a:pPr>
            <a:r>
              <a:rPr lang="en-US" sz="1400" dirty="0">
                <a:solidFill>
                  <a:srgbClr val="2A2622"/>
                </a:solidFill>
                <a:latin typeface="Calibri" pitchFamily="34" charset="0"/>
                <a:ea typeface="Calibri" pitchFamily="34" charset="-122"/>
                <a:cs typeface="Calibri" pitchFamily="34" charset="-120"/>
              </a:rPr>
              <a:t>District administration and forest/heritage department websites for individual forts (e.g. Raigad, Sindhudurg, Panhala)</a:t>
            </a:r>
            <a:endParaRPr lang="en-US" sz="1400" dirty="0"/>
          </a:p>
        </p:txBody>
      </p:sp>
      <p:sp>
        <p:nvSpPr>
          <p:cNvPr id="7" name="Text 4"/>
          <p:cNvSpPr/>
          <p:nvPr/>
        </p:nvSpPr>
        <p:spPr>
          <a:xfrm>
            <a:off x="548640" y="5989320"/>
            <a:ext cx="11064240" cy="548640"/>
          </a:xfrm>
          <a:prstGeom prst="rect">
            <a:avLst/>
          </a:prstGeom>
          <a:noFill/>
          <a:ln/>
        </p:spPr>
        <p:txBody>
          <a:bodyPr wrap="square" lIns="0" tIns="0" rIns="0" bIns="0" rtlCol="0" anchor="ctr"/>
          <a:lstStyle/>
          <a:p>
            <a:pPr marL="0" indent="0">
              <a:buNone/>
            </a:pPr>
            <a:r>
              <a:rPr lang="en-US" sz="1050" i="1" dirty="0">
                <a:solidFill>
                  <a:srgbClr val="746E64"/>
                </a:solidFill>
                <a:latin typeface="Calibri" pitchFamily="34" charset="0"/>
                <a:ea typeface="Calibri" pitchFamily="34" charset="-122"/>
                <a:cs typeface="Calibri" pitchFamily="34" charset="-120"/>
              </a:rPr>
              <a:t>Note: where sources differ on exact dates, the most commonly accepted account among these references has been used, with approximate years (“c.”) shown where evidence is not precise.</a:t>
            </a:r>
            <a:endParaRPr lang="en-US" sz="1050" dirty="0"/>
          </a:p>
        </p:txBody>
      </p:sp>
      <p:sp>
        <p:nvSpPr>
          <p:cNvPr id="8" name="Text 5"/>
          <p:cNvSpPr/>
          <p:nvPr/>
        </p:nvSpPr>
        <p:spPr>
          <a:xfrm>
            <a:off x="457200" y="6473952"/>
            <a:ext cx="7315200" cy="274320"/>
          </a:xfrm>
          <a:prstGeom prst="rect">
            <a:avLst/>
          </a:prstGeom>
          <a:noFill/>
          <a:ln/>
        </p:spPr>
        <p:txBody>
          <a:bodyPr wrap="square" lIns="0" tIns="0" rIns="0" bIns="0" rtlCol="0" anchor="ctr"/>
          <a:lstStyle/>
          <a:p>
            <a:pPr marL="0" indent="0">
              <a:buNone/>
            </a:pPr>
            <a:r>
              <a:rPr lang="en-US" sz="900" i="1" dirty="0">
                <a:solidFill>
                  <a:srgbClr val="746E64"/>
                </a:solidFill>
                <a:latin typeface="Calibri" pitchFamily="34" charset="0"/>
                <a:ea typeface="Calibri" pitchFamily="34" charset="-122"/>
                <a:cs typeface="Calibri" pitchFamily="34" charset="-120"/>
              </a:rPr>
              <a:t>References</a:t>
            </a:r>
            <a:endParaRPr lang="en-US" sz="900" dirty="0"/>
          </a:p>
        </p:txBody>
      </p:sp>
      <p:sp>
        <p:nvSpPr>
          <p:cNvPr id="9" name="Text 6"/>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746E64"/>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TotalTime>
  <Words>4566</Words>
  <Application>Microsoft Office PowerPoint</Application>
  <PresentationFormat>Custom</PresentationFormat>
  <Paragraphs>597</Paragraphs>
  <Slides>31</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Yuvraj Bhagwat Badhe</cp:lastModifiedBy>
  <cp:revision>4</cp:revision>
  <dcterms:created xsi:type="dcterms:W3CDTF">2026-09-10T07:11:12Z</dcterms:created>
  <dcterms:modified xsi:type="dcterms:W3CDTF">2026-09-10T13:35:16Z</dcterms:modified>
</cp:coreProperties>
</file>